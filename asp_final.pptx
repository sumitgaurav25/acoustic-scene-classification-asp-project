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26"/>
  </p:notesMasterIdLst>
  <p:sldIdLst>
    <p:sldId id="256" r:id="rId2"/>
    <p:sldId id="258" r:id="rId3"/>
    <p:sldId id="257" r:id="rId4"/>
    <p:sldId id="305" r:id="rId5"/>
    <p:sldId id="259" r:id="rId6"/>
    <p:sldId id="297" r:id="rId7"/>
    <p:sldId id="260" r:id="rId8"/>
    <p:sldId id="261" r:id="rId9"/>
    <p:sldId id="263" r:id="rId10"/>
    <p:sldId id="301" r:id="rId11"/>
    <p:sldId id="299" r:id="rId12"/>
    <p:sldId id="298" r:id="rId13"/>
    <p:sldId id="302" r:id="rId14"/>
    <p:sldId id="307" r:id="rId15"/>
    <p:sldId id="308" r:id="rId16"/>
    <p:sldId id="309" r:id="rId17"/>
    <p:sldId id="310" r:id="rId18"/>
    <p:sldId id="311" r:id="rId19"/>
    <p:sldId id="313" r:id="rId20"/>
    <p:sldId id="314" r:id="rId21"/>
    <p:sldId id="306" r:id="rId22"/>
    <p:sldId id="317" r:id="rId23"/>
    <p:sldId id="318" r:id="rId24"/>
    <p:sldId id="278" r:id="rId25"/>
  </p:sldIdLst>
  <p:sldSz cx="9144000" cy="5143500" type="screen16x9"/>
  <p:notesSz cx="6858000" cy="9144000"/>
  <p:embeddedFontLst>
    <p:embeddedFont>
      <p:font typeface="Advent Pro SemiBold" panose="020B0604020202020204" charset="0"/>
      <p:regular r:id="rId27"/>
      <p:bold r:id="rId28"/>
      <p:italic r:id="rId29"/>
      <p:boldItalic r:id="rId30"/>
    </p:embeddedFont>
    <p:embeddedFont>
      <p:font typeface="Fira Sans Condensed Medium" panose="020B0603050000020004" pitchFamily="34" charset="0"/>
      <p:regular r:id="rId31"/>
      <p:bold r:id="rId32"/>
      <p:italic r:id="rId33"/>
      <p:boldItalic r:id="rId34"/>
    </p:embeddedFont>
    <p:embeddedFont>
      <p:font typeface="Fira Sans Extra Condensed Medium" panose="020B0604020202020204" charset="0"/>
      <p:regular r:id="rId35"/>
      <p:bold r:id="rId36"/>
      <p:italic r:id="rId37"/>
      <p:boldItalic r:id="rId38"/>
    </p:embeddedFont>
    <p:embeddedFont>
      <p:font typeface="Livvic Light" pitchFamily="2" charset="0"/>
      <p:regular r:id="rId39"/>
      <p:italic r:id="rId40"/>
    </p:embeddedFont>
    <p:embeddedFont>
      <p:font typeface="Maven Pro" panose="020B0604020202020204" charset="0"/>
      <p:regular r:id="rId41"/>
      <p:bold r:id="rId42"/>
    </p:embeddedFont>
    <p:embeddedFont>
      <p:font typeface="Nunito Light" pitchFamily="2" charset="0"/>
      <p:regular r:id="rId43"/>
      <p:italic r:id="rId44"/>
    </p:embeddedFont>
    <p:embeddedFont>
      <p:font typeface="Share Tech" panose="020B0604020202020204" charset="0"/>
      <p:regular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845"/>
    <a:srgbClr val="FF9973"/>
    <a:srgbClr val="FFFFFF"/>
    <a:srgbClr val="E898AC"/>
    <a:srgbClr val="00CFCC"/>
    <a:srgbClr val="FFD6E1"/>
    <a:srgbClr val="F649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062CB5-1A29-4930-8178-1F213D195BDA}">
  <a:tblStyle styleId="{07062CB5-1A29-4930-8178-1F213D195BD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50" d="100"/>
          <a:sy n="150"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6c52a2e8d8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6c52a2e8d8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6c4305b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6c4305b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a:extLst>
            <a:ext uri="{FF2B5EF4-FFF2-40B4-BE49-F238E27FC236}">
              <a16:creationId xmlns:a16="http://schemas.microsoft.com/office/drawing/2014/main" id="{BDB95931-6404-8E2F-BC96-979EDA6E04BB}"/>
            </a:ext>
          </a:extLst>
        </p:cNvPr>
        <p:cNvGrpSpPr/>
        <p:nvPr/>
      </p:nvGrpSpPr>
      <p:grpSpPr>
        <a:xfrm>
          <a:off x="0" y="0"/>
          <a:ext cx="0" cy="0"/>
          <a:chOff x="0" y="0"/>
          <a:chExt cx="0" cy="0"/>
        </a:xfrm>
      </p:grpSpPr>
      <p:sp>
        <p:nvSpPr>
          <p:cNvPr id="685" name="Google Shape;685;g6c60e245bf_1_31323:notes">
            <a:extLst>
              <a:ext uri="{FF2B5EF4-FFF2-40B4-BE49-F238E27FC236}">
                <a16:creationId xmlns:a16="http://schemas.microsoft.com/office/drawing/2014/main" id="{9C8E774C-4D9F-F9B9-6925-D3DF1E1D26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6c60e245bf_1_31323:notes">
            <a:extLst>
              <a:ext uri="{FF2B5EF4-FFF2-40B4-BE49-F238E27FC236}">
                <a16:creationId xmlns:a16="http://schemas.microsoft.com/office/drawing/2014/main" id="{60F4CC16-9AAE-78C6-1650-DC34902D59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4709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6c4305b01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6c4305b01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a:extLst>
            <a:ext uri="{FF2B5EF4-FFF2-40B4-BE49-F238E27FC236}">
              <a16:creationId xmlns:a16="http://schemas.microsoft.com/office/drawing/2014/main" id="{BAE87B7C-6029-3A26-64CD-DC7F129C5D78}"/>
            </a:ext>
          </a:extLst>
        </p:cNvPr>
        <p:cNvGrpSpPr/>
        <p:nvPr/>
      </p:nvGrpSpPr>
      <p:grpSpPr>
        <a:xfrm>
          <a:off x="0" y="0"/>
          <a:ext cx="0" cy="0"/>
          <a:chOff x="0" y="0"/>
          <a:chExt cx="0" cy="0"/>
        </a:xfrm>
      </p:grpSpPr>
      <p:sp>
        <p:nvSpPr>
          <p:cNvPr id="504" name="Google Shape;504;g6c4305b01e_0_5:notes">
            <a:extLst>
              <a:ext uri="{FF2B5EF4-FFF2-40B4-BE49-F238E27FC236}">
                <a16:creationId xmlns:a16="http://schemas.microsoft.com/office/drawing/2014/main" id="{9E6A0320-DD4B-BA1F-B327-F6A3B5A2D0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6c4305b01e_0_5:notes">
            <a:extLst>
              <a:ext uri="{FF2B5EF4-FFF2-40B4-BE49-F238E27FC236}">
                <a16:creationId xmlns:a16="http://schemas.microsoft.com/office/drawing/2014/main" id="{E6DA87DB-E9B0-C5BB-0956-C08CE2EF10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8186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6c4305b01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6c4305b01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6c4305b01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6c4305b01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6c60e245bf_1_3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6c60e245bf_1_3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a:extLst>
            <a:ext uri="{FF2B5EF4-FFF2-40B4-BE49-F238E27FC236}">
              <a16:creationId xmlns:a16="http://schemas.microsoft.com/office/drawing/2014/main" id="{DD288006-082D-0D61-A2AB-2E7D90E064A3}"/>
            </a:ext>
          </a:extLst>
        </p:cNvPr>
        <p:cNvGrpSpPr/>
        <p:nvPr/>
      </p:nvGrpSpPr>
      <p:grpSpPr>
        <a:xfrm>
          <a:off x="0" y="0"/>
          <a:ext cx="0" cy="0"/>
          <a:chOff x="0" y="0"/>
          <a:chExt cx="0" cy="0"/>
        </a:xfrm>
      </p:grpSpPr>
      <p:sp>
        <p:nvSpPr>
          <p:cNvPr id="598" name="Google Shape;598;g6c4305b01e_0_10:notes">
            <a:extLst>
              <a:ext uri="{FF2B5EF4-FFF2-40B4-BE49-F238E27FC236}">
                <a16:creationId xmlns:a16="http://schemas.microsoft.com/office/drawing/2014/main" id="{F5E562F6-5C88-2EA3-A2F4-9442BC37AE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6c4305b01e_0_10:notes">
            <a:extLst>
              <a:ext uri="{FF2B5EF4-FFF2-40B4-BE49-F238E27FC236}">
                <a16:creationId xmlns:a16="http://schemas.microsoft.com/office/drawing/2014/main" id="{8A11CF8C-F678-CE75-1C64-E2633A589D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0335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a:extLst>
            <a:ext uri="{FF2B5EF4-FFF2-40B4-BE49-F238E27FC236}">
              <a16:creationId xmlns:a16="http://schemas.microsoft.com/office/drawing/2014/main" id="{0A79BEF6-4FE7-EBFC-FBAE-B0AEDE2C2ED8}"/>
            </a:ext>
          </a:extLst>
        </p:cNvPr>
        <p:cNvGrpSpPr/>
        <p:nvPr/>
      </p:nvGrpSpPr>
      <p:grpSpPr>
        <a:xfrm>
          <a:off x="0" y="0"/>
          <a:ext cx="0" cy="0"/>
          <a:chOff x="0" y="0"/>
          <a:chExt cx="0" cy="0"/>
        </a:xfrm>
      </p:grpSpPr>
      <p:sp>
        <p:nvSpPr>
          <p:cNvPr id="598" name="Google Shape;598;g6c4305b01e_0_10:notes">
            <a:extLst>
              <a:ext uri="{FF2B5EF4-FFF2-40B4-BE49-F238E27FC236}">
                <a16:creationId xmlns:a16="http://schemas.microsoft.com/office/drawing/2014/main" id="{7E025F66-359E-FD79-F1A3-9588019015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6c4305b01e_0_10:notes">
            <a:extLst>
              <a:ext uri="{FF2B5EF4-FFF2-40B4-BE49-F238E27FC236}">
                <a16:creationId xmlns:a16="http://schemas.microsoft.com/office/drawing/2014/main" id="{AA01C915-CFAA-A905-A6D3-FB1B48C5F2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885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a:extLst>
            <a:ext uri="{FF2B5EF4-FFF2-40B4-BE49-F238E27FC236}">
              <a16:creationId xmlns:a16="http://schemas.microsoft.com/office/drawing/2014/main" id="{7E361156-9657-C09E-B49A-C6482CBDACA4}"/>
            </a:ext>
          </a:extLst>
        </p:cNvPr>
        <p:cNvGrpSpPr/>
        <p:nvPr/>
      </p:nvGrpSpPr>
      <p:grpSpPr>
        <a:xfrm>
          <a:off x="0" y="0"/>
          <a:ext cx="0" cy="0"/>
          <a:chOff x="0" y="0"/>
          <a:chExt cx="0" cy="0"/>
        </a:xfrm>
      </p:grpSpPr>
      <p:sp>
        <p:nvSpPr>
          <p:cNvPr id="598" name="Google Shape;598;g6c4305b01e_0_10:notes">
            <a:extLst>
              <a:ext uri="{FF2B5EF4-FFF2-40B4-BE49-F238E27FC236}">
                <a16:creationId xmlns:a16="http://schemas.microsoft.com/office/drawing/2014/main" id="{81C05B9A-2DAD-6368-7708-50BD6ABC5B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6c4305b01e_0_10:notes">
            <a:extLst>
              <a:ext uri="{FF2B5EF4-FFF2-40B4-BE49-F238E27FC236}">
                <a16:creationId xmlns:a16="http://schemas.microsoft.com/office/drawing/2014/main" id="{809E38D4-1C6F-B8D1-901A-D43659CF29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5726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a:extLst>
            <a:ext uri="{FF2B5EF4-FFF2-40B4-BE49-F238E27FC236}">
              <a16:creationId xmlns:a16="http://schemas.microsoft.com/office/drawing/2014/main" id="{7B7A88CD-5FBB-3F28-A175-17859AB1BB80}"/>
            </a:ext>
          </a:extLst>
        </p:cNvPr>
        <p:cNvGrpSpPr/>
        <p:nvPr/>
      </p:nvGrpSpPr>
      <p:grpSpPr>
        <a:xfrm>
          <a:off x="0" y="0"/>
          <a:ext cx="0" cy="0"/>
          <a:chOff x="0" y="0"/>
          <a:chExt cx="0" cy="0"/>
        </a:xfrm>
      </p:grpSpPr>
      <p:sp>
        <p:nvSpPr>
          <p:cNvPr id="685" name="Google Shape;685;g6c60e245bf_1_31323:notes">
            <a:extLst>
              <a:ext uri="{FF2B5EF4-FFF2-40B4-BE49-F238E27FC236}">
                <a16:creationId xmlns:a16="http://schemas.microsoft.com/office/drawing/2014/main" id="{A12EB09E-462E-4B19-E4BB-FAAF687872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6c60e245bf_1_31323:notes">
            <a:extLst>
              <a:ext uri="{FF2B5EF4-FFF2-40B4-BE49-F238E27FC236}">
                <a16:creationId xmlns:a16="http://schemas.microsoft.com/office/drawing/2014/main" id="{B24D0A1E-BD91-FF17-4F45-8A2BDD7810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7865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a:extLst>
            <a:ext uri="{FF2B5EF4-FFF2-40B4-BE49-F238E27FC236}">
              <a16:creationId xmlns:a16="http://schemas.microsoft.com/office/drawing/2014/main" id="{F7D68C40-8C30-8896-B9BA-40687EB795DD}"/>
            </a:ext>
          </a:extLst>
        </p:cNvPr>
        <p:cNvGrpSpPr/>
        <p:nvPr/>
      </p:nvGrpSpPr>
      <p:grpSpPr>
        <a:xfrm>
          <a:off x="0" y="0"/>
          <a:ext cx="0" cy="0"/>
          <a:chOff x="0" y="0"/>
          <a:chExt cx="0" cy="0"/>
        </a:xfrm>
      </p:grpSpPr>
      <p:sp>
        <p:nvSpPr>
          <p:cNvPr id="504" name="Google Shape;504;g6c4305b01e_0_5:notes">
            <a:extLst>
              <a:ext uri="{FF2B5EF4-FFF2-40B4-BE49-F238E27FC236}">
                <a16:creationId xmlns:a16="http://schemas.microsoft.com/office/drawing/2014/main" id="{1B69CDF0-66AD-7CE6-93CC-FD74BDDB9C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6c4305b01e_0_5:notes">
            <a:extLst>
              <a:ext uri="{FF2B5EF4-FFF2-40B4-BE49-F238E27FC236}">
                <a16:creationId xmlns:a16="http://schemas.microsoft.com/office/drawing/2014/main" id="{2D0539E2-9547-335C-6B66-9BE46A994F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5904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a:extLst>
            <a:ext uri="{FF2B5EF4-FFF2-40B4-BE49-F238E27FC236}">
              <a16:creationId xmlns:a16="http://schemas.microsoft.com/office/drawing/2014/main" id="{EE1D6474-9578-AF20-A6F4-8E5592422C26}"/>
            </a:ext>
          </a:extLst>
        </p:cNvPr>
        <p:cNvGrpSpPr/>
        <p:nvPr/>
      </p:nvGrpSpPr>
      <p:grpSpPr>
        <a:xfrm>
          <a:off x="0" y="0"/>
          <a:ext cx="0" cy="0"/>
          <a:chOff x="0" y="0"/>
          <a:chExt cx="0" cy="0"/>
        </a:xfrm>
      </p:grpSpPr>
      <p:sp>
        <p:nvSpPr>
          <p:cNvPr id="504" name="Google Shape;504;g6c4305b01e_0_5:notes">
            <a:extLst>
              <a:ext uri="{FF2B5EF4-FFF2-40B4-BE49-F238E27FC236}">
                <a16:creationId xmlns:a16="http://schemas.microsoft.com/office/drawing/2014/main" id="{28EF3634-031D-710A-2690-123344DB5D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6c4305b01e_0_5:notes">
            <a:extLst>
              <a:ext uri="{FF2B5EF4-FFF2-40B4-BE49-F238E27FC236}">
                <a16:creationId xmlns:a16="http://schemas.microsoft.com/office/drawing/2014/main" id="{44454E88-6CBB-67DF-7650-4D945295D6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8911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a:extLst>
            <a:ext uri="{FF2B5EF4-FFF2-40B4-BE49-F238E27FC236}">
              <a16:creationId xmlns:a16="http://schemas.microsoft.com/office/drawing/2014/main" id="{4D08F59E-20BD-3BE5-74FB-0F28143BDCEF}"/>
            </a:ext>
          </a:extLst>
        </p:cNvPr>
        <p:cNvGrpSpPr/>
        <p:nvPr/>
      </p:nvGrpSpPr>
      <p:grpSpPr>
        <a:xfrm>
          <a:off x="0" y="0"/>
          <a:ext cx="0" cy="0"/>
          <a:chOff x="0" y="0"/>
          <a:chExt cx="0" cy="0"/>
        </a:xfrm>
      </p:grpSpPr>
      <p:sp>
        <p:nvSpPr>
          <p:cNvPr id="685" name="Google Shape;685;g6c60e245bf_1_31323:notes">
            <a:extLst>
              <a:ext uri="{FF2B5EF4-FFF2-40B4-BE49-F238E27FC236}">
                <a16:creationId xmlns:a16="http://schemas.microsoft.com/office/drawing/2014/main" id="{0C70BDAA-EF40-8B01-AA64-AE6EAC61BC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6c60e245bf_1_31323:notes">
            <a:extLst>
              <a:ext uri="{FF2B5EF4-FFF2-40B4-BE49-F238E27FC236}">
                <a16:creationId xmlns:a16="http://schemas.microsoft.com/office/drawing/2014/main" id="{02C8CBB5-1142-C07C-969F-FE6099C925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77934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g6c52a2e8d8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8" name="Google Shape;1238;g6c52a2e8d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a:extLst>
            <a:ext uri="{FF2B5EF4-FFF2-40B4-BE49-F238E27FC236}">
              <a16:creationId xmlns:a16="http://schemas.microsoft.com/office/drawing/2014/main" id="{DDF3EBB2-2679-923E-49B5-40E08E1C8566}"/>
            </a:ext>
          </a:extLst>
        </p:cNvPr>
        <p:cNvGrpSpPr/>
        <p:nvPr/>
      </p:nvGrpSpPr>
      <p:grpSpPr>
        <a:xfrm>
          <a:off x="0" y="0"/>
          <a:ext cx="0" cy="0"/>
          <a:chOff x="0" y="0"/>
          <a:chExt cx="0" cy="0"/>
        </a:xfrm>
      </p:grpSpPr>
      <p:sp>
        <p:nvSpPr>
          <p:cNvPr id="685" name="Google Shape;685;g6c60e245bf_1_31323:notes">
            <a:extLst>
              <a:ext uri="{FF2B5EF4-FFF2-40B4-BE49-F238E27FC236}">
                <a16:creationId xmlns:a16="http://schemas.microsoft.com/office/drawing/2014/main" id="{AB9FBEE9-7E6A-5A12-E665-8D0A8C0128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6c60e245bf_1_31323:notes">
            <a:extLst>
              <a:ext uri="{FF2B5EF4-FFF2-40B4-BE49-F238E27FC236}">
                <a16:creationId xmlns:a16="http://schemas.microsoft.com/office/drawing/2014/main" id="{7B0E5AC6-0BB0-A982-8720-0572A43250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65972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20B08F44-C5AA-34D3-2622-EFB54B4C02DD}"/>
            </a:ext>
          </a:extLst>
        </p:cNvPr>
        <p:cNvGrpSpPr/>
        <p:nvPr/>
      </p:nvGrpSpPr>
      <p:grpSpPr>
        <a:xfrm>
          <a:off x="0" y="0"/>
          <a:ext cx="0" cy="0"/>
          <a:chOff x="0" y="0"/>
          <a:chExt cx="0" cy="0"/>
        </a:xfrm>
      </p:grpSpPr>
      <p:sp>
        <p:nvSpPr>
          <p:cNvPr id="463" name="Google Shape;463;g6c60e245bf_1_31874:notes">
            <a:extLst>
              <a:ext uri="{FF2B5EF4-FFF2-40B4-BE49-F238E27FC236}">
                <a16:creationId xmlns:a16="http://schemas.microsoft.com/office/drawing/2014/main" id="{7E840B9B-30C5-A20C-615C-1CD36EC089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6c60e245bf_1_31874:notes">
            <a:extLst>
              <a:ext uri="{FF2B5EF4-FFF2-40B4-BE49-F238E27FC236}">
                <a16:creationId xmlns:a16="http://schemas.microsoft.com/office/drawing/2014/main" id="{E0249749-68E1-46DA-E870-365AE75666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71266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1581BBBC-979D-BF57-C0BD-9341CFCB2C8D}"/>
            </a:ext>
          </a:extLst>
        </p:cNvPr>
        <p:cNvGrpSpPr/>
        <p:nvPr/>
      </p:nvGrpSpPr>
      <p:grpSpPr>
        <a:xfrm>
          <a:off x="0" y="0"/>
          <a:ext cx="0" cy="0"/>
          <a:chOff x="0" y="0"/>
          <a:chExt cx="0" cy="0"/>
        </a:xfrm>
      </p:grpSpPr>
      <p:sp>
        <p:nvSpPr>
          <p:cNvPr id="463" name="Google Shape;463;g6c60e245bf_1_31874:notes">
            <a:extLst>
              <a:ext uri="{FF2B5EF4-FFF2-40B4-BE49-F238E27FC236}">
                <a16:creationId xmlns:a16="http://schemas.microsoft.com/office/drawing/2014/main" id="{90C5BA21-E6DC-5CF3-E6A3-0572B40C6A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6c60e245bf_1_31874:notes">
            <a:extLst>
              <a:ext uri="{FF2B5EF4-FFF2-40B4-BE49-F238E27FC236}">
                <a16:creationId xmlns:a16="http://schemas.microsoft.com/office/drawing/2014/main" id="{DFCD0BB5-C4EF-2B47-558F-5CC97449DB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80015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1"/>
        <p:cNvGrpSpPr/>
        <p:nvPr/>
      </p:nvGrpSpPr>
      <p:grpSpPr>
        <a:xfrm>
          <a:off x="0" y="0"/>
          <a:ext cx="0" cy="0"/>
          <a:chOff x="0" y="0"/>
          <a:chExt cx="0" cy="0"/>
        </a:xfrm>
      </p:grpSpPr>
      <p:sp>
        <p:nvSpPr>
          <p:cNvPr id="1352" name="Google Shape;1352;g6c52a2e8d8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3" name="Google Shape;1353;g6c52a2e8d8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61650" y="751888"/>
            <a:ext cx="60207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924250" y="2804488"/>
            <a:ext cx="3295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257933" y="2452405"/>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13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8263682" y="-434366"/>
            <a:ext cx="188886" cy="1181531"/>
            <a:chOff x="2877432" y="975334"/>
            <a:chExt cx="188886" cy="1181531"/>
          </a:xfrm>
        </p:grpSpPr>
        <p:sp>
          <p:nvSpPr>
            <p:cNvPr id="18" name="Google Shape;18;p2"/>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a:off x="3090746" y="-533657"/>
            <a:ext cx="98059" cy="1147596"/>
            <a:chOff x="3347921" y="16006"/>
            <a:chExt cx="98059" cy="1147596"/>
          </a:xfrm>
        </p:grpSpPr>
        <p:sp>
          <p:nvSpPr>
            <p:cNvPr id="23" name="Google Shape;23;p2"/>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p2"/>
          <p:cNvGrpSpPr/>
          <p:nvPr/>
        </p:nvGrpSpPr>
        <p:grpSpPr>
          <a:xfrm>
            <a:off x="250617" y="2402301"/>
            <a:ext cx="188650" cy="2468354"/>
            <a:chOff x="250617" y="2402301"/>
            <a:chExt cx="188650" cy="2468354"/>
          </a:xfrm>
        </p:grpSpPr>
        <p:sp>
          <p:nvSpPr>
            <p:cNvPr id="29" name="Google Shape;29;p2"/>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 name="Google Shape;33;p2"/>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3"/>
          <p:cNvSpPr/>
          <p:nvPr/>
        </p:nvSpPr>
        <p:spPr>
          <a:xfrm>
            <a:off x="720239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 name="Google Shape;41;p3"/>
          <p:cNvGrpSpPr/>
          <p:nvPr/>
        </p:nvGrpSpPr>
        <p:grpSpPr>
          <a:xfrm>
            <a:off x="8263682" y="-434366"/>
            <a:ext cx="188886" cy="1181531"/>
            <a:chOff x="2877432" y="975334"/>
            <a:chExt cx="188886" cy="1181531"/>
          </a:xfrm>
        </p:grpSpPr>
        <p:sp>
          <p:nvSpPr>
            <p:cNvPr id="42" name="Google Shape;42;p3"/>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3"/>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3"/>
          <p:cNvGrpSpPr/>
          <p:nvPr/>
        </p:nvGrpSpPr>
        <p:grpSpPr>
          <a:xfrm>
            <a:off x="3643898" y="-436198"/>
            <a:ext cx="133252" cy="1952377"/>
            <a:chOff x="6780548" y="337714"/>
            <a:chExt cx="133252" cy="1952377"/>
          </a:xfrm>
        </p:grpSpPr>
        <p:sp>
          <p:nvSpPr>
            <p:cNvPr id="47" name="Google Shape;47;p3"/>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9;p3"/>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50;p3"/>
          <p:cNvGrpSpPr/>
          <p:nvPr/>
        </p:nvGrpSpPr>
        <p:grpSpPr>
          <a:xfrm>
            <a:off x="8008096" y="2108910"/>
            <a:ext cx="199001" cy="2139769"/>
            <a:chOff x="8008096" y="2108910"/>
            <a:chExt cx="199001" cy="2139769"/>
          </a:xfrm>
        </p:grpSpPr>
        <p:sp>
          <p:nvSpPr>
            <p:cNvPr id="51" name="Google Shape;51;p3"/>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3"/>
          <p:cNvGrpSpPr/>
          <p:nvPr/>
        </p:nvGrpSpPr>
        <p:grpSpPr>
          <a:xfrm>
            <a:off x="520996" y="1091548"/>
            <a:ext cx="199001" cy="2139769"/>
            <a:chOff x="8008096" y="2108910"/>
            <a:chExt cx="199001" cy="2139769"/>
          </a:xfrm>
        </p:grpSpPr>
        <p:sp>
          <p:nvSpPr>
            <p:cNvPr id="54" name="Google Shape;54;p3"/>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 name="Google Shape;56;p3"/>
          <p:cNvSpPr txBox="1">
            <a:spLocks noGrp="1"/>
          </p:cNvSpPr>
          <p:nvPr>
            <p:ph type="ctrTitle"/>
          </p:nvPr>
        </p:nvSpPr>
        <p:spPr>
          <a:xfrm>
            <a:off x="2031287" y="1742775"/>
            <a:ext cx="2622000" cy="837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0000"/>
              </a:buClr>
              <a:buSzPts val="1200"/>
              <a:buNone/>
              <a:defRPr sz="4800">
                <a:solidFill>
                  <a:schemeClr val="lt1"/>
                </a:solidFill>
              </a:defRPr>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a:endParaRPr/>
          </a:p>
        </p:txBody>
      </p:sp>
      <p:sp>
        <p:nvSpPr>
          <p:cNvPr id="57" name="Google Shape;57;p3"/>
          <p:cNvSpPr txBox="1">
            <a:spLocks noGrp="1"/>
          </p:cNvSpPr>
          <p:nvPr>
            <p:ph type="subTitle" idx="1"/>
          </p:nvPr>
        </p:nvSpPr>
        <p:spPr>
          <a:xfrm>
            <a:off x="1791587" y="2417450"/>
            <a:ext cx="3101400" cy="104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58" name="Google Shape;58;p3"/>
          <p:cNvSpPr txBox="1">
            <a:spLocks noGrp="1"/>
          </p:cNvSpPr>
          <p:nvPr>
            <p:ph type="title" idx="2" hasCustomPrompt="1"/>
          </p:nvPr>
        </p:nvSpPr>
        <p:spPr>
          <a:xfrm>
            <a:off x="5834900" y="2122225"/>
            <a:ext cx="9810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4800"/>
              <a:buNone/>
              <a:defRPr sz="6000"/>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9"/>
        <p:cNvGrpSpPr/>
        <p:nvPr/>
      </p:nvGrpSpPr>
      <p:grpSpPr>
        <a:xfrm>
          <a:off x="0" y="0"/>
          <a:ext cx="0" cy="0"/>
          <a:chOff x="0" y="0"/>
          <a:chExt cx="0" cy="0"/>
        </a:xfrm>
      </p:grpSpPr>
      <p:sp>
        <p:nvSpPr>
          <p:cNvPr id="60" name="Google Shape;60;p4"/>
          <p:cNvSpPr txBox="1">
            <a:spLocks noGrp="1"/>
          </p:cNvSpPr>
          <p:nvPr>
            <p:ph type="body" idx="1"/>
          </p:nvPr>
        </p:nvSpPr>
        <p:spPr>
          <a:xfrm>
            <a:off x="618825" y="1679175"/>
            <a:ext cx="3534300" cy="20901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61" name="Google Shape;61;p4"/>
          <p:cNvSpPr txBox="1">
            <a:spLocks noGrp="1"/>
          </p:cNvSpPr>
          <p:nvPr>
            <p:ph type="ctrTitle"/>
          </p:nvPr>
        </p:nvSpPr>
        <p:spPr>
          <a:xfrm>
            <a:off x="618825" y="411675"/>
            <a:ext cx="26865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62" name="Google Shape;62;p4"/>
          <p:cNvSpPr/>
          <p:nvPr/>
        </p:nvSpPr>
        <p:spPr>
          <a:xfrm>
            <a:off x="720000" y="46901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2058475" y="4152200"/>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1432075" y="4296400"/>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2194725" y="44747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1585475" y="4695513"/>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 name="Google Shape;67;p4"/>
          <p:cNvGrpSpPr/>
          <p:nvPr/>
        </p:nvGrpSpPr>
        <p:grpSpPr>
          <a:xfrm>
            <a:off x="8148521" y="3004593"/>
            <a:ext cx="98059" cy="1147596"/>
            <a:chOff x="3347921" y="16006"/>
            <a:chExt cx="98059" cy="1147596"/>
          </a:xfrm>
        </p:grpSpPr>
        <p:sp>
          <p:nvSpPr>
            <p:cNvPr id="68" name="Google Shape;68;p4"/>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4"/>
          <p:cNvGrpSpPr/>
          <p:nvPr/>
        </p:nvGrpSpPr>
        <p:grpSpPr>
          <a:xfrm>
            <a:off x="281421" y="3769263"/>
            <a:ext cx="121172" cy="760495"/>
            <a:chOff x="5245196" y="3136513"/>
            <a:chExt cx="121172" cy="760495"/>
          </a:xfrm>
        </p:grpSpPr>
        <p:sp>
          <p:nvSpPr>
            <p:cNvPr id="71" name="Google Shape;71;p4"/>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 name="Google Shape;73;p4"/>
          <p:cNvGrpSpPr/>
          <p:nvPr/>
        </p:nvGrpSpPr>
        <p:grpSpPr>
          <a:xfrm>
            <a:off x="8534739" y="4069632"/>
            <a:ext cx="57599" cy="831799"/>
            <a:chOff x="2038689" y="173907"/>
            <a:chExt cx="57599" cy="831799"/>
          </a:xfrm>
        </p:grpSpPr>
        <p:sp>
          <p:nvSpPr>
            <p:cNvPr id="74" name="Google Shape;74;p4"/>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4"/>
          <p:cNvSpPr/>
          <p:nvPr/>
        </p:nvSpPr>
        <p:spPr>
          <a:xfrm>
            <a:off x="7686100" y="45688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8868125" y="3769263"/>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8"/>
        <p:cNvGrpSpPr/>
        <p:nvPr/>
      </p:nvGrpSpPr>
      <p:grpSpPr>
        <a:xfrm>
          <a:off x="0" y="0"/>
          <a:ext cx="0" cy="0"/>
          <a:chOff x="0" y="0"/>
          <a:chExt cx="0" cy="0"/>
        </a:xfrm>
      </p:grpSpPr>
      <p:sp>
        <p:nvSpPr>
          <p:cNvPr id="79" name="Google Shape;79;p5"/>
          <p:cNvSpPr txBox="1">
            <a:spLocks noGrp="1"/>
          </p:cNvSpPr>
          <p:nvPr>
            <p:ph type="ctrTitle"/>
          </p:nvPr>
        </p:nvSpPr>
        <p:spPr>
          <a:xfrm>
            <a:off x="923625" y="1196026"/>
            <a:ext cx="982200" cy="5778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rgbClr val="000000"/>
              </a:buClr>
              <a:buSzPts val="1800"/>
              <a:buFont typeface="Fira Sans Condensed Medium"/>
              <a:buNone/>
              <a:defRPr sz="24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80" name="Google Shape;80;p5"/>
          <p:cNvSpPr txBox="1">
            <a:spLocks noGrp="1"/>
          </p:cNvSpPr>
          <p:nvPr>
            <p:ph type="subTitle" idx="1"/>
          </p:nvPr>
        </p:nvSpPr>
        <p:spPr>
          <a:xfrm>
            <a:off x="923637" y="1684093"/>
            <a:ext cx="2620500" cy="11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81" name="Google Shape;81;p5"/>
          <p:cNvSpPr txBox="1">
            <a:spLocks noGrp="1"/>
          </p:cNvSpPr>
          <p:nvPr>
            <p:ph type="ctrTitle" idx="2"/>
          </p:nvPr>
        </p:nvSpPr>
        <p:spPr>
          <a:xfrm>
            <a:off x="7050379" y="1196025"/>
            <a:ext cx="1137300" cy="5778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Clr>
                <a:srgbClr val="000000"/>
              </a:buClr>
              <a:buSzPts val="1800"/>
              <a:buFont typeface="Fira Sans Condensed Medium"/>
              <a:buNone/>
              <a:defRPr sz="24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82" name="Google Shape;82;p5"/>
          <p:cNvSpPr txBox="1">
            <a:spLocks noGrp="1"/>
          </p:cNvSpPr>
          <p:nvPr>
            <p:ph type="subTitle" idx="3"/>
          </p:nvPr>
        </p:nvSpPr>
        <p:spPr>
          <a:xfrm>
            <a:off x="5450166" y="1684093"/>
            <a:ext cx="2737500" cy="111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83" name="Google Shape;83;p5"/>
          <p:cNvSpPr txBox="1">
            <a:spLocks noGrp="1"/>
          </p:cNvSpPr>
          <p:nvPr>
            <p:ph type="ctrTitle" idx="4"/>
          </p:nvPr>
        </p:nvSpPr>
        <p:spPr>
          <a:xfrm>
            <a:off x="618825" y="411675"/>
            <a:ext cx="46182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84" name="Google Shape;84;p5"/>
          <p:cNvSpPr/>
          <p:nvPr/>
        </p:nvSpPr>
        <p:spPr>
          <a:xfrm>
            <a:off x="7131388" y="36535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8403188" y="2183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7776788" y="3625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8539438" y="5409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5"/>
          <p:cNvGrpSpPr/>
          <p:nvPr/>
        </p:nvGrpSpPr>
        <p:grpSpPr>
          <a:xfrm>
            <a:off x="6626134" y="-164562"/>
            <a:ext cx="121172" cy="760495"/>
            <a:chOff x="5245196" y="3136513"/>
            <a:chExt cx="121172" cy="760495"/>
          </a:xfrm>
        </p:grpSpPr>
        <p:sp>
          <p:nvSpPr>
            <p:cNvPr id="89" name="Google Shape;89;p5"/>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 name="Google Shape;91;p5"/>
          <p:cNvSpPr/>
          <p:nvPr/>
        </p:nvSpPr>
        <p:spPr>
          <a:xfrm>
            <a:off x="318213" y="4418900"/>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454463" y="4741475"/>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3"/>
        <p:cNvGrpSpPr/>
        <p:nvPr/>
      </p:nvGrpSpPr>
      <p:grpSpPr>
        <a:xfrm>
          <a:off x="0" y="0"/>
          <a:ext cx="0" cy="0"/>
          <a:chOff x="0" y="0"/>
          <a:chExt cx="0" cy="0"/>
        </a:xfrm>
      </p:grpSpPr>
      <p:sp>
        <p:nvSpPr>
          <p:cNvPr id="94" name="Google Shape;94;p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95" name="Google Shape;95;p6"/>
          <p:cNvSpPr/>
          <p:nvPr/>
        </p:nvSpPr>
        <p:spPr>
          <a:xfrm>
            <a:off x="7573050" y="27737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564075" y="47539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71" name="Google Shape;17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2" name="Google Shape;17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57"/>
        <p:cNvGrpSpPr/>
        <p:nvPr/>
      </p:nvGrpSpPr>
      <p:grpSpPr>
        <a:xfrm>
          <a:off x="0" y="0"/>
          <a:ext cx="0" cy="0"/>
          <a:chOff x="0" y="0"/>
          <a:chExt cx="0" cy="0"/>
        </a:xfrm>
      </p:grpSpPr>
      <p:sp>
        <p:nvSpPr>
          <p:cNvPr id="258" name="Google Shape;258;p13"/>
          <p:cNvSpPr txBox="1">
            <a:spLocks noGrp="1"/>
          </p:cNvSpPr>
          <p:nvPr>
            <p:ph type="subTitle" idx="1"/>
          </p:nvPr>
        </p:nvSpPr>
        <p:spPr>
          <a:xfrm>
            <a:off x="6429027" y="3829680"/>
            <a:ext cx="24282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59" name="Google Shape;259;p13"/>
          <p:cNvSpPr/>
          <p:nvPr/>
        </p:nvSpPr>
        <p:spPr>
          <a:xfrm>
            <a:off x="7647375" y="94960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3"/>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3"/>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3"/>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3"/>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3"/>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3"/>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3"/>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3"/>
          <p:cNvSpPr/>
          <p:nvPr/>
        </p:nvSpPr>
        <p:spPr>
          <a:xfrm>
            <a:off x="285750" y="4542650"/>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3"/>
          <p:cNvSpPr/>
          <p:nvPr/>
        </p:nvSpPr>
        <p:spPr>
          <a:xfrm>
            <a:off x="439150" y="48034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3"/>
          <p:cNvSpPr txBox="1">
            <a:spLocks noGrp="1"/>
          </p:cNvSpPr>
          <p:nvPr>
            <p:ph type="ctrTitle"/>
          </p:nvPr>
        </p:nvSpPr>
        <p:spPr>
          <a:xfrm>
            <a:off x="970814" y="3396800"/>
            <a:ext cx="21525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
        <p:nvSpPr>
          <p:cNvPr id="270" name="Google Shape;270;p13"/>
          <p:cNvSpPr txBox="1">
            <a:spLocks noGrp="1"/>
          </p:cNvSpPr>
          <p:nvPr>
            <p:ph type="subTitle" idx="2"/>
          </p:nvPr>
        </p:nvSpPr>
        <p:spPr>
          <a:xfrm>
            <a:off x="970814" y="3829680"/>
            <a:ext cx="24282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71" name="Google Shape;271;p13"/>
          <p:cNvSpPr txBox="1">
            <a:spLocks noGrp="1"/>
          </p:cNvSpPr>
          <p:nvPr>
            <p:ph type="title" idx="3" hasCustomPrompt="1"/>
          </p:nvPr>
        </p:nvSpPr>
        <p:spPr>
          <a:xfrm>
            <a:off x="970814" y="2645887"/>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4800"/>
              <a:buNone/>
              <a:defRPr sz="4800">
                <a:solidFill>
                  <a:schemeClr val="accent2"/>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2" name="Google Shape;272;p13"/>
          <p:cNvSpPr txBox="1">
            <a:spLocks noGrp="1"/>
          </p:cNvSpPr>
          <p:nvPr>
            <p:ph type="ctrTitle" idx="4"/>
          </p:nvPr>
        </p:nvSpPr>
        <p:spPr>
          <a:xfrm>
            <a:off x="3690348" y="3396800"/>
            <a:ext cx="13866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
        <p:nvSpPr>
          <p:cNvPr id="273" name="Google Shape;273;p13"/>
          <p:cNvSpPr txBox="1">
            <a:spLocks noGrp="1"/>
          </p:cNvSpPr>
          <p:nvPr>
            <p:ph type="subTitle" idx="5"/>
          </p:nvPr>
        </p:nvSpPr>
        <p:spPr>
          <a:xfrm>
            <a:off x="3690341" y="3829680"/>
            <a:ext cx="24282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274" name="Google Shape;274;p13"/>
          <p:cNvSpPr txBox="1">
            <a:spLocks noGrp="1"/>
          </p:cNvSpPr>
          <p:nvPr>
            <p:ph type="title" idx="6" hasCustomPrompt="1"/>
          </p:nvPr>
        </p:nvSpPr>
        <p:spPr>
          <a:xfrm>
            <a:off x="3690341" y="2645887"/>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4800"/>
              <a:buNone/>
              <a:defRPr sz="4800">
                <a:solidFill>
                  <a:schemeClr val="accent3"/>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5" name="Google Shape;275;p13"/>
          <p:cNvSpPr txBox="1">
            <a:spLocks noGrp="1"/>
          </p:cNvSpPr>
          <p:nvPr>
            <p:ph type="ctrTitle" idx="7"/>
          </p:nvPr>
        </p:nvSpPr>
        <p:spPr>
          <a:xfrm>
            <a:off x="618825" y="411675"/>
            <a:ext cx="45762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276" name="Google Shape;276;p13"/>
          <p:cNvSpPr txBox="1">
            <a:spLocks noGrp="1"/>
          </p:cNvSpPr>
          <p:nvPr>
            <p:ph type="ctrTitle" idx="8"/>
          </p:nvPr>
        </p:nvSpPr>
        <p:spPr>
          <a:xfrm>
            <a:off x="6428436" y="3377738"/>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
        <p:nvSpPr>
          <p:cNvPr id="277" name="Google Shape;277;p13"/>
          <p:cNvSpPr txBox="1">
            <a:spLocks noGrp="1"/>
          </p:cNvSpPr>
          <p:nvPr>
            <p:ph type="title" idx="9" hasCustomPrompt="1"/>
          </p:nvPr>
        </p:nvSpPr>
        <p:spPr>
          <a:xfrm>
            <a:off x="6428436" y="2645887"/>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4800"/>
              <a:buNone/>
              <a:defRPr sz="4800">
                <a:solidFill>
                  <a:schemeClr val="accent1"/>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8" name="Google Shape;278;p13"/>
          <p:cNvSpPr txBox="1">
            <a:spLocks noGrp="1"/>
          </p:cNvSpPr>
          <p:nvPr>
            <p:ph type="ctrTitle" idx="13"/>
          </p:nvPr>
        </p:nvSpPr>
        <p:spPr>
          <a:xfrm>
            <a:off x="6429027" y="3396800"/>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CUSTOM_2">
    <p:spTree>
      <p:nvGrpSpPr>
        <p:cNvPr id="1" name="Shape 334"/>
        <p:cNvGrpSpPr/>
        <p:nvPr/>
      </p:nvGrpSpPr>
      <p:grpSpPr>
        <a:xfrm>
          <a:off x="0" y="0"/>
          <a:ext cx="0" cy="0"/>
          <a:chOff x="0" y="0"/>
          <a:chExt cx="0" cy="0"/>
        </a:xfrm>
      </p:grpSpPr>
      <p:sp>
        <p:nvSpPr>
          <p:cNvPr id="335" name="Google Shape;335;p17"/>
          <p:cNvSpPr txBox="1">
            <a:spLocks noGrp="1"/>
          </p:cNvSpPr>
          <p:nvPr>
            <p:ph type="ctrTitle"/>
          </p:nvPr>
        </p:nvSpPr>
        <p:spPr>
          <a:xfrm>
            <a:off x="1218541" y="1373195"/>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36" name="Google Shape;336;p17"/>
          <p:cNvSpPr txBox="1">
            <a:spLocks noGrp="1"/>
          </p:cNvSpPr>
          <p:nvPr>
            <p:ph type="subTitle" idx="1"/>
          </p:nvPr>
        </p:nvSpPr>
        <p:spPr>
          <a:xfrm>
            <a:off x="1218541" y="1865495"/>
            <a:ext cx="1881300" cy="64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37" name="Google Shape;337;p17"/>
          <p:cNvSpPr txBox="1">
            <a:spLocks noGrp="1"/>
          </p:cNvSpPr>
          <p:nvPr>
            <p:ph type="ctrTitle" idx="2"/>
          </p:nvPr>
        </p:nvSpPr>
        <p:spPr>
          <a:xfrm>
            <a:off x="6054555" y="1373195"/>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38" name="Google Shape;338;p17"/>
          <p:cNvSpPr txBox="1">
            <a:spLocks noGrp="1"/>
          </p:cNvSpPr>
          <p:nvPr>
            <p:ph type="subTitle" idx="3"/>
          </p:nvPr>
        </p:nvSpPr>
        <p:spPr>
          <a:xfrm>
            <a:off x="6054555" y="1865495"/>
            <a:ext cx="1881300" cy="64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39" name="Google Shape;339;p17"/>
          <p:cNvSpPr txBox="1">
            <a:spLocks noGrp="1"/>
          </p:cNvSpPr>
          <p:nvPr>
            <p:ph type="ctrTitle" idx="4"/>
          </p:nvPr>
        </p:nvSpPr>
        <p:spPr>
          <a:xfrm>
            <a:off x="1218541" y="2778806"/>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40" name="Google Shape;340;p17"/>
          <p:cNvSpPr txBox="1">
            <a:spLocks noGrp="1"/>
          </p:cNvSpPr>
          <p:nvPr>
            <p:ph type="subTitle" idx="5"/>
          </p:nvPr>
        </p:nvSpPr>
        <p:spPr>
          <a:xfrm>
            <a:off x="1116841" y="3271106"/>
            <a:ext cx="2084700" cy="64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41" name="Google Shape;341;p17"/>
          <p:cNvSpPr txBox="1">
            <a:spLocks noGrp="1"/>
          </p:cNvSpPr>
          <p:nvPr>
            <p:ph type="ctrTitle" idx="6"/>
          </p:nvPr>
        </p:nvSpPr>
        <p:spPr>
          <a:xfrm>
            <a:off x="6054555" y="2778806"/>
            <a:ext cx="1881300" cy="644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800"/>
              <a:buFont typeface="Fira Sans Condensed Medium"/>
              <a:buNone/>
              <a:defRPr sz="2000">
                <a:solidFill>
                  <a:schemeClr val="lt1"/>
                </a:solidFill>
              </a:defRPr>
            </a:lvl1pPr>
            <a:lvl2pPr lvl="1"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rtl="0">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a:endParaRPr/>
          </a:p>
        </p:txBody>
      </p:sp>
      <p:sp>
        <p:nvSpPr>
          <p:cNvPr id="342" name="Google Shape;342;p17"/>
          <p:cNvSpPr txBox="1">
            <a:spLocks noGrp="1"/>
          </p:cNvSpPr>
          <p:nvPr>
            <p:ph type="subTitle" idx="7"/>
          </p:nvPr>
        </p:nvSpPr>
        <p:spPr>
          <a:xfrm>
            <a:off x="6054555" y="3271106"/>
            <a:ext cx="1881300" cy="64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43" name="Google Shape;343;p17"/>
          <p:cNvSpPr txBox="1">
            <a:spLocks noGrp="1"/>
          </p:cNvSpPr>
          <p:nvPr>
            <p:ph type="ctrTitle" idx="8"/>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344" name="Google Shape;344;p17"/>
          <p:cNvSpPr/>
          <p:nvPr/>
        </p:nvSpPr>
        <p:spPr>
          <a:xfrm>
            <a:off x="7647375" y="949600"/>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7"/>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7"/>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7"/>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7"/>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7"/>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7"/>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7"/>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7"/>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7"/>
          <p:cNvSpPr/>
          <p:nvPr/>
        </p:nvSpPr>
        <p:spPr>
          <a:xfrm>
            <a:off x="816650" y="4612675"/>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374"/>
        <p:cNvGrpSpPr/>
        <p:nvPr/>
      </p:nvGrpSpPr>
      <p:grpSpPr>
        <a:xfrm>
          <a:off x="0" y="0"/>
          <a:ext cx="0" cy="0"/>
          <a:chOff x="0" y="0"/>
          <a:chExt cx="0" cy="0"/>
        </a:xfrm>
      </p:grpSpPr>
      <p:sp>
        <p:nvSpPr>
          <p:cNvPr id="375" name="Google Shape;375;p19"/>
          <p:cNvSpPr txBox="1">
            <a:spLocks noGrp="1"/>
          </p:cNvSpPr>
          <p:nvPr>
            <p:ph type="title"/>
          </p:nvPr>
        </p:nvSpPr>
        <p:spPr>
          <a:xfrm>
            <a:off x="2471150" y="1830075"/>
            <a:ext cx="3823200" cy="1121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7200">
                <a:solidFill>
                  <a:schemeClr val="lt1"/>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76" name="Google Shape;376;p19"/>
          <p:cNvSpPr txBox="1">
            <a:spLocks noGrp="1"/>
          </p:cNvSpPr>
          <p:nvPr>
            <p:ph type="subTitle" idx="1"/>
          </p:nvPr>
        </p:nvSpPr>
        <p:spPr>
          <a:xfrm>
            <a:off x="2902550" y="540000"/>
            <a:ext cx="2960400" cy="135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77" name="Google Shape;377;p19"/>
          <p:cNvSpPr txBox="1"/>
          <p:nvPr/>
        </p:nvSpPr>
        <p:spPr>
          <a:xfrm>
            <a:off x="2289500" y="3592806"/>
            <a:ext cx="4186500" cy="931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300"/>
              </a:spcBef>
              <a:spcAft>
                <a:spcPts val="0"/>
              </a:spcAft>
              <a:buNone/>
            </a:pPr>
            <a:r>
              <a:rPr lang="en" sz="1000">
                <a:solidFill>
                  <a:schemeClr val="lt1"/>
                </a:solidFill>
                <a:latin typeface="Maven Pro"/>
                <a:ea typeface="Maven Pro"/>
                <a:cs typeface="Maven Pro"/>
                <a:sym typeface="Maven Pro"/>
              </a:rPr>
              <a:t>CREDITS: This presentation template was created by </a:t>
            </a:r>
            <a:r>
              <a:rPr lang="en" sz="1000">
                <a:solidFill>
                  <a:schemeClr val="accent1"/>
                </a:solidFill>
                <a:uFill>
                  <a:noFill/>
                </a:uFill>
                <a:latin typeface="Maven Pro"/>
                <a:ea typeface="Maven Pro"/>
                <a:cs typeface="Maven Pro"/>
                <a:sym typeface="Maven Pro"/>
                <a:hlinkClick r:id="rId2">
                  <a:extLst>
                    <a:ext uri="{A12FA001-AC4F-418D-AE19-62706E023703}">
                      <ahyp:hlinkClr xmlns:ahyp="http://schemas.microsoft.com/office/drawing/2018/hyperlinkcolor" val="tx"/>
                    </a:ext>
                  </a:extLst>
                </a:hlinkClick>
              </a:rPr>
              <a:t>Slidesgo</a:t>
            </a:r>
            <a:r>
              <a:rPr lang="en" sz="1000">
                <a:solidFill>
                  <a:schemeClr val="lt1"/>
                </a:solidFill>
                <a:latin typeface="Maven Pro"/>
                <a:ea typeface="Maven Pro"/>
                <a:cs typeface="Maven Pro"/>
                <a:sym typeface="Maven Pro"/>
              </a:rPr>
              <a:t>, including icons by </a:t>
            </a:r>
            <a:r>
              <a:rPr lang="en" sz="1000">
                <a:solidFill>
                  <a:schemeClr val="accent2"/>
                </a:solidFill>
                <a:uFill>
                  <a:noFill/>
                </a:uFill>
                <a:latin typeface="Maven Pro"/>
                <a:ea typeface="Maven Pro"/>
                <a:cs typeface="Maven Pro"/>
                <a:sym typeface="Maven Pro"/>
                <a:hlinkClick r:id="rId3">
                  <a:extLst>
                    <a:ext uri="{A12FA001-AC4F-418D-AE19-62706E023703}">
                      <ahyp:hlinkClr xmlns:ahyp="http://schemas.microsoft.com/office/drawing/2018/hyperlinkcolor" val="tx"/>
                    </a:ext>
                  </a:extLst>
                </a:hlinkClick>
              </a:rPr>
              <a:t>Flaticon</a:t>
            </a:r>
            <a:r>
              <a:rPr lang="en" sz="1000">
                <a:solidFill>
                  <a:schemeClr val="lt1"/>
                </a:solidFill>
                <a:latin typeface="Maven Pro"/>
                <a:ea typeface="Maven Pro"/>
                <a:cs typeface="Maven Pro"/>
                <a:sym typeface="Maven Pro"/>
              </a:rPr>
              <a:t>, and infographics &amp; images by </a:t>
            </a:r>
            <a:r>
              <a:rPr lang="en" sz="1000">
                <a:solidFill>
                  <a:schemeClr val="accent3"/>
                </a:solidFill>
                <a:uFill>
                  <a:noFill/>
                </a:uFill>
                <a:latin typeface="Maven Pro"/>
                <a:ea typeface="Maven Pro"/>
                <a:cs typeface="Maven Pro"/>
                <a:sym typeface="Maven Pro"/>
                <a:hlinkClick r:id="rId4">
                  <a:extLst>
                    <a:ext uri="{A12FA001-AC4F-418D-AE19-62706E023703}">
                      <ahyp:hlinkClr xmlns:ahyp="http://schemas.microsoft.com/office/drawing/2018/hyperlinkcolor" val="tx"/>
                    </a:ext>
                  </a:extLst>
                </a:hlinkClick>
              </a:rPr>
              <a:t>Freepik</a:t>
            </a:r>
            <a:endParaRPr sz="1000">
              <a:solidFill>
                <a:schemeClr val="accent3"/>
              </a:solidFill>
              <a:latin typeface="Maven Pro"/>
              <a:ea typeface="Maven Pro"/>
              <a:cs typeface="Maven Pro"/>
              <a:sym typeface="Maven Pro"/>
            </a:endParaRPr>
          </a:p>
        </p:txBody>
      </p:sp>
      <p:sp>
        <p:nvSpPr>
          <p:cNvPr id="378" name="Google Shape;378;p19"/>
          <p:cNvSpPr/>
          <p:nvPr/>
        </p:nvSpPr>
        <p:spPr>
          <a:xfrm>
            <a:off x="858247" y="1380669"/>
            <a:ext cx="130760" cy="131015"/>
          </a:xfrm>
          <a:custGeom>
            <a:avLst/>
            <a:gdLst/>
            <a:ahLst/>
            <a:cxnLst/>
            <a:rect l="l" t="t" r="r" b="b"/>
            <a:pathLst>
              <a:path w="4625" h="4634" extrusionOk="0">
                <a:moveTo>
                  <a:pt x="1" y="0"/>
                </a:moveTo>
                <a:lnTo>
                  <a:pt x="1" y="4633"/>
                </a:lnTo>
                <a:lnTo>
                  <a:pt x="4625" y="4633"/>
                </a:lnTo>
                <a:lnTo>
                  <a:pt x="46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9"/>
          <p:cNvSpPr/>
          <p:nvPr/>
        </p:nvSpPr>
        <p:spPr>
          <a:xfrm>
            <a:off x="1802448" y="4340187"/>
            <a:ext cx="131015" cy="131015"/>
          </a:xfrm>
          <a:custGeom>
            <a:avLst/>
            <a:gdLst/>
            <a:ahLst/>
            <a:cxnLst/>
            <a:rect l="l" t="t" r="r" b="b"/>
            <a:pathLst>
              <a:path w="4634" h="4634" extrusionOk="0">
                <a:moveTo>
                  <a:pt x="1" y="0"/>
                </a:moveTo>
                <a:lnTo>
                  <a:pt x="1" y="4633"/>
                </a:lnTo>
                <a:lnTo>
                  <a:pt x="4634" y="4633"/>
                </a:lnTo>
                <a:lnTo>
                  <a:pt x="46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9"/>
          <p:cNvSpPr/>
          <p:nvPr/>
        </p:nvSpPr>
        <p:spPr>
          <a:xfrm>
            <a:off x="7196621" y="809541"/>
            <a:ext cx="131015" cy="131015"/>
          </a:xfrm>
          <a:custGeom>
            <a:avLst/>
            <a:gdLst/>
            <a:ahLst/>
            <a:cxnLst/>
            <a:rect l="l" t="t" r="r" b="b"/>
            <a:pathLst>
              <a:path w="4634" h="4634" extrusionOk="0">
                <a:moveTo>
                  <a:pt x="0" y="1"/>
                </a:moveTo>
                <a:lnTo>
                  <a:pt x="0" y="4634"/>
                </a:lnTo>
                <a:lnTo>
                  <a:pt x="4633" y="4634"/>
                </a:lnTo>
                <a:lnTo>
                  <a:pt x="46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9"/>
          <p:cNvSpPr/>
          <p:nvPr/>
        </p:nvSpPr>
        <p:spPr>
          <a:xfrm>
            <a:off x="7826485" y="4005523"/>
            <a:ext cx="105796" cy="106050"/>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9"/>
          <p:cNvSpPr/>
          <p:nvPr/>
        </p:nvSpPr>
        <p:spPr>
          <a:xfrm>
            <a:off x="6669747" y="3108456"/>
            <a:ext cx="62397" cy="62397"/>
          </a:xfrm>
          <a:custGeom>
            <a:avLst/>
            <a:gdLst/>
            <a:ahLst/>
            <a:cxnLst/>
            <a:rect l="l" t="t" r="r" b="b"/>
            <a:pathLst>
              <a:path w="2207" h="2207" fill="none" extrusionOk="0">
                <a:moveTo>
                  <a:pt x="0" y="1"/>
                </a:moveTo>
                <a:lnTo>
                  <a:pt x="2206" y="1"/>
                </a:lnTo>
                <a:lnTo>
                  <a:pt x="2206" y="2207"/>
                </a:lnTo>
                <a:lnTo>
                  <a:pt x="0" y="2207"/>
                </a:lnTo>
                <a:close/>
              </a:path>
            </a:pathLst>
          </a:custGeom>
          <a:noFill/>
          <a:ln w="13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9"/>
          <p:cNvSpPr/>
          <p:nvPr/>
        </p:nvSpPr>
        <p:spPr>
          <a:xfrm>
            <a:off x="2127273" y="2530788"/>
            <a:ext cx="112298" cy="112553"/>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9"/>
          <p:cNvSpPr/>
          <p:nvPr/>
        </p:nvSpPr>
        <p:spPr>
          <a:xfrm>
            <a:off x="7418926" y="3240515"/>
            <a:ext cx="112298" cy="112553"/>
          </a:xfrm>
          <a:custGeom>
            <a:avLst/>
            <a:gdLst/>
            <a:ahLst/>
            <a:cxnLst/>
            <a:rect l="l" t="t" r="r" b="b"/>
            <a:pathLst>
              <a:path w="3972" h="3981" extrusionOk="0">
                <a:moveTo>
                  <a:pt x="0" y="1"/>
                </a:moveTo>
                <a:lnTo>
                  <a:pt x="0" y="3981"/>
                </a:lnTo>
                <a:lnTo>
                  <a:pt x="3972" y="3981"/>
                </a:lnTo>
                <a:lnTo>
                  <a:pt x="39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9"/>
          <p:cNvSpPr/>
          <p:nvPr/>
        </p:nvSpPr>
        <p:spPr>
          <a:xfrm>
            <a:off x="7751274" y="1218584"/>
            <a:ext cx="86853" cy="86825"/>
          </a:xfrm>
          <a:custGeom>
            <a:avLst/>
            <a:gdLst/>
            <a:ahLst/>
            <a:cxnLst/>
            <a:rect l="l" t="t" r="r" b="b"/>
            <a:pathLst>
              <a:path w="3072" h="3071" extrusionOk="0">
                <a:moveTo>
                  <a:pt x="1" y="0"/>
                </a:moveTo>
                <a:lnTo>
                  <a:pt x="1" y="3070"/>
                </a:lnTo>
                <a:lnTo>
                  <a:pt x="3071" y="3070"/>
                </a:lnTo>
                <a:lnTo>
                  <a:pt x="30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6" name="Google Shape;386;p19"/>
          <p:cNvGrpSpPr/>
          <p:nvPr/>
        </p:nvGrpSpPr>
        <p:grpSpPr>
          <a:xfrm>
            <a:off x="6669747" y="-389684"/>
            <a:ext cx="143766" cy="2106420"/>
            <a:chOff x="6780548" y="337714"/>
            <a:chExt cx="133252" cy="1952377"/>
          </a:xfrm>
        </p:grpSpPr>
        <p:sp>
          <p:nvSpPr>
            <p:cNvPr id="387" name="Google Shape;387;p19"/>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9"/>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9" name="Google Shape;389;p19"/>
          <p:cNvGrpSpPr/>
          <p:nvPr/>
        </p:nvGrpSpPr>
        <p:grpSpPr>
          <a:xfrm>
            <a:off x="1510029" y="507749"/>
            <a:ext cx="203534" cy="2663107"/>
            <a:chOff x="250617" y="2402301"/>
            <a:chExt cx="188650" cy="2468354"/>
          </a:xfrm>
        </p:grpSpPr>
        <p:sp>
          <p:nvSpPr>
            <p:cNvPr id="390" name="Google Shape;390;p19"/>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9"/>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9"/>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4" name="Google Shape;394;p19"/>
          <p:cNvGrpSpPr/>
          <p:nvPr/>
        </p:nvGrpSpPr>
        <p:grpSpPr>
          <a:xfrm>
            <a:off x="385355" y="1380671"/>
            <a:ext cx="199237" cy="2828935"/>
            <a:chOff x="1608717" y="1280046"/>
            <a:chExt cx="199237" cy="2828935"/>
          </a:xfrm>
        </p:grpSpPr>
        <p:sp>
          <p:nvSpPr>
            <p:cNvPr id="395" name="Google Shape;395;p19"/>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9"/>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9"/>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8" name="Google Shape;398;p19"/>
          <p:cNvSpPr/>
          <p:nvPr/>
        </p:nvSpPr>
        <p:spPr>
          <a:xfrm>
            <a:off x="1050592" y="3209646"/>
            <a:ext cx="9132" cy="2718457"/>
          </a:xfrm>
          <a:custGeom>
            <a:avLst/>
            <a:gdLst/>
            <a:ahLst/>
            <a:cxnLst/>
            <a:rect l="l" t="t" r="r" b="b"/>
            <a:pathLst>
              <a:path w="323" h="96152" extrusionOk="0">
                <a:moveTo>
                  <a:pt x="166" y="1"/>
                </a:moveTo>
                <a:lnTo>
                  <a:pt x="1" y="96151"/>
                </a:lnTo>
                <a:lnTo>
                  <a:pt x="322" y="96151"/>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9"/>
          <p:cNvSpPr/>
          <p:nvPr/>
        </p:nvSpPr>
        <p:spPr>
          <a:xfrm>
            <a:off x="7090326" y="2590809"/>
            <a:ext cx="9132" cy="1822361"/>
          </a:xfrm>
          <a:custGeom>
            <a:avLst/>
            <a:gdLst/>
            <a:ahLst/>
            <a:cxnLst/>
            <a:rect l="l" t="t" r="r" b="b"/>
            <a:pathLst>
              <a:path w="323" h="64457" extrusionOk="0">
                <a:moveTo>
                  <a:pt x="157" y="1"/>
                </a:moveTo>
                <a:lnTo>
                  <a:pt x="0" y="64456"/>
                </a:lnTo>
                <a:lnTo>
                  <a:pt x="322" y="64456"/>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0" name="Google Shape;400;p19"/>
          <p:cNvGrpSpPr/>
          <p:nvPr/>
        </p:nvGrpSpPr>
        <p:grpSpPr>
          <a:xfrm>
            <a:off x="989005" y="-389666"/>
            <a:ext cx="62143" cy="897428"/>
            <a:chOff x="2038689" y="173907"/>
            <a:chExt cx="57599" cy="831799"/>
          </a:xfrm>
        </p:grpSpPr>
        <p:sp>
          <p:nvSpPr>
            <p:cNvPr id="401" name="Google Shape;401;p19"/>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9"/>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3" name="Google Shape;403;p19"/>
          <p:cNvGrpSpPr/>
          <p:nvPr/>
        </p:nvGrpSpPr>
        <p:grpSpPr>
          <a:xfrm>
            <a:off x="8568723" y="2184809"/>
            <a:ext cx="214702" cy="2308597"/>
            <a:chOff x="8008096" y="2108910"/>
            <a:chExt cx="199001" cy="2139769"/>
          </a:xfrm>
        </p:grpSpPr>
        <p:sp>
          <p:nvSpPr>
            <p:cNvPr id="404" name="Google Shape;404;p19"/>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9"/>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6" name="Google Shape;406;p19"/>
          <p:cNvSpPr/>
          <p:nvPr/>
        </p:nvSpPr>
        <p:spPr>
          <a:xfrm>
            <a:off x="6423211" y="3192659"/>
            <a:ext cx="86853" cy="86825"/>
          </a:xfrm>
          <a:custGeom>
            <a:avLst/>
            <a:gdLst/>
            <a:ahLst/>
            <a:cxnLst/>
            <a:rect l="l" t="t" r="r" b="b"/>
            <a:pathLst>
              <a:path w="3072" h="3071" extrusionOk="0">
                <a:moveTo>
                  <a:pt x="1" y="0"/>
                </a:moveTo>
                <a:lnTo>
                  <a:pt x="1" y="3070"/>
                </a:lnTo>
                <a:lnTo>
                  <a:pt x="3071" y="3070"/>
                </a:lnTo>
                <a:lnTo>
                  <a:pt x="30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7" name="Google Shape;407;p19"/>
          <p:cNvGrpSpPr/>
          <p:nvPr/>
        </p:nvGrpSpPr>
        <p:grpSpPr>
          <a:xfrm>
            <a:off x="8221223" y="9"/>
            <a:ext cx="214702" cy="2308597"/>
            <a:chOff x="8008096" y="2108910"/>
            <a:chExt cx="199001" cy="2139769"/>
          </a:xfrm>
        </p:grpSpPr>
        <p:sp>
          <p:nvSpPr>
            <p:cNvPr id="408" name="Google Shape;408;p19"/>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9"/>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list">
  <p:cSld name="CUSTOM_4">
    <p:spTree>
      <p:nvGrpSpPr>
        <p:cNvPr id="1" name="Shape 410"/>
        <p:cNvGrpSpPr/>
        <p:nvPr/>
      </p:nvGrpSpPr>
      <p:grpSpPr>
        <a:xfrm>
          <a:off x="0" y="0"/>
          <a:ext cx="0" cy="0"/>
          <a:chOff x="0" y="0"/>
          <a:chExt cx="0" cy="0"/>
        </a:xfrm>
      </p:grpSpPr>
      <p:sp>
        <p:nvSpPr>
          <p:cNvPr id="411" name="Google Shape;411;p20"/>
          <p:cNvSpPr txBox="1">
            <a:spLocks noGrp="1"/>
          </p:cNvSpPr>
          <p:nvPr>
            <p:ph type="body" idx="1"/>
          </p:nvPr>
        </p:nvSpPr>
        <p:spPr>
          <a:xfrm>
            <a:off x="59737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Font typeface="Livvic Light"/>
              <a:buChar char="●"/>
              <a:defRPr sz="1200"/>
            </a:lvl1pPr>
            <a:lvl2pPr marL="914400" lvl="1" indent="-292100" rtl="0">
              <a:spcBef>
                <a:spcPts val="1600"/>
              </a:spcBef>
              <a:spcAft>
                <a:spcPts val="0"/>
              </a:spcAft>
              <a:buSzPts val="1000"/>
              <a:buFont typeface="Nunito Light"/>
              <a:buChar char="○"/>
              <a:defRPr/>
            </a:lvl2pPr>
            <a:lvl3pPr marL="1371600" lvl="2" indent="-292100" rtl="0">
              <a:spcBef>
                <a:spcPts val="1600"/>
              </a:spcBef>
              <a:spcAft>
                <a:spcPts val="0"/>
              </a:spcAft>
              <a:buSzPts val="1000"/>
              <a:buFont typeface="Nunito Light"/>
              <a:buChar char="■"/>
              <a:defRPr/>
            </a:lvl3pPr>
            <a:lvl4pPr marL="1828800" lvl="3" indent="-292100" rtl="0">
              <a:spcBef>
                <a:spcPts val="1600"/>
              </a:spcBef>
              <a:spcAft>
                <a:spcPts val="0"/>
              </a:spcAft>
              <a:buSzPts val="1000"/>
              <a:buFont typeface="Nunito Light"/>
              <a:buChar char="●"/>
              <a:defRPr/>
            </a:lvl4pPr>
            <a:lvl5pPr marL="2286000" lvl="4" indent="-292100" rtl="0">
              <a:spcBef>
                <a:spcPts val="1600"/>
              </a:spcBef>
              <a:spcAft>
                <a:spcPts val="0"/>
              </a:spcAft>
              <a:buSzPts val="1000"/>
              <a:buFont typeface="Nunito Light"/>
              <a:buChar char="○"/>
              <a:defRPr/>
            </a:lvl5pPr>
            <a:lvl6pPr marL="2743200" lvl="5" indent="-292100" rtl="0">
              <a:spcBef>
                <a:spcPts val="1600"/>
              </a:spcBef>
              <a:spcAft>
                <a:spcPts val="0"/>
              </a:spcAft>
              <a:buSzPts val="1000"/>
              <a:buFont typeface="Nunito Light"/>
              <a:buChar char="■"/>
              <a:defRPr/>
            </a:lvl6pPr>
            <a:lvl7pPr marL="3200400" lvl="6" indent="-292100" rtl="0">
              <a:spcBef>
                <a:spcPts val="1600"/>
              </a:spcBef>
              <a:spcAft>
                <a:spcPts val="0"/>
              </a:spcAft>
              <a:buSzPts val="1000"/>
              <a:buFont typeface="Nunito Light"/>
              <a:buChar char="●"/>
              <a:defRPr/>
            </a:lvl7pPr>
            <a:lvl8pPr marL="3657600" lvl="7" indent="-292100" rtl="0">
              <a:spcBef>
                <a:spcPts val="1600"/>
              </a:spcBef>
              <a:spcAft>
                <a:spcPts val="0"/>
              </a:spcAft>
              <a:buSzPts val="1000"/>
              <a:buFont typeface="Nunito Light"/>
              <a:buChar char="○"/>
              <a:defRPr/>
            </a:lvl8pPr>
            <a:lvl9pPr marL="4114800" lvl="8" indent="-292100" rtl="0">
              <a:spcBef>
                <a:spcPts val="1600"/>
              </a:spcBef>
              <a:spcAft>
                <a:spcPts val="1600"/>
              </a:spcAft>
              <a:buSzPts val="1000"/>
              <a:buFont typeface="Nunito Light"/>
              <a:buChar char="■"/>
              <a:defRPr/>
            </a:lvl9pPr>
          </a:lstStyle>
          <a:p>
            <a:endParaRPr/>
          </a:p>
        </p:txBody>
      </p:sp>
      <p:sp>
        <p:nvSpPr>
          <p:cNvPr id="412" name="Google Shape;412;p20"/>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413" name="Google Shape;413;p20"/>
          <p:cNvSpPr txBox="1">
            <a:spLocks noGrp="1"/>
          </p:cNvSpPr>
          <p:nvPr>
            <p:ph type="body" idx="2"/>
          </p:nvPr>
        </p:nvSpPr>
        <p:spPr>
          <a:xfrm>
            <a:off x="469012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Clr>
                <a:srgbClr val="EC5D37"/>
              </a:buClr>
              <a:buSzPts val="1000"/>
              <a:buFont typeface="Livvic Light"/>
              <a:buChar char="●"/>
              <a:defRPr sz="1200"/>
            </a:lvl1pPr>
            <a:lvl2pPr marL="914400" lvl="1" indent="-292100" rtl="0">
              <a:spcBef>
                <a:spcPts val="1600"/>
              </a:spcBef>
              <a:spcAft>
                <a:spcPts val="0"/>
              </a:spcAft>
              <a:buClr>
                <a:srgbClr val="FFC800"/>
              </a:buClr>
              <a:buSzPts val="1000"/>
              <a:buFont typeface="Nunito Light"/>
              <a:buChar char="○"/>
              <a:defRPr/>
            </a:lvl2pPr>
            <a:lvl3pPr marL="1371600" lvl="2" indent="-292100" rtl="0">
              <a:spcBef>
                <a:spcPts val="1600"/>
              </a:spcBef>
              <a:spcAft>
                <a:spcPts val="0"/>
              </a:spcAft>
              <a:buClr>
                <a:srgbClr val="FFC800"/>
              </a:buClr>
              <a:buSzPts val="1000"/>
              <a:buFont typeface="Nunito Light"/>
              <a:buChar char="■"/>
              <a:defRPr/>
            </a:lvl3pPr>
            <a:lvl4pPr marL="1828800" lvl="3" indent="-292100" rtl="0">
              <a:spcBef>
                <a:spcPts val="1600"/>
              </a:spcBef>
              <a:spcAft>
                <a:spcPts val="0"/>
              </a:spcAft>
              <a:buClr>
                <a:srgbClr val="FFC800"/>
              </a:buClr>
              <a:buSzPts val="1000"/>
              <a:buFont typeface="Nunito Light"/>
              <a:buChar char="●"/>
              <a:defRPr/>
            </a:lvl4pPr>
            <a:lvl5pPr marL="2286000" lvl="4" indent="-292100" rtl="0">
              <a:spcBef>
                <a:spcPts val="1600"/>
              </a:spcBef>
              <a:spcAft>
                <a:spcPts val="0"/>
              </a:spcAft>
              <a:buClr>
                <a:srgbClr val="434343"/>
              </a:buClr>
              <a:buSzPts val="1000"/>
              <a:buFont typeface="Nunito Light"/>
              <a:buChar char="○"/>
              <a:defRPr/>
            </a:lvl5pPr>
            <a:lvl6pPr marL="2743200" lvl="5" indent="-292100" rtl="0">
              <a:spcBef>
                <a:spcPts val="1600"/>
              </a:spcBef>
              <a:spcAft>
                <a:spcPts val="0"/>
              </a:spcAft>
              <a:buClr>
                <a:srgbClr val="434343"/>
              </a:buClr>
              <a:buSzPts val="1000"/>
              <a:buFont typeface="Nunito Light"/>
              <a:buChar char="■"/>
              <a:defRPr/>
            </a:lvl6pPr>
            <a:lvl7pPr marL="3200400" lvl="6" indent="-292100" rtl="0">
              <a:spcBef>
                <a:spcPts val="1600"/>
              </a:spcBef>
              <a:spcAft>
                <a:spcPts val="0"/>
              </a:spcAft>
              <a:buClr>
                <a:srgbClr val="434343"/>
              </a:buClr>
              <a:buSzPts val="1000"/>
              <a:buFont typeface="Nunito Light"/>
              <a:buChar char="●"/>
              <a:defRPr/>
            </a:lvl7pPr>
            <a:lvl8pPr marL="3657600" lvl="7" indent="-292100" rtl="0">
              <a:spcBef>
                <a:spcPts val="1600"/>
              </a:spcBef>
              <a:spcAft>
                <a:spcPts val="0"/>
              </a:spcAft>
              <a:buClr>
                <a:srgbClr val="434343"/>
              </a:buClr>
              <a:buSzPts val="1000"/>
              <a:buFont typeface="Nunito Light"/>
              <a:buChar char="○"/>
              <a:defRPr/>
            </a:lvl8pPr>
            <a:lvl9pPr marL="4114800" lvl="8" indent="-292100" rtl="0">
              <a:spcBef>
                <a:spcPts val="1600"/>
              </a:spcBef>
              <a:spcAft>
                <a:spcPts val="1600"/>
              </a:spcAft>
              <a:buClr>
                <a:srgbClr val="434343"/>
              </a:buClr>
              <a:buSzPts val="1000"/>
              <a:buFont typeface="Nunito Light"/>
              <a:buChar char="■"/>
              <a:defRPr/>
            </a:lvl9pPr>
          </a:lstStyle>
          <a:p>
            <a:endParaRPr/>
          </a:p>
        </p:txBody>
      </p:sp>
      <p:sp>
        <p:nvSpPr>
          <p:cNvPr id="414" name="Google Shape;414;p20"/>
          <p:cNvSpPr/>
          <p:nvPr/>
        </p:nvSpPr>
        <p:spPr>
          <a:xfrm>
            <a:off x="8829925" y="1123700"/>
            <a:ext cx="108650" cy="108625"/>
          </a:xfrm>
          <a:custGeom>
            <a:avLst/>
            <a:gdLst/>
            <a:ahLst/>
            <a:cxnLst/>
            <a:rect l="l" t="t" r="r" b="b"/>
            <a:pathLst>
              <a:path w="4346" h="4345" extrusionOk="0">
                <a:moveTo>
                  <a:pt x="4027" y="337"/>
                </a:moveTo>
                <a:lnTo>
                  <a:pt x="4027" y="4008"/>
                </a:lnTo>
                <a:lnTo>
                  <a:pt x="338" y="4008"/>
                </a:lnTo>
                <a:lnTo>
                  <a:pt x="338" y="337"/>
                </a:lnTo>
                <a:close/>
                <a:moveTo>
                  <a:pt x="1" y="0"/>
                </a:moveTo>
                <a:lnTo>
                  <a:pt x="1" y="4345"/>
                </a:lnTo>
                <a:lnTo>
                  <a:pt x="4346" y="4345"/>
                </a:lnTo>
                <a:lnTo>
                  <a:pt x="434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9156250" y="1340450"/>
            <a:ext cx="111450" cy="110975"/>
          </a:xfrm>
          <a:custGeom>
            <a:avLst/>
            <a:gdLst/>
            <a:ahLst/>
            <a:cxnLst/>
            <a:rect l="l" t="t" r="r" b="b"/>
            <a:pathLst>
              <a:path w="4458" h="4439" extrusionOk="0">
                <a:moveTo>
                  <a:pt x="4008" y="431"/>
                </a:moveTo>
                <a:lnTo>
                  <a:pt x="4008" y="4008"/>
                </a:lnTo>
                <a:lnTo>
                  <a:pt x="431" y="4008"/>
                </a:lnTo>
                <a:lnTo>
                  <a:pt x="431" y="431"/>
                </a:lnTo>
                <a:close/>
                <a:moveTo>
                  <a:pt x="0" y="1"/>
                </a:moveTo>
                <a:lnTo>
                  <a:pt x="0" y="4439"/>
                </a:lnTo>
                <a:lnTo>
                  <a:pt x="4457" y="4439"/>
                </a:lnTo>
                <a:lnTo>
                  <a:pt x="44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5809850" y="214400"/>
            <a:ext cx="108625" cy="108625"/>
          </a:xfrm>
          <a:custGeom>
            <a:avLst/>
            <a:gdLst/>
            <a:ahLst/>
            <a:cxnLst/>
            <a:rect l="l" t="t" r="r" b="b"/>
            <a:pathLst>
              <a:path w="4345" h="4345" extrusionOk="0">
                <a:moveTo>
                  <a:pt x="4008" y="337"/>
                </a:moveTo>
                <a:lnTo>
                  <a:pt x="4008" y="4008"/>
                </a:lnTo>
                <a:lnTo>
                  <a:pt x="337" y="4008"/>
                </a:lnTo>
                <a:lnTo>
                  <a:pt x="337" y="337"/>
                </a:lnTo>
                <a:close/>
                <a:moveTo>
                  <a:pt x="0" y="0"/>
                </a:moveTo>
                <a:lnTo>
                  <a:pt x="0" y="4345"/>
                </a:lnTo>
                <a:lnTo>
                  <a:pt x="4345" y="4345"/>
                </a:lnTo>
                <a:lnTo>
                  <a:pt x="43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7079800" y="420088"/>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7952700" y="278513"/>
            <a:ext cx="44975" cy="44500"/>
          </a:xfrm>
          <a:custGeom>
            <a:avLst/>
            <a:gdLst/>
            <a:ahLst/>
            <a:cxnLst/>
            <a:rect l="l" t="t" r="r" b="b"/>
            <a:pathLst>
              <a:path w="1799" h="1780" extrusionOk="0">
                <a:moveTo>
                  <a:pt x="1" y="1"/>
                </a:moveTo>
                <a:lnTo>
                  <a:pt x="1" y="1780"/>
                </a:lnTo>
                <a:lnTo>
                  <a:pt x="1798" y="1780"/>
                </a:lnTo>
                <a:lnTo>
                  <a:pt x="179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7372450" y="-69325"/>
            <a:ext cx="155925" cy="155925"/>
          </a:xfrm>
          <a:custGeom>
            <a:avLst/>
            <a:gdLst/>
            <a:ahLst/>
            <a:cxnLst/>
            <a:rect l="l" t="t" r="r" b="b"/>
            <a:pathLst>
              <a:path w="6237" h="6237" extrusionOk="0">
                <a:moveTo>
                  <a:pt x="0" y="0"/>
                </a:moveTo>
                <a:lnTo>
                  <a:pt x="0" y="6236"/>
                </a:lnTo>
                <a:lnTo>
                  <a:pt x="6236" y="6236"/>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8464275" y="355050"/>
            <a:ext cx="155925" cy="156400"/>
          </a:xfrm>
          <a:custGeom>
            <a:avLst/>
            <a:gdLst/>
            <a:ahLst/>
            <a:cxnLst/>
            <a:rect l="l" t="t" r="r" b="b"/>
            <a:pathLst>
              <a:path w="6237" h="6256" extrusionOk="0">
                <a:moveTo>
                  <a:pt x="1" y="1"/>
                </a:moveTo>
                <a:lnTo>
                  <a:pt x="1" y="6256"/>
                </a:lnTo>
                <a:lnTo>
                  <a:pt x="6237" y="6256"/>
                </a:lnTo>
                <a:lnTo>
                  <a:pt x="62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7264275" y="607363"/>
            <a:ext cx="122675" cy="122675"/>
          </a:xfrm>
          <a:custGeom>
            <a:avLst/>
            <a:gdLst/>
            <a:ahLst/>
            <a:cxnLst/>
            <a:rect l="l" t="t" r="r" b="b"/>
            <a:pathLst>
              <a:path w="4907" h="4907" extrusionOk="0">
                <a:moveTo>
                  <a:pt x="0" y="1"/>
                </a:moveTo>
                <a:lnTo>
                  <a:pt x="0" y="4907"/>
                </a:lnTo>
                <a:lnTo>
                  <a:pt x="4907" y="4907"/>
                </a:lnTo>
                <a:lnTo>
                  <a:pt x="49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6298850" y="907625"/>
            <a:ext cx="155925" cy="155900"/>
          </a:xfrm>
          <a:custGeom>
            <a:avLst/>
            <a:gdLst/>
            <a:ahLst/>
            <a:cxnLst/>
            <a:rect l="l" t="t" r="r" b="b"/>
            <a:pathLst>
              <a:path w="6237" h="6236" extrusionOk="0">
                <a:moveTo>
                  <a:pt x="1" y="0"/>
                </a:moveTo>
                <a:lnTo>
                  <a:pt x="1" y="6236"/>
                </a:lnTo>
                <a:lnTo>
                  <a:pt x="6237" y="6236"/>
                </a:lnTo>
                <a:lnTo>
                  <a:pt x="62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0"/>
          <p:cNvSpPr/>
          <p:nvPr/>
        </p:nvSpPr>
        <p:spPr>
          <a:xfrm>
            <a:off x="-83000" y="4540463"/>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0"/>
          <p:cNvSpPr/>
          <p:nvPr/>
        </p:nvSpPr>
        <p:spPr>
          <a:xfrm>
            <a:off x="101475" y="4727738"/>
            <a:ext cx="122675" cy="122675"/>
          </a:xfrm>
          <a:custGeom>
            <a:avLst/>
            <a:gdLst/>
            <a:ahLst/>
            <a:cxnLst/>
            <a:rect l="l" t="t" r="r" b="b"/>
            <a:pathLst>
              <a:path w="4907" h="4907" extrusionOk="0">
                <a:moveTo>
                  <a:pt x="0" y="1"/>
                </a:moveTo>
                <a:lnTo>
                  <a:pt x="0" y="4907"/>
                </a:lnTo>
                <a:lnTo>
                  <a:pt x="4907" y="4907"/>
                </a:lnTo>
                <a:lnTo>
                  <a:pt x="49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42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marL="914400" lvl="1"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marL="1371600" lvl="2"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marL="1828800" lvl="3"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marL="2286000" lvl="4"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marL="2743200" lvl="5"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marL="3200400" lvl="6"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marL="3657600" lvl="7"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marL="4114800" lvl="8" indent="-3175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5" r:id="rId6"/>
    <p:sldLayoutId id="2147483659" r:id="rId7"/>
    <p:sldLayoutId id="2147483663" r:id="rId8"/>
    <p:sldLayoutId id="2147483665" r:id="rId9"/>
    <p:sldLayoutId id="2147483666" r:id="rId10"/>
    <p:sldLayoutId id="2147483667" r:id="rId11"/>
    <p:sldLayoutId id="2147483668"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hyperlink" Target="https://ieeexplore.ieee.org/stamp/stamp.jsp?tp=&amp;arnumber=9418177" TargetMode="External"/><Relationship Id="rId2" Type="http://schemas.openxmlformats.org/officeDocument/2006/relationships/notesSlide" Target="../notesSlides/notesSlide20.xml"/><Relationship Id="rId1" Type="http://schemas.openxmlformats.org/officeDocument/2006/relationships/slideLayout" Target="../slideLayouts/slideLayout10.xml"/><Relationship Id="rId6" Type="http://schemas.openxmlformats.org/officeDocument/2006/relationships/hyperlink" Target="https://www.google.com/url?q=https://goo.gl/8hY5ER&amp;sa=D&amp;source=editors&amp;ust=1724337228690386&amp;usg=AOvVaw1eb1JSj-71IThF6zO4zDWT" TargetMode="External"/><Relationship Id="rId5" Type="http://schemas.openxmlformats.org/officeDocument/2006/relationships/hyperlink" Target="https://dcase.community/documents/workshop2018/proceedings/DCASE2018Workshop_Nguyen_60.pdf" TargetMode="External"/><Relationship Id="rId4" Type="http://schemas.openxmlformats.org/officeDocument/2006/relationships/hyperlink" Target="https://ieeexplore.ieee.org/abstract/document/7966035"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5"/>
          <p:cNvSpPr txBox="1">
            <a:spLocks noGrp="1"/>
          </p:cNvSpPr>
          <p:nvPr>
            <p:ph type="subTitle" idx="1"/>
          </p:nvPr>
        </p:nvSpPr>
        <p:spPr>
          <a:xfrm>
            <a:off x="2924250" y="2804487"/>
            <a:ext cx="3295500" cy="101447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FF9973"/>
                </a:solidFill>
              </a:rPr>
              <a:t>Presented by – </a:t>
            </a:r>
          </a:p>
          <a:p>
            <a:pPr marL="0" lvl="0" indent="0" algn="ctr" rtl="0">
              <a:spcBef>
                <a:spcPts val="0"/>
              </a:spcBef>
              <a:spcAft>
                <a:spcPts val="0"/>
              </a:spcAft>
              <a:buNone/>
            </a:pPr>
            <a:r>
              <a:rPr lang="en" dirty="0"/>
              <a:t>Sumit Gaurav, 2402102012, M.Tech - CSP</a:t>
            </a:r>
            <a:endParaRPr dirty="0"/>
          </a:p>
        </p:txBody>
      </p:sp>
      <p:sp>
        <p:nvSpPr>
          <p:cNvPr id="436" name="Google Shape;436;p25"/>
          <p:cNvSpPr txBox="1">
            <a:spLocks noGrp="1"/>
          </p:cNvSpPr>
          <p:nvPr>
            <p:ph type="ctrTitle"/>
          </p:nvPr>
        </p:nvSpPr>
        <p:spPr>
          <a:xfrm>
            <a:off x="1561650" y="751888"/>
            <a:ext cx="60207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ACOUSTIC </a:t>
            </a:r>
            <a:r>
              <a:rPr lang="en" dirty="0">
                <a:solidFill>
                  <a:srgbClr val="00CFCC"/>
                </a:solidFill>
              </a:rPr>
              <a:t>SCENE</a:t>
            </a:r>
            <a:r>
              <a:rPr lang="en" dirty="0"/>
              <a:t> CLASSIFICATION</a:t>
            </a:r>
            <a:endParaRPr dirty="0"/>
          </a:p>
        </p:txBody>
      </p:sp>
      <p:sp>
        <p:nvSpPr>
          <p:cNvPr id="437" name="Google Shape;437;p25"/>
          <p:cNvSpPr/>
          <p:nvPr/>
        </p:nvSpPr>
        <p:spPr>
          <a:xfrm>
            <a:off x="1917281" y="4715495"/>
            <a:ext cx="121434" cy="121434"/>
          </a:xfrm>
          <a:custGeom>
            <a:avLst/>
            <a:gdLst/>
            <a:ahLst/>
            <a:cxnLst/>
            <a:rect l="l" t="t" r="r" b="b"/>
            <a:pathLst>
              <a:path w="4634" h="4634" extrusionOk="0">
                <a:moveTo>
                  <a:pt x="1" y="0"/>
                </a:moveTo>
                <a:lnTo>
                  <a:pt x="1" y="4633"/>
                </a:lnTo>
                <a:lnTo>
                  <a:pt x="4634" y="4633"/>
                </a:lnTo>
                <a:lnTo>
                  <a:pt x="46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5"/>
          <p:cNvSpPr/>
          <p:nvPr/>
        </p:nvSpPr>
        <p:spPr>
          <a:xfrm>
            <a:off x="2307882" y="3002386"/>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5"/>
          <p:cNvSpPr/>
          <p:nvPr/>
        </p:nvSpPr>
        <p:spPr>
          <a:xfrm>
            <a:off x="6373480" y="3046725"/>
            <a:ext cx="119993" cy="119966"/>
          </a:xfrm>
          <a:custGeom>
            <a:avLst/>
            <a:gdLst/>
            <a:ahLst/>
            <a:cxnLst/>
            <a:rect l="l" t="t" r="r" b="b"/>
            <a:pathLst>
              <a:path w="4579" h="4578" extrusionOk="0">
                <a:moveTo>
                  <a:pt x="1" y="0"/>
                </a:moveTo>
                <a:lnTo>
                  <a:pt x="1" y="4578"/>
                </a:lnTo>
                <a:lnTo>
                  <a:pt x="4578" y="4578"/>
                </a:lnTo>
                <a:lnTo>
                  <a:pt x="457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5"/>
          <p:cNvSpPr/>
          <p:nvPr/>
        </p:nvSpPr>
        <p:spPr>
          <a:xfrm>
            <a:off x="7852031" y="-1723542"/>
            <a:ext cx="8464" cy="2519663"/>
          </a:xfrm>
          <a:custGeom>
            <a:avLst/>
            <a:gdLst/>
            <a:ahLst/>
            <a:cxnLst/>
            <a:rect l="l" t="t" r="r" b="b"/>
            <a:pathLst>
              <a:path w="323" h="96152" extrusionOk="0">
                <a:moveTo>
                  <a:pt x="166" y="1"/>
                </a:moveTo>
                <a:lnTo>
                  <a:pt x="1" y="96151"/>
                </a:lnTo>
                <a:lnTo>
                  <a:pt x="322" y="96151"/>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5"/>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435;p25">
            <a:extLst>
              <a:ext uri="{FF2B5EF4-FFF2-40B4-BE49-F238E27FC236}">
                <a16:creationId xmlns:a16="http://schemas.microsoft.com/office/drawing/2014/main" id="{E0B4D3A8-E011-9F8E-9BA0-88F83A4BDAEF}"/>
              </a:ext>
            </a:extLst>
          </p:cNvPr>
          <p:cNvSpPr txBox="1">
            <a:spLocks/>
          </p:cNvSpPr>
          <p:nvPr/>
        </p:nvSpPr>
        <p:spPr>
          <a:xfrm>
            <a:off x="2462449" y="4062287"/>
            <a:ext cx="4115002" cy="4744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dirty="0">
                <a:solidFill>
                  <a:srgbClr val="FFFFFF"/>
                </a:solidFill>
              </a:rPr>
              <a:t>EE641 – Advanced Signal Processing</a:t>
            </a:r>
          </a:p>
        </p:txBody>
      </p:sp>
      <p:sp>
        <p:nvSpPr>
          <p:cNvPr id="3" name="Rectangle 2">
            <a:extLst>
              <a:ext uri="{FF2B5EF4-FFF2-40B4-BE49-F238E27FC236}">
                <a16:creationId xmlns:a16="http://schemas.microsoft.com/office/drawing/2014/main" id="{2FDC32F4-D142-436B-5A55-2C4478834138}"/>
              </a:ext>
            </a:extLst>
          </p:cNvPr>
          <p:cNvSpPr/>
          <p:nvPr/>
        </p:nvSpPr>
        <p:spPr>
          <a:xfrm>
            <a:off x="406400" y="131480"/>
            <a:ext cx="540934" cy="1792570"/>
          </a:xfrm>
          <a:prstGeom prst="rect">
            <a:avLst/>
          </a:prstGeom>
          <a:solidFill>
            <a:srgbClr val="00284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FC6CD2C2-5257-C55F-56C0-11F02ABA41A9}"/>
              </a:ext>
            </a:extLst>
          </p:cNvPr>
          <p:cNvSpPr/>
          <p:nvPr/>
        </p:nvSpPr>
        <p:spPr>
          <a:xfrm>
            <a:off x="199050" y="1778188"/>
            <a:ext cx="540934" cy="1792570"/>
          </a:xfrm>
          <a:prstGeom prst="rect">
            <a:avLst/>
          </a:prstGeom>
          <a:solidFill>
            <a:srgbClr val="00284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E709005-8D19-2F4C-16A6-0FFE16DFA078}"/>
              </a:ext>
            </a:extLst>
          </p:cNvPr>
          <p:cNvSpPr/>
          <p:nvPr/>
        </p:nvSpPr>
        <p:spPr>
          <a:xfrm>
            <a:off x="1817899" y="131479"/>
            <a:ext cx="540934" cy="764805"/>
          </a:xfrm>
          <a:prstGeom prst="rect">
            <a:avLst/>
          </a:prstGeom>
          <a:solidFill>
            <a:srgbClr val="00284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EF042971-F25C-BEC0-CE83-692C1B7E65C5}"/>
              </a:ext>
            </a:extLst>
          </p:cNvPr>
          <p:cNvSpPr/>
          <p:nvPr/>
        </p:nvSpPr>
        <p:spPr>
          <a:xfrm>
            <a:off x="2872664" y="1"/>
            <a:ext cx="540934" cy="382402"/>
          </a:xfrm>
          <a:prstGeom prst="rect">
            <a:avLst/>
          </a:prstGeom>
          <a:solidFill>
            <a:srgbClr val="00284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88FCD804-111E-E958-C0C2-B64A042851C7}"/>
              </a:ext>
            </a:extLst>
          </p:cNvPr>
          <p:cNvSpPr/>
          <p:nvPr/>
        </p:nvSpPr>
        <p:spPr>
          <a:xfrm>
            <a:off x="1970299" y="283879"/>
            <a:ext cx="540934" cy="764805"/>
          </a:xfrm>
          <a:prstGeom prst="rect">
            <a:avLst/>
          </a:prstGeom>
          <a:solidFill>
            <a:srgbClr val="00284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b="1" dirty="0"/>
          </a:p>
        </p:txBody>
      </p:sp>
      <p:sp>
        <p:nvSpPr>
          <p:cNvPr id="8" name="Rectangle 7">
            <a:extLst>
              <a:ext uri="{FF2B5EF4-FFF2-40B4-BE49-F238E27FC236}">
                <a16:creationId xmlns:a16="http://schemas.microsoft.com/office/drawing/2014/main" id="{2A8F47AD-228E-B5C3-109D-72AB60630F04}"/>
              </a:ext>
            </a:extLst>
          </p:cNvPr>
          <p:cNvSpPr/>
          <p:nvPr/>
        </p:nvSpPr>
        <p:spPr>
          <a:xfrm>
            <a:off x="4714164" y="-1"/>
            <a:ext cx="540934" cy="250483"/>
          </a:xfrm>
          <a:prstGeom prst="rect">
            <a:avLst/>
          </a:prstGeom>
          <a:solidFill>
            <a:srgbClr val="00284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DFE981D2-35F3-1CC6-ED09-B4A4C02B4029}"/>
              </a:ext>
            </a:extLst>
          </p:cNvPr>
          <p:cNvSpPr/>
          <p:nvPr/>
        </p:nvSpPr>
        <p:spPr>
          <a:xfrm>
            <a:off x="7582350" y="0"/>
            <a:ext cx="540934" cy="796121"/>
          </a:xfrm>
          <a:prstGeom prst="rect">
            <a:avLst/>
          </a:prstGeom>
          <a:solidFill>
            <a:srgbClr val="00284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365D6356-BBF5-9670-0288-AFA1D43BE621}"/>
              </a:ext>
            </a:extLst>
          </p:cNvPr>
          <p:cNvSpPr/>
          <p:nvPr/>
        </p:nvSpPr>
        <p:spPr>
          <a:xfrm>
            <a:off x="8826500" y="196850"/>
            <a:ext cx="317500" cy="2374900"/>
          </a:xfrm>
          <a:prstGeom prst="rect">
            <a:avLst/>
          </a:prstGeom>
          <a:solidFill>
            <a:srgbClr val="00284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80" name="Google Shape;480;p27"/>
          <p:cNvSpPr txBox="1">
            <a:spLocks noGrp="1"/>
          </p:cNvSpPr>
          <p:nvPr>
            <p:ph type="ctrTitle" idx="7"/>
          </p:nvPr>
        </p:nvSpPr>
        <p:spPr>
          <a:xfrm>
            <a:off x="618825" y="411675"/>
            <a:ext cx="45762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TABLE OF CONTENTS</a:t>
            </a:r>
            <a:endParaRPr/>
          </a:p>
        </p:txBody>
      </p:sp>
      <p:sp>
        <p:nvSpPr>
          <p:cNvPr id="488" name="Google Shape;488;p27"/>
          <p:cNvSpPr/>
          <p:nvPr/>
        </p:nvSpPr>
        <p:spPr>
          <a:xfrm>
            <a:off x="258942" y="870459"/>
            <a:ext cx="238733" cy="238031"/>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84;p27">
            <a:extLst>
              <a:ext uri="{FF2B5EF4-FFF2-40B4-BE49-F238E27FC236}">
                <a16:creationId xmlns:a16="http://schemas.microsoft.com/office/drawing/2014/main" id="{8BE71A57-A596-C61B-87C9-22CAAFA722E9}"/>
              </a:ext>
            </a:extLst>
          </p:cNvPr>
          <p:cNvSpPr/>
          <p:nvPr/>
        </p:nvSpPr>
        <p:spPr>
          <a:xfrm>
            <a:off x="618825" y="1173994"/>
            <a:ext cx="446793" cy="446793"/>
          </a:xfrm>
          <a:prstGeom prst="rect">
            <a:avLst/>
          </a:pr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Title 29">
            <a:extLst>
              <a:ext uri="{FF2B5EF4-FFF2-40B4-BE49-F238E27FC236}">
                <a16:creationId xmlns:a16="http://schemas.microsoft.com/office/drawing/2014/main" id="{965D6B9C-ACED-53FC-FEA2-3411541ADD8A}"/>
              </a:ext>
            </a:extLst>
          </p:cNvPr>
          <p:cNvSpPr>
            <a:spLocks noGrp="1"/>
          </p:cNvSpPr>
          <p:nvPr>
            <p:ph type="ctrTitle" idx="4"/>
          </p:nvPr>
        </p:nvSpPr>
        <p:spPr>
          <a:xfrm>
            <a:off x="1520325" y="1108490"/>
            <a:ext cx="1942722" cy="577800"/>
          </a:xfrm>
        </p:spPr>
        <p:txBody>
          <a:bodyPr/>
          <a:lstStyle/>
          <a:p>
            <a:r>
              <a:rPr lang="en-IN" sz="2400" dirty="0">
                <a:latin typeface="Maven Pro" panose="020B0604020202020204" charset="0"/>
              </a:rPr>
              <a:t>Introduction</a:t>
            </a:r>
          </a:p>
        </p:txBody>
      </p:sp>
      <p:sp>
        <p:nvSpPr>
          <p:cNvPr id="36" name="Title 35">
            <a:extLst>
              <a:ext uri="{FF2B5EF4-FFF2-40B4-BE49-F238E27FC236}">
                <a16:creationId xmlns:a16="http://schemas.microsoft.com/office/drawing/2014/main" id="{DF6CF37B-F58F-4E43-68CD-37D50BA95E7C}"/>
              </a:ext>
            </a:extLst>
          </p:cNvPr>
          <p:cNvSpPr>
            <a:spLocks noGrp="1"/>
          </p:cNvSpPr>
          <p:nvPr>
            <p:ph type="title" idx="6"/>
          </p:nvPr>
        </p:nvSpPr>
        <p:spPr>
          <a:xfrm>
            <a:off x="618825" y="1108490"/>
            <a:ext cx="771412" cy="577800"/>
          </a:xfrm>
        </p:spPr>
        <p:txBody>
          <a:bodyPr/>
          <a:lstStyle/>
          <a:p>
            <a:r>
              <a:rPr lang="en-IN" sz="2000" dirty="0">
                <a:solidFill>
                  <a:srgbClr val="FFFFFF"/>
                </a:solidFill>
              </a:rPr>
              <a:t>00</a:t>
            </a:r>
          </a:p>
        </p:txBody>
      </p:sp>
      <p:sp>
        <p:nvSpPr>
          <p:cNvPr id="39" name="Google Shape;484;p27">
            <a:extLst>
              <a:ext uri="{FF2B5EF4-FFF2-40B4-BE49-F238E27FC236}">
                <a16:creationId xmlns:a16="http://schemas.microsoft.com/office/drawing/2014/main" id="{46AD358B-CB5E-8C3D-FC59-1404748C2731}"/>
              </a:ext>
            </a:extLst>
          </p:cNvPr>
          <p:cNvSpPr/>
          <p:nvPr/>
        </p:nvSpPr>
        <p:spPr>
          <a:xfrm>
            <a:off x="618825" y="1751794"/>
            <a:ext cx="446793" cy="446793"/>
          </a:xfrm>
          <a:prstGeom prst="rect">
            <a:avLst/>
          </a:pr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Title 29">
            <a:extLst>
              <a:ext uri="{FF2B5EF4-FFF2-40B4-BE49-F238E27FC236}">
                <a16:creationId xmlns:a16="http://schemas.microsoft.com/office/drawing/2014/main" id="{746598F6-69A1-1EF5-7D2E-0CE6A0E418B1}"/>
              </a:ext>
            </a:extLst>
          </p:cNvPr>
          <p:cNvSpPr txBox="1">
            <a:spLocks/>
          </p:cNvSpPr>
          <p:nvPr/>
        </p:nvSpPr>
        <p:spPr>
          <a:xfrm>
            <a:off x="1520325" y="1686290"/>
            <a:ext cx="3570484" cy="577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200"/>
              <a:buFont typeface="Advent Pro SemiBold"/>
              <a:buNone/>
              <a:defRPr sz="2000" b="0" i="0" u="none" strike="noStrike" cap="none">
                <a:solidFill>
                  <a:schemeClr val="lt1"/>
                </a:solidFill>
                <a:latin typeface="Advent Pro SemiBold"/>
                <a:ea typeface="Advent Pro SemiBold"/>
                <a:cs typeface="Advent Pro SemiBold"/>
                <a:sym typeface="Advent Pro SemiBold"/>
              </a:defRPr>
            </a:lvl1pPr>
            <a:lvl2pPr marR="0" lvl="1"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2pPr>
            <a:lvl3pPr marR="0" lvl="2"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3pPr>
            <a:lvl4pPr marR="0" lvl="3"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4pPr>
            <a:lvl5pPr marR="0" lvl="4"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5pPr>
            <a:lvl6pPr marR="0" lvl="5"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6pPr>
            <a:lvl7pPr marR="0" lvl="6"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7pPr>
            <a:lvl8pPr marR="0" lvl="7"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8pPr>
            <a:lvl9pPr marR="0" lvl="8"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9pPr>
          </a:lstStyle>
          <a:p>
            <a:r>
              <a:rPr lang="en-IN" sz="2400" dirty="0">
                <a:latin typeface="Maven Pro" panose="020B0604020202020204" charset="0"/>
              </a:rPr>
              <a:t>Dataset Pre-Processing</a:t>
            </a:r>
          </a:p>
        </p:txBody>
      </p:sp>
      <p:sp>
        <p:nvSpPr>
          <p:cNvPr id="41" name="Title 35">
            <a:extLst>
              <a:ext uri="{FF2B5EF4-FFF2-40B4-BE49-F238E27FC236}">
                <a16:creationId xmlns:a16="http://schemas.microsoft.com/office/drawing/2014/main" id="{386087D4-2686-3C58-92D8-3DEBE6CE74D5}"/>
              </a:ext>
            </a:extLst>
          </p:cNvPr>
          <p:cNvSpPr txBox="1">
            <a:spLocks/>
          </p:cNvSpPr>
          <p:nvPr/>
        </p:nvSpPr>
        <p:spPr>
          <a:xfrm>
            <a:off x="618825" y="1686290"/>
            <a:ext cx="771412" cy="57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4800"/>
              <a:buFont typeface="Share Tech"/>
              <a:buNone/>
              <a:defRPr sz="4800" b="0" i="0" u="none" strike="noStrike" cap="none">
                <a:solidFill>
                  <a:schemeClr val="accent3"/>
                </a:solidFill>
                <a:latin typeface="Share Tech"/>
                <a:ea typeface="Share Tech"/>
                <a:cs typeface="Share Tech"/>
                <a:sym typeface="Share Tech"/>
              </a:defRPr>
            </a:lvl1pPr>
            <a:lvl2pPr marR="0" lvl="1"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r>
              <a:rPr lang="en-IN" sz="2000" dirty="0">
                <a:solidFill>
                  <a:srgbClr val="FFFFFF"/>
                </a:solidFill>
              </a:rPr>
              <a:t>01</a:t>
            </a:r>
          </a:p>
        </p:txBody>
      </p:sp>
      <p:sp>
        <p:nvSpPr>
          <p:cNvPr id="42" name="Google Shape;484;p27">
            <a:extLst>
              <a:ext uri="{FF2B5EF4-FFF2-40B4-BE49-F238E27FC236}">
                <a16:creationId xmlns:a16="http://schemas.microsoft.com/office/drawing/2014/main" id="{00F3E287-FC55-E956-BA5A-F6DB560AD675}"/>
              </a:ext>
            </a:extLst>
          </p:cNvPr>
          <p:cNvSpPr/>
          <p:nvPr/>
        </p:nvSpPr>
        <p:spPr>
          <a:xfrm>
            <a:off x="618825" y="2329594"/>
            <a:ext cx="446793" cy="446793"/>
          </a:xfrm>
          <a:prstGeom prst="rect">
            <a:avLst/>
          </a:pr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Title 29">
            <a:extLst>
              <a:ext uri="{FF2B5EF4-FFF2-40B4-BE49-F238E27FC236}">
                <a16:creationId xmlns:a16="http://schemas.microsoft.com/office/drawing/2014/main" id="{1EC11DBD-9471-79B4-80C4-F7DFD397F81D}"/>
              </a:ext>
            </a:extLst>
          </p:cNvPr>
          <p:cNvSpPr txBox="1">
            <a:spLocks/>
          </p:cNvSpPr>
          <p:nvPr/>
        </p:nvSpPr>
        <p:spPr>
          <a:xfrm>
            <a:off x="1520325" y="2264090"/>
            <a:ext cx="3505632" cy="577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200"/>
              <a:buFont typeface="Advent Pro SemiBold"/>
              <a:buNone/>
              <a:defRPr sz="2000" b="0" i="0" u="none" strike="noStrike" cap="none">
                <a:solidFill>
                  <a:schemeClr val="lt1"/>
                </a:solidFill>
                <a:latin typeface="Advent Pro SemiBold"/>
                <a:ea typeface="Advent Pro SemiBold"/>
                <a:cs typeface="Advent Pro SemiBold"/>
                <a:sym typeface="Advent Pro SemiBold"/>
              </a:defRPr>
            </a:lvl1pPr>
            <a:lvl2pPr marR="0" lvl="1"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2pPr>
            <a:lvl3pPr marR="0" lvl="2"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3pPr>
            <a:lvl4pPr marR="0" lvl="3"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4pPr>
            <a:lvl5pPr marR="0" lvl="4"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5pPr>
            <a:lvl6pPr marR="0" lvl="5"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6pPr>
            <a:lvl7pPr marR="0" lvl="6"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7pPr>
            <a:lvl8pPr marR="0" lvl="7"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8pPr>
            <a:lvl9pPr marR="0" lvl="8"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9pPr>
          </a:lstStyle>
          <a:p>
            <a:r>
              <a:rPr lang="en-IN" sz="2400" dirty="0">
                <a:latin typeface="Maven Pro" panose="020B0604020202020204" charset="0"/>
              </a:rPr>
              <a:t>Deep Learning Models</a:t>
            </a:r>
          </a:p>
        </p:txBody>
      </p:sp>
      <p:sp>
        <p:nvSpPr>
          <p:cNvPr id="44" name="Title 35">
            <a:extLst>
              <a:ext uri="{FF2B5EF4-FFF2-40B4-BE49-F238E27FC236}">
                <a16:creationId xmlns:a16="http://schemas.microsoft.com/office/drawing/2014/main" id="{5B6270CD-E822-2BCB-C5CC-C576EB55BE96}"/>
              </a:ext>
            </a:extLst>
          </p:cNvPr>
          <p:cNvSpPr txBox="1">
            <a:spLocks/>
          </p:cNvSpPr>
          <p:nvPr/>
        </p:nvSpPr>
        <p:spPr>
          <a:xfrm>
            <a:off x="618825" y="2264090"/>
            <a:ext cx="771412" cy="57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4800"/>
              <a:buFont typeface="Share Tech"/>
              <a:buNone/>
              <a:defRPr sz="4800" b="0" i="0" u="none" strike="noStrike" cap="none">
                <a:solidFill>
                  <a:schemeClr val="accent3"/>
                </a:solidFill>
                <a:latin typeface="Share Tech"/>
                <a:ea typeface="Share Tech"/>
                <a:cs typeface="Share Tech"/>
                <a:sym typeface="Share Tech"/>
              </a:defRPr>
            </a:lvl1pPr>
            <a:lvl2pPr marR="0" lvl="1"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r>
              <a:rPr lang="en-IN" sz="2000" dirty="0">
                <a:solidFill>
                  <a:srgbClr val="FFFFFF"/>
                </a:solidFill>
              </a:rPr>
              <a:t>02</a:t>
            </a:r>
          </a:p>
        </p:txBody>
      </p:sp>
      <p:sp>
        <p:nvSpPr>
          <p:cNvPr id="45" name="Google Shape;484;p27">
            <a:extLst>
              <a:ext uri="{FF2B5EF4-FFF2-40B4-BE49-F238E27FC236}">
                <a16:creationId xmlns:a16="http://schemas.microsoft.com/office/drawing/2014/main" id="{C165DC83-EBF4-D503-3D6A-8FF2BAE4875C}"/>
              </a:ext>
            </a:extLst>
          </p:cNvPr>
          <p:cNvSpPr/>
          <p:nvPr/>
        </p:nvSpPr>
        <p:spPr>
          <a:xfrm>
            <a:off x="618825" y="2907394"/>
            <a:ext cx="446793" cy="446793"/>
          </a:xfrm>
          <a:prstGeom prst="rect">
            <a:avLst/>
          </a:pr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Title 29">
            <a:extLst>
              <a:ext uri="{FF2B5EF4-FFF2-40B4-BE49-F238E27FC236}">
                <a16:creationId xmlns:a16="http://schemas.microsoft.com/office/drawing/2014/main" id="{DEEAC309-36D4-6CAF-9D9E-867488C895B3}"/>
              </a:ext>
            </a:extLst>
          </p:cNvPr>
          <p:cNvSpPr txBox="1">
            <a:spLocks/>
          </p:cNvSpPr>
          <p:nvPr/>
        </p:nvSpPr>
        <p:spPr>
          <a:xfrm>
            <a:off x="1520325" y="2841890"/>
            <a:ext cx="3739096" cy="577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200"/>
              <a:buFont typeface="Advent Pro SemiBold"/>
              <a:buNone/>
              <a:defRPr sz="2000" b="0" i="0" u="none" strike="noStrike" cap="none">
                <a:solidFill>
                  <a:schemeClr val="lt1"/>
                </a:solidFill>
                <a:latin typeface="Advent Pro SemiBold"/>
                <a:ea typeface="Advent Pro SemiBold"/>
                <a:cs typeface="Advent Pro SemiBold"/>
                <a:sym typeface="Advent Pro SemiBold"/>
              </a:defRPr>
            </a:lvl1pPr>
            <a:lvl2pPr marR="0" lvl="1"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2pPr>
            <a:lvl3pPr marR="0" lvl="2"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3pPr>
            <a:lvl4pPr marR="0" lvl="3"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4pPr>
            <a:lvl5pPr marR="0" lvl="4"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5pPr>
            <a:lvl6pPr marR="0" lvl="5"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6pPr>
            <a:lvl7pPr marR="0" lvl="6"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7pPr>
            <a:lvl8pPr marR="0" lvl="7"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8pPr>
            <a:lvl9pPr marR="0" lvl="8"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9pPr>
          </a:lstStyle>
          <a:p>
            <a:r>
              <a:rPr lang="en-IN" sz="2400" dirty="0">
                <a:latin typeface="Maven Pro" panose="020B0604020202020204" charset="0"/>
              </a:rPr>
              <a:t>Results &amp; Demonstration</a:t>
            </a:r>
          </a:p>
        </p:txBody>
      </p:sp>
      <p:sp>
        <p:nvSpPr>
          <p:cNvPr id="47" name="Title 35">
            <a:extLst>
              <a:ext uri="{FF2B5EF4-FFF2-40B4-BE49-F238E27FC236}">
                <a16:creationId xmlns:a16="http://schemas.microsoft.com/office/drawing/2014/main" id="{6CDD106B-4429-C0D9-399F-60CD7C716826}"/>
              </a:ext>
            </a:extLst>
          </p:cNvPr>
          <p:cNvSpPr txBox="1">
            <a:spLocks/>
          </p:cNvSpPr>
          <p:nvPr/>
        </p:nvSpPr>
        <p:spPr>
          <a:xfrm>
            <a:off x="618825" y="2841890"/>
            <a:ext cx="771412" cy="57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4800"/>
              <a:buFont typeface="Share Tech"/>
              <a:buNone/>
              <a:defRPr sz="4800" b="0" i="0" u="none" strike="noStrike" cap="none">
                <a:solidFill>
                  <a:schemeClr val="accent3"/>
                </a:solidFill>
                <a:latin typeface="Share Tech"/>
                <a:ea typeface="Share Tech"/>
                <a:cs typeface="Share Tech"/>
                <a:sym typeface="Share Tech"/>
              </a:defRPr>
            </a:lvl1pPr>
            <a:lvl2pPr marR="0" lvl="1"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r>
              <a:rPr lang="en-IN" sz="2000" dirty="0">
                <a:solidFill>
                  <a:srgbClr val="FFFFFF"/>
                </a:solidFill>
              </a:rPr>
              <a:t>03</a:t>
            </a:r>
          </a:p>
        </p:txBody>
      </p:sp>
      <p:sp>
        <p:nvSpPr>
          <p:cNvPr id="48" name="Google Shape;484;p27">
            <a:extLst>
              <a:ext uri="{FF2B5EF4-FFF2-40B4-BE49-F238E27FC236}">
                <a16:creationId xmlns:a16="http://schemas.microsoft.com/office/drawing/2014/main" id="{08CF215C-18C9-5C0B-624F-F3E8F24EFA9A}"/>
              </a:ext>
            </a:extLst>
          </p:cNvPr>
          <p:cNvSpPr/>
          <p:nvPr/>
        </p:nvSpPr>
        <p:spPr>
          <a:xfrm>
            <a:off x="618825" y="3485194"/>
            <a:ext cx="446793" cy="446793"/>
          </a:xfrm>
          <a:prstGeom prst="rect">
            <a:avLst/>
          </a:prstGeom>
          <a:solidFill>
            <a:srgbClr val="FF99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Title 29">
            <a:extLst>
              <a:ext uri="{FF2B5EF4-FFF2-40B4-BE49-F238E27FC236}">
                <a16:creationId xmlns:a16="http://schemas.microsoft.com/office/drawing/2014/main" id="{B5222A8A-7169-7BDC-3885-FB4002F0F21C}"/>
              </a:ext>
            </a:extLst>
          </p:cNvPr>
          <p:cNvSpPr txBox="1">
            <a:spLocks/>
          </p:cNvSpPr>
          <p:nvPr/>
        </p:nvSpPr>
        <p:spPr>
          <a:xfrm>
            <a:off x="1520325" y="3419690"/>
            <a:ext cx="1942722" cy="577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200"/>
              <a:buFont typeface="Advent Pro SemiBold"/>
              <a:buNone/>
              <a:defRPr sz="2000" b="0" i="0" u="none" strike="noStrike" cap="none">
                <a:solidFill>
                  <a:schemeClr val="lt1"/>
                </a:solidFill>
                <a:latin typeface="Advent Pro SemiBold"/>
                <a:ea typeface="Advent Pro SemiBold"/>
                <a:cs typeface="Advent Pro SemiBold"/>
                <a:sym typeface="Advent Pro SemiBold"/>
              </a:defRPr>
            </a:lvl1pPr>
            <a:lvl2pPr marR="0" lvl="1"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2pPr>
            <a:lvl3pPr marR="0" lvl="2"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3pPr>
            <a:lvl4pPr marR="0" lvl="3"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4pPr>
            <a:lvl5pPr marR="0" lvl="4"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5pPr>
            <a:lvl6pPr marR="0" lvl="5"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6pPr>
            <a:lvl7pPr marR="0" lvl="6"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7pPr>
            <a:lvl8pPr marR="0" lvl="7"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8pPr>
            <a:lvl9pPr marR="0" lvl="8" algn="l" rtl="0">
              <a:lnSpc>
                <a:spcPct val="100000"/>
              </a:lnSpc>
              <a:spcBef>
                <a:spcPts val="0"/>
              </a:spcBef>
              <a:spcAft>
                <a:spcPts val="0"/>
              </a:spcAft>
              <a:buClr>
                <a:srgbClr val="000000"/>
              </a:buClr>
              <a:buSzPts val="1200"/>
              <a:buFont typeface="Advent Pro SemiBold"/>
              <a:buNone/>
              <a:defRPr sz="1200" b="0" i="0" u="none" strike="noStrike" cap="none">
                <a:solidFill>
                  <a:srgbClr val="000000"/>
                </a:solidFill>
                <a:latin typeface="Advent Pro SemiBold"/>
                <a:ea typeface="Advent Pro SemiBold"/>
                <a:cs typeface="Advent Pro SemiBold"/>
                <a:sym typeface="Advent Pro SemiBold"/>
              </a:defRPr>
            </a:lvl9pPr>
          </a:lstStyle>
          <a:p>
            <a:r>
              <a:rPr lang="en-IN" sz="2400" dirty="0">
                <a:latin typeface="Maven Pro" panose="020B0604020202020204" charset="0"/>
              </a:rPr>
              <a:t>Conclusion</a:t>
            </a:r>
          </a:p>
        </p:txBody>
      </p:sp>
      <p:sp>
        <p:nvSpPr>
          <p:cNvPr id="50" name="Title 35">
            <a:extLst>
              <a:ext uri="{FF2B5EF4-FFF2-40B4-BE49-F238E27FC236}">
                <a16:creationId xmlns:a16="http://schemas.microsoft.com/office/drawing/2014/main" id="{18C5C9DC-FFD2-56A4-9EAA-14C8DDE92252}"/>
              </a:ext>
            </a:extLst>
          </p:cNvPr>
          <p:cNvSpPr txBox="1">
            <a:spLocks/>
          </p:cNvSpPr>
          <p:nvPr/>
        </p:nvSpPr>
        <p:spPr>
          <a:xfrm>
            <a:off x="618825" y="3419690"/>
            <a:ext cx="771412" cy="57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4800"/>
              <a:buFont typeface="Share Tech"/>
              <a:buNone/>
              <a:defRPr sz="4800" b="0" i="0" u="none" strike="noStrike" cap="none">
                <a:solidFill>
                  <a:schemeClr val="accent3"/>
                </a:solidFill>
                <a:latin typeface="Share Tech"/>
                <a:ea typeface="Share Tech"/>
                <a:cs typeface="Share Tech"/>
                <a:sym typeface="Share Tech"/>
              </a:defRPr>
            </a:lvl1pPr>
            <a:lvl2pPr marR="0" lvl="1"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4800"/>
              <a:buFont typeface="Fira Sans Extra Condensed Medium"/>
              <a:buNone/>
              <a:defRPr sz="48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r>
              <a:rPr lang="en-IN" sz="2000" dirty="0">
                <a:solidFill>
                  <a:srgbClr val="FFFFFF"/>
                </a:solidFill>
              </a:rPr>
              <a:t>04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26"/>
          <p:cNvSpPr txBox="1">
            <a:spLocks noGrp="1"/>
          </p:cNvSpPr>
          <p:nvPr>
            <p:ph type="body" idx="1"/>
          </p:nvPr>
        </p:nvSpPr>
        <p:spPr>
          <a:xfrm>
            <a:off x="597375" y="1083610"/>
            <a:ext cx="5312607" cy="37869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300" b="1" dirty="0">
                <a:solidFill>
                  <a:srgbClr val="FF9973"/>
                </a:solidFill>
              </a:rPr>
              <a:t>Acoustic Scene Classification(ASC) Model</a:t>
            </a:r>
          </a:p>
          <a:p>
            <a:pPr marL="0" lvl="0" indent="0" algn="l" rtl="0">
              <a:lnSpc>
                <a:spcPct val="100000"/>
              </a:lnSpc>
              <a:spcBef>
                <a:spcPts val="0"/>
              </a:spcBef>
              <a:spcAft>
                <a:spcPts val="0"/>
              </a:spcAft>
              <a:buNone/>
            </a:pPr>
            <a:endParaRPr sz="1300" b="1" dirty="0">
              <a:solidFill>
                <a:srgbClr val="FF9973"/>
              </a:solidFill>
            </a:endParaRPr>
          </a:p>
          <a:p>
            <a:pPr marL="152400" lvl="0" indent="0" algn="l" rtl="0">
              <a:lnSpc>
                <a:spcPct val="100000"/>
              </a:lnSpc>
              <a:spcBef>
                <a:spcPts val="0"/>
              </a:spcBef>
              <a:spcAft>
                <a:spcPts val="0"/>
              </a:spcAft>
              <a:buClr>
                <a:schemeClr val="lt1"/>
              </a:buClr>
              <a:buSzPts val="1200"/>
              <a:buNone/>
            </a:pPr>
            <a:r>
              <a:rPr lang="en-GB" sz="1100" b="1" dirty="0">
                <a:solidFill>
                  <a:srgbClr val="00CFCC"/>
                </a:solidFill>
              </a:rPr>
              <a:t>Acoustic Scene Classification (ASC)</a:t>
            </a:r>
            <a:r>
              <a:rPr lang="en-GB" sz="1100" dirty="0">
                <a:solidFill>
                  <a:srgbClr val="00CFCC"/>
                </a:solidFill>
              </a:rPr>
              <a:t> </a:t>
            </a:r>
            <a:r>
              <a:rPr lang="en-GB" sz="1100" dirty="0"/>
              <a:t>assigns semantic labels to audio segments based on the surrounding environment, enabling machines to "make sense" of sounds.</a:t>
            </a:r>
          </a:p>
          <a:p>
            <a:pPr marL="152400" lvl="0" indent="0" algn="l" rtl="0">
              <a:lnSpc>
                <a:spcPct val="100000"/>
              </a:lnSpc>
              <a:spcBef>
                <a:spcPts val="0"/>
              </a:spcBef>
              <a:spcAft>
                <a:spcPts val="0"/>
              </a:spcAft>
              <a:buClr>
                <a:schemeClr val="lt1"/>
              </a:buClr>
              <a:buSzPts val="1200"/>
              <a:buNone/>
            </a:pPr>
            <a:endParaRPr lang="en-GB" sz="1100" dirty="0"/>
          </a:p>
          <a:p>
            <a:pPr marL="152400" lvl="0" indent="0" algn="l" rtl="0">
              <a:lnSpc>
                <a:spcPct val="100000"/>
              </a:lnSpc>
              <a:spcBef>
                <a:spcPts val="0"/>
              </a:spcBef>
              <a:spcAft>
                <a:spcPts val="0"/>
              </a:spcAft>
              <a:buClr>
                <a:schemeClr val="lt1"/>
              </a:buClr>
              <a:buSzPts val="1200"/>
              <a:buNone/>
            </a:pPr>
            <a:endParaRPr lang="en-GB" sz="1100" dirty="0"/>
          </a:p>
          <a:p>
            <a:pPr marL="152400" indent="0">
              <a:buSzPts val="1200"/>
              <a:buNone/>
            </a:pPr>
            <a:r>
              <a:rPr lang="en-GB" sz="1100" dirty="0"/>
              <a:t>Some of the methods that are involved in the ASC include using Deep Learning models such as CNNs, CRNNs, which can capture complex sound patterns across diverse environments. These models use features like </a:t>
            </a:r>
            <a:r>
              <a:rPr lang="en-GB" sz="1100" b="1" dirty="0"/>
              <a:t>MFCCs and log-</a:t>
            </a:r>
            <a:r>
              <a:rPr lang="en-GB" sz="1100" b="1" dirty="0" err="1"/>
              <a:t>mel</a:t>
            </a:r>
            <a:r>
              <a:rPr lang="en-GB" sz="1100" b="1" dirty="0"/>
              <a:t> energies</a:t>
            </a:r>
            <a:r>
              <a:rPr lang="en-GB" sz="1100" dirty="0"/>
              <a:t>, representing the spectral properties of sound, while high inter-class variability allows for precise scene differentiation. </a:t>
            </a:r>
          </a:p>
          <a:p>
            <a:pPr marL="152400" indent="0">
              <a:buSzPts val="1200"/>
              <a:buNone/>
            </a:pPr>
            <a:endParaRPr lang="en-GB" sz="1100" dirty="0"/>
          </a:p>
          <a:p>
            <a:pPr marL="152400" indent="0">
              <a:buSzPts val="1200"/>
              <a:buNone/>
            </a:pPr>
            <a:endParaRPr lang="en-GB" sz="1100" dirty="0"/>
          </a:p>
          <a:p>
            <a:pPr marL="152400" indent="0">
              <a:buSzPts val="1200"/>
              <a:buNone/>
            </a:pPr>
            <a:r>
              <a:rPr lang="en-GB" sz="1100" dirty="0"/>
              <a:t>State-of-the-art approaches in </a:t>
            </a:r>
            <a:r>
              <a:rPr lang="en-GB" sz="1100" b="1" dirty="0"/>
              <a:t>Acoustic Scene Classification (ASC) – </a:t>
            </a:r>
          </a:p>
          <a:p>
            <a:pPr marL="396000" indent="-171450">
              <a:spcBef>
                <a:spcPts val="600"/>
              </a:spcBef>
              <a:buSzPts val="1200"/>
            </a:pPr>
            <a:r>
              <a:rPr lang="en-GB" sz="1100" dirty="0"/>
              <a:t>Self-supervised learning with pre-trained models</a:t>
            </a:r>
          </a:p>
          <a:p>
            <a:pPr marL="396000" indent="-171450">
              <a:spcBef>
                <a:spcPts val="600"/>
              </a:spcBef>
              <a:buSzPts val="1200"/>
            </a:pPr>
            <a:r>
              <a:rPr lang="en-GB" sz="1100" dirty="0"/>
              <a:t>GAN-based data augmentation</a:t>
            </a:r>
          </a:p>
          <a:p>
            <a:pPr marL="396000" indent="-171450">
              <a:spcBef>
                <a:spcPts val="600"/>
              </a:spcBef>
              <a:buSzPts val="1200"/>
            </a:pPr>
            <a:r>
              <a:rPr lang="en-GB" sz="1100" dirty="0"/>
              <a:t>Deep Learning models but based on different features like I-vectors, Histogram of Oriented Gradients (HOG), and Local Binary Patterns (LBP)</a:t>
            </a:r>
          </a:p>
        </p:txBody>
      </p:sp>
      <p:sp>
        <p:nvSpPr>
          <p:cNvPr id="467" name="Google Shape;467;p2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INTRODUCTION</a:t>
            </a:r>
            <a:endParaRPr dirty="0"/>
          </a:p>
        </p:txBody>
      </p:sp>
      <p:pic>
        <p:nvPicPr>
          <p:cNvPr id="1026" name="Picture 2" descr="Acoustic Classification using Deep Learning">
            <a:extLst>
              <a:ext uri="{FF2B5EF4-FFF2-40B4-BE49-F238E27FC236}">
                <a16:creationId xmlns:a16="http://schemas.microsoft.com/office/drawing/2014/main" id="{51F2AA09-D0F7-8C0B-2B80-A33F30F05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4233" y="1586473"/>
            <a:ext cx="2680900" cy="2071127"/>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435;p25">
            <a:extLst>
              <a:ext uri="{FF2B5EF4-FFF2-40B4-BE49-F238E27FC236}">
                <a16:creationId xmlns:a16="http://schemas.microsoft.com/office/drawing/2014/main" id="{47B7F413-A94E-9541-EA0F-B8EDDB1A77A3}"/>
              </a:ext>
            </a:extLst>
          </p:cNvPr>
          <p:cNvSpPr txBox="1">
            <a:spLocks/>
          </p:cNvSpPr>
          <p:nvPr/>
        </p:nvSpPr>
        <p:spPr>
          <a:xfrm>
            <a:off x="5387182" y="3657600"/>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sz="900" dirty="0">
                <a:solidFill>
                  <a:srgbClr val="FFFFFF"/>
                </a:solidFill>
              </a:rPr>
              <a:t>Fig – ASC basic </a:t>
            </a:r>
            <a:r>
              <a:rPr lang="en-GB" sz="900" dirty="0" err="1">
                <a:solidFill>
                  <a:srgbClr val="FFFFFF"/>
                </a:solidFill>
              </a:rPr>
              <a:t>sytem</a:t>
            </a:r>
            <a:endParaRPr lang="en-GB" sz="900" dirty="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7">
          <a:extLst>
            <a:ext uri="{FF2B5EF4-FFF2-40B4-BE49-F238E27FC236}">
              <a16:creationId xmlns:a16="http://schemas.microsoft.com/office/drawing/2014/main" id="{C9395EE8-AF13-21FB-3544-9BA858B659C6}"/>
            </a:ext>
          </a:extLst>
        </p:cNvPr>
        <p:cNvGrpSpPr/>
        <p:nvPr/>
      </p:nvGrpSpPr>
      <p:grpSpPr>
        <a:xfrm>
          <a:off x="0" y="0"/>
          <a:ext cx="0" cy="0"/>
          <a:chOff x="0" y="0"/>
          <a:chExt cx="0" cy="0"/>
        </a:xfrm>
      </p:grpSpPr>
      <p:sp>
        <p:nvSpPr>
          <p:cNvPr id="688" name="Google Shape;688;p32">
            <a:extLst>
              <a:ext uri="{FF2B5EF4-FFF2-40B4-BE49-F238E27FC236}">
                <a16:creationId xmlns:a16="http://schemas.microsoft.com/office/drawing/2014/main" id="{D93F6540-1E4E-92CB-D15F-B4F66C503ADD}"/>
              </a:ext>
            </a:extLst>
          </p:cNvPr>
          <p:cNvSpPr txBox="1">
            <a:spLocks noGrp="1"/>
          </p:cNvSpPr>
          <p:nvPr>
            <p:ph type="ctrTitle"/>
          </p:nvPr>
        </p:nvSpPr>
        <p:spPr>
          <a:xfrm>
            <a:off x="2031287" y="1742775"/>
            <a:ext cx="2622000" cy="8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Dataset</a:t>
            </a:r>
            <a:endParaRPr dirty="0"/>
          </a:p>
        </p:txBody>
      </p:sp>
      <p:sp>
        <p:nvSpPr>
          <p:cNvPr id="689" name="Google Shape;689;p32">
            <a:extLst>
              <a:ext uri="{FF2B5EF4-FFF2-40B4-BE49-F238E27FC236}">
                <a16:creationId xmlns:a16="http://schemas.microsoft.com/office/drawing/2014/main" id="{E0BB6FFA-F8D4-D421-E207-B945ABE4B53D}"/>
              </a:ext>
            </a:extLst>
          </p:cNvPr>
          <p:cNvSpPr txBox="1">
            <a:spLocks noGrp="1"/>
          </p:cNvSpPr>
          <p:nvPr>
            <p:ph type="subTitle" idx="1"/>
          </p:nvPr>
        </p:nvSpPr>
        <p:spPr>
          <a:xfrm>
            <a:off x="1791587" y="2417450"/>
            <a:ext cx="3101400" cy="104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Dataset preprocessing &amp; state of the art dataset</a:t>
            </a:r>
            <a:endParaRPr dirty="0"/>
          </a:p>
        </p:txBody>
      </p:sp>
      <p:sp>
        <p:nvSpPr>
          <p:cNvPr id="690" name="Google Shape;690;p32">
            <a:extLst>
              <a:ext uri="{FF2B5EF4-FFF2-40B4-BE49-F238E27FC236}">
                <a16:creationId xmlns:a16="http://schemas.microsoft.com/office/drawing/2014/main" id="{8A89EABE-972A-2002-7204-F4B28D95DC8E}"/>
              </a:ext>
            </a:extLst>
          </p:cNvPr>
          <p:cNvSpPr/>
          <p:nvPr/>
        </p:nvSpPr>
        <p:spPr>
          <a:xfrm>
            <a:off x="5782875" y="1868575"/>
            <a:ext cx="10851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2">
            <a:extLst>
              <a:ext uri="{FF2B5EF4-FFF2-40B4-BE49-F238E27FC236}">
                <a16:creationId xmlns:a16="http://schemas.microsoft.com/office/drawing/2014/main" id="{87E62D9E-F064-8E4F-7A47-0D5FE3D051D2}"/>
              </a:ext>
            </a:extLst>
          </p:cNvPr>
          <p:cNvSpPr txBox="1">
            <a:spLocks noGrp="1"/>
          </p:cNvSpPr>
          <p:nvPr>
            <p:ph type="title" idx="2"/>
          </p:nvPr>
        </p:nvSpPr>
        <p:spPr>
          <a:xfrm>
            <a:off x="5834900" y="2122225"/>
            <a:ext cx="9810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dk2"/>
                </a:solidFill>
              </a:rPr>
              <a:t>01</a:t>
            </a:r>
            <a:endParaRPr dirty="0">
              <a:solidFill>
                <a:schemeClr val="dk2"/>
              </a:solidFill>
            </a:endParaRPr>
          </a:p>
        </p:txBody>
      </p:sp>
      <p:sp>
        <p:nvSpPr>
          <p:cNvPr id="692" name="Google Shape;692;p32">
            <a:extLst>
              <a:ext uri="{FF2B5EF4-FFF2-40B4-BE49-F238E27FC236}">
                <a16:creationId xmlns:a16="http://schemas.microsoft.com/office/drawing/2014/main" id="{E6ACA0FC-A150-84A2-327D-D39EA8D478E8}"/>
              </a:ext>
            </a:extLst>
          </p:cNvPr>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2">
            <a:extLst>
              <a:ext uri="{FF2B5EF4-FFF2-40B4-BE49-F238E27FC236}">
                <a16:creationId xmlns:a16="http://schemas.microsoft.com/office/drawing/2014/main" id="{F0F27015-48C0-ADF8-DA64-31CB736D84E3}"/>
              </a:ext>
            </a:extLst>
          </p:cNvPr>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4" name="Google Shape;694;p32">
            <a:extLst>
              <a:ext uri="{FF2B5EF4-FFF2-40B4-BE49-F238E27FC236}">
                <a16:creationId xmlns:a16="http://schemas.microsoft.com/office/drawing/2014/main" id="{9C746A81-498F-6A95-17D7-968686984440}"/>
              </a:ext>
            </a:extLst>
          </p:cNvPr>
          <p:cNvCxnSpPr>
            <a:stCxn id="690" idx="2"/>
          </p:cNvCxnSpPr>
          <p:nvPr/>
        </p:nvCxnSpPr>
        <p:spPr>
          <a:xfrm>
            <a:off x="6325425" y="2953675"/>
            <a:ext cx="0" cy="978000"/>
          </a:xfrm>
          <a:prstGeom prst="straightConnector1">
            <a:avLst/>
          </a:prstGeom>
          <a:noFill/>
          <a:ln w="19050"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56564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8" name="Google Shape;508;p28"/>
          <p:cNvSpPr txBox="1">
            <a:spLocks noGrp="1"/>
          </p:cNvSpPr>
          <p:nvPr>
            <p:ph type="ctrTitle"/>
          </p:nvPr>
        </p:nvSpPr>
        <p:spPr>
          <a:xfrm>
            <a:off x="618825" y="277201"/>
            <a:ext cx="5604554"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DATASET – state-of-the-art dataset</a:t>
            </a:r>
            <a:endParaRPr dirty="0"/>
          </a:p>
        </p:txBody>
      </p:sp>
      <p:sp>
        <p:nvSpPr>
          <p:cNvPr id="4" name="Google Shape;466;p26">
            <a:extLst>
              <a:ext uri="{FF2B5EF4-FFF2-40B4-BE49-F238E27FC236}">
                <a16:creationId xmlns:a16="http://schemas.microsoft.com/office/drawing/2014/main" id="{2E840C1D-B3D4-0C31-9D25-822D27B91E87}"/>
              </a:ext>
            </a:extLst>
          </p:cNvPr>
          <p:cNvSpPr txBox="1">
            <a:spLocks noGrp="1"/>
          </p:cNvSpPr>
          <p:nvPr>
            <p:ph type="body" idx="1"/>
          </p:nvPr>
        </p:nvSpPr>
        <p:spPr>
          <a:xfrm>
            <a:off x="597376" y="935685"/>
            <a:ext cx="4781448" cy="1943428"/>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300" b="1" dirty="0">
                <a:solidFill>
                  <a:srgbClr val="FF9973"/>
                </a:solidFill>
              </a:rPr>
              <a:t>1. DCASE DATASET – TAU URBAN ACOUSTIC SCENE</a:t>
            </a:r>
          </a:p>
          <a:p>
            <a:pPr marL="0" lvl="0" indent="0" algn="l" rtl="0">
              <a:lnSpc>
                <a:spcPct val="100000"/>
              </a:lnSpc>
              <a:spcBef>
                <a:spcPts val="0"/>
              </a:spcBef>
              <a:spcAft>
                <a:spcPts val="0"/>
              </a:spcAft>
              <a:buNone/>
            </a:pPr>
            <a:endParaRPr lang="en-IN" sz="1300" b="1" dirty="0">
              <a:solidFill>
                <a:srgbClr val="FF9973"/>
              </a:solidFill>
            </a:endParaRPr>
          </a:p>
          <a:p>
            <a:r>
              <a:rPr lang="en-IN" sz="1100" dirty="0"/>
              <a:t>Dataset: TAU Urban Acoustic Scenes 2022 includes recordings from 12 European cities, 10 scenes, using 4 devices plus synthetic data for 11 other mobile devices.</a:t>
            </a:r>
          </a:p>
          <a:p>
            <a:pPr marL="114300" indent="0">
              <a:buNone/>
            </a:pPr>
            <a:endParaRPr lang="en-IN" sz="1100" dirty="0"/>
          </a:p>
          <a:p>
            <a:r>
              <a:rPr lang="en-IN" sz="1100" dirty="0"/>
              <a:t>Devices: Recordings made with Device A (Soundman OKM II + Zoom F8 at 48kHz), Device B (Samsung Galaxy S7), Device C (iPhone SE), and Device D (GoPro Hero5).</a:t>
            </a:r>
            <a:endParaRPr lang="en-GB" sz="1100" dirty="0"/>
          </a:p>
        </p:txBody>
      </p:sp>
      <p:pic>
        <p:nvPicPr>
          <p:cNvPr id="8" name="Picture 7">
            <a:extLst>
              <a:ext uri="{FF2B5EF4-FFF2-40B4-BE49-F238E27FC236}">
                <a16:creationId xmlns:a16="http://schemas.microsoft.com/office/drawing/2014/main" id="{9C4E0ECC-D820-2763-44D6-15A0464BE946}"/>
              </a:ext>
            </a:extLst>
          </p:cNvPr>
          <p:cNvPicPr>
            <a:picLocks noChangeAspect="1"/>
          </p:cNvPicPr>
          <p:nvPr/>
        </p:nvPicPr>
        <p:blipFill>
          <a:blip r:embed="rId3"/>
          <a:stretch>
            <a:fillRect/>
          </a:stretch>
        </p:blipFill>
        <p:spPr>
          <a:xfrm>
            <a:off x="5990449" y="929742"/>
            <a:ext cx="2676635" cy="1610163"/>
          </a:xfrm>
          <a:prstGeom prst="rect">
            <a:avLst/>
          </a:prstGeom>
        </p:spPr>
      </p:pic>
      <p:sp>
        <p:nvSpPr>
          <p:cNvPr id="9" name="Google Shape;435;p25">
            <a:extLst>
              <a:ext uri="{FF2B5EF4-FFF2-40B4-BE49-F238E27FC236}">
                <a16:creationId xmlns:a16="http://schemas.microsoft.com/office/drawing/2014/main" id="{35DF94E3-BA9B-3BB4-A509-9DF7041D0FA0}"/>
              </a:ext>
            </a:extLst>
          </p:cNvPr>
          <p:cNvSpPr txBox="1">
            <a:spLocks/>
          </p:cNvSpPr>
          <p:nvPr/>
        </p:nvSpPr>
        <p:spPr>
          <a:xfrm>
            <a:off x="5271265" y="2536756"/>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sz="900" dirty="0">
                <a:solidFill>
                  <a:srgbClr val="FFFFFF"/>
                </a:solidFill>
              </a:rPr>
              <a:t>Fig – Class labels TAU URBAN SCENE DATASET</a:t>
            </a:r>
          </a:p>
        </p:txBody>
      </p:sp>
      <p:sp>
        <p:nvSpPr>
          <p:cNvPr id="11" name="Rectangle 10">
            <a:extLst>
              <a:ext uri="{FF2B5EF4-FFF2-40B4-BE49-F238E27FC236}">
                <a16:creationId xmlns:a16="http://schemas.microsoft.com/office/drawing/2014/main" id="{E1025FD5-DF0E-F324-0976-92BE54FFD0BE}"/>
              </a:ext>
            </a:extLst>
          </p:cNvPr>
          <p:cNvSpPr/>
          <p:nvPr/>
        </p:nvSpPr>
        <p:spPr>
          <a:xfrm>
            <a:off x="597376" y="3745006"/>
            <a:ext cx="2065142" cy="1290918"/>
          </a:xfrm>
          <a:prstGeom prst="rect">
            <a:avLst/>
          </a:prstGeom>
          <a:solidFill>
            <a:srgbClr val="002845"/>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Google Shape;466;p26">
            <a:extLst>
              <a:ext uri="{FF2B5EF4-FFF2-40B4-BE49-F238E27FC236}">
                <a16:creationId xmlns:a16="http://schemas.microsoft.com/office/drawing/2014/main" id="{4D3EA539-5AC3-4BFE-54CC-884235595AC5}"/>
              </a:ext>
            </a:extLst>
          </p:cNvPr>
          <p:cNvSpPr txBox="1">
            <a:spLocks/>
          </p:cNvSpPr>
          <p:nvPr/>
        </p:nvSpPr>
        <p:spPr>
          <a:xfrm>
            <a:off x="597375" y="2740560"/>
            <a:ext cx="4781449" cy="22281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buFont typeface="Maven Pro"/>
              <a:buNone/>
            </a:pPr>
            <a:r>
              <a:rPr lang="en" sz="1300" b="1" dirty="0">
                <a:solidFill>
                  <a:srgbClr val="FF9973"/>
                </a:solidFill>
              </a:rPr>
              <a:t>2. Environmental Scene Classification - 50</a:t>
            </a:r>
          </a:p>
          <a:p>
            <a:pPr marL="0" indent="0">
              <a:buFont typeface="Maven Pro"/>
              <a:buNone/>
            </a:pPr>
            <a:endParaRPr lang="en-IN" sz="1300" b="1" dirty="0">
              <a:solidFill>
                <a:srgbClr val="FF9973"/>
              </a:solidFill>
            </a:endParaRPr>
          </a:p>
          <a:p>
            <a:r>
              <a:rPr lang="en-IN" sz="1100" dirty="0"/>
              <a:t>Dataset: Contains 50 classes with 2000 labelled recordings with 5 major categories – animal sound, nature soundscape, human (non – speech) sound, domestic sounds, urban noises.</a:t>
            </a:r>
          </a:p>
          <a:p>
            <a:pPr marL="114300" indent="0">
              <a:buFont typeface="Maven Pro"/>
              <a:buNone/>
            </a:pPr>
            <a:endParaRPr lang="en-IN" sz="1100" dirty="0"/>
          </a:p>
          <a:p>
            <a:r>
              <a:rPr lang="en-IN" sz="1100" dirty="0"/>
              <a:t>Accuracy: classifiers with MFCC &amp; zero crossing rate features were evaluated on dataset to establish benchmark.</a:t>
            </a:r>
          </a:p>
          <a:p>
            <a:endParaRPr lang="en-IN" sz="1100" dirty="0"/>
          </a:p>
          <a:p>
            <a:r>
              <a:rPr lang="en-IN" sz="1100" dirty="0"/>
              <a:t>ESC – 10 subset had an accuracy ranging from 67% (k-NN) to 73% (RF). ESC – 50 dataset yields an accuracy of 32% (k-NN) to 45% (RF).</a:t>
            </a:r>
            <a:endParaRPr lang="en-GB" sz="1100" dirty="0"/>
          </a:p>
        </p:txBody>
      </p:sp>
      <p:pic>
        <p:nvPicPr>
          <p:cNvPr id="13" name="Picture 12">
            <a:extLst>
              <a:ext uri="{FF2B5EF4-FFF2-40B4-BE49-F238E27FC236}">
                <a16:creationId xmlns:a16="http://schemas.microsoft.com/office/drawing/2014/main" id="{E45CFFA4-F960-1228-8F44-C24F7A86A2F9}"/>
              </a:ext>
            </a:extLst>
          </p:cNvPr>
          <p:cNvPicPr>
            <a:picLocks noChangeAspect="1"/>
          </p:cNvPicPr>
          <p:nvPr/>
        </p:nvPicPr>
        <p:blipFill>
          <a:blip r:embed="rId4"/>
          <a:stretch>
            <a:fillRect/>
          </a:stretch>
        </p:blipFill>
        <p:spPr>
          <a:xfrm>
            <a:off x="5653826" y="3092390"/>
            <a:ext cx="3362034" cy="1689237"/>
          </a:xfrm>
          <a:prstGeom prst="rect">
            <a:avLst/>
          </a:prstGeom>
        </p:spPr>
      </p:pic>
      <p:sp>
        <p:nvSpPr>
          <p:cNvPr id="14" name="Google Shape;435;p25">
            <a:extLst>
              <a:ext uri="{FF2B5EF4-FFF2-40B4-BE49-F238E27FC236}">
                <a16:creationId xmlns:a16="http://schemas.microsoft.com/office/drawing/2014/main" id="{D9052BBA-7F12-7BAE-EF49-2A4D96FBDBB5}"/>
              </a:ext>
            </a:extLst>
          </p:cNvPr>
          <p:cNvSpPr txBox="1">
            <a:spLocks/>
          </p:cNvSpPr>
          <p:nvPr/>
        </p:nvSpPr>
        <p:spPr>
          <a:xfrm>
            <a:off x="5325045" y="4759402"/>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sz="900" dirty="0">
                <a:solidFill>
                  <a:srgbClr val="FFFFFF"/>
                </a:solidFill>
              </a:rPr>
              <a:t>Fig – Class labels ESC – 50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6">
          <a:extLst>
            <a:ext uri="{FF2B5EF4-FFF2-40B4-BE49-F238E27FC236}">
              <a16:creationId xmlns:a16="http://schemas.microsoft.com/office/drawing/2014/main" id="{6C4499DA-45F9-0101-1941-443476E3DF6A}"/>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FEECADA8-97C1-26C1-96E8-AB2CDBFCB777}"/>
              </a:ext>
            </a:extLst>
          </p:cNvPr>
          <p:cNvSpPr/>
          <p:nvPr/>
        </p:nvSpPr>
        <p:spPr>
          <a:xfrm>
            <a:off x="5119748" y="3542387"/>
            <a:ext cx="3712286" cy="1426706"/>
          </a:xfrm>
          <a:prstGeom prst="rect">
            <a:avLst/>
          </a:prstGeom>
          <a:solidFill>
            <a:srgbClr val="00284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D74C282E-B9DA-3D15-AE25-1658377A8822}"/>
              </a:ext>
            </a:extLst>
          </p:cNvPr>
          <p:cNvSpPr/>
          <p:nvPr/>
        </p:nvSpPr>
        <p:spPr>
          <a:xfrm>
            <a:off x="529514" y="3530600"/>
            <a:ext cx="3712286" cy="1426706"/>
          </a:xfrm>
          <a:prstGeom prst="rect">
            <a:avLst/>
          </a:prstGeom>
          <a:solidFill>
            <a:srgbClr val="00284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08" name="Google Shape;508;p28">
            <a:extLst>
              <a:ext uri="{FF2B5EF4-FFF2-40B4-BE49-F238E27FC236}">
                <a16:creationId xmlns:a16="http://schemas.microsoft.com/office/drawing/2014/main" id="{9E0AFBF5-D672-5A73-030B-3FA38FE3175D}"/>
              </a:ext>
            </a:extLst>
          </p:cNvPr>
          <p:cNvSpPr txBox="1">
            <a:spLocks noGrp="1"/>
          </p:cNvSpPr>
          <p:nvPr>
            <p:ph type="ctrTitle"/>
          </p:nvPr>
        </p:nvSpPr>
        <p:spPr>
          <a:xfrm>
            <a:off x="618824" y="411675"/>
            <a:ext cx="5331499"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DATASET used</a:t>
            </a:r>
            <a:endParaRPr dirty="0"/>
          </a:p>
        </p:txBody>
      </p:sp>
      <p:sp>
        <p:nvSpPr>
          <p:cNvPr id="4" name="Google Shape;466;p26">
            <a:extLst>
              <a:ext uri="{FF2B5EF4-FFF2-40B4-BE49-F238E27FC236}">
                <a16:creationId xmlns:a16="http://schemas.microsoft.com/office/drawing/2014/main" id="{9C10030E-AC79-67E8-0EFA-48B23C0364E1}"/>
              </a:ext>
            </a:extLst>
          </p:cNvPr>
          <p:cNvSpPr txBox="1">
            <a:spLocks noGrp="1"/>
          </p:cNvSpPr>
          <p:nvPr>
            <p:ph type="body" idx="1"/>
          </p:nvPr>
        </p:nvSpPr>
        <p:spPr>
          <a:xfrm>
            <a:off x="597376" y="1016372"/>
            <a:ext cx="4653700" cy="1943428"/>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300" b="1" dirty="0">
                <a:solidFill>
                  <a:srgbClr val="FF9973"/>
                </a:solidFill>
              </a:rPr>
              <a:t>Dataset – UrbanSound 8K</a:t>
            </a:r>
          </a:p>
          <a:p>
            <a:pPr marL="0" lvl="0" indent="0" algn="l" rtl="0">
              <a:lnSpc>
                <a:spcPct val="100000"/>
              </a:lnSpc>
              <a:spcBef>
                <a:spcPts val="0"/>
              </a:spcBef>
              <a:spcAft>
                <a:spcPts val="0"/>
              </a:spcAft>
              <a:buNone/>
            </a:pPr>
            <a:endParaRPr lang="en-IN" sz="1300" b="1" dirty="0">
              <a:solidFill>
                <a:srgbClr val="FF9973"/>
              </a:solidFill>
            </a:endParaRPr>
          </a:p>
          <a:p>
            <a:r>
              <a:rPr lang="en-GB" sz="1100" dirty="0"/>
              <a:t>This dataset (UrbanSound8K) contains 8732 labelled sound excerpts (&lt;=4s) of urban sounds of </a:t>
            </a:r>
            <a:r>
              <a:rPr lang="en-US" sz="1100" dirty="0"/>
              <a:t>10 acoustic scenes.</a:t>
            </a:r>
          </a:p>
          <a:p>
            <a:r>
              <a:rPr lang="en-GB" sz="1100" dirty="0"/>
              <a:t>Air conditioner, car horn, children playing, dog bark, drilling, engine idling, gun shot, jackhammer, siren, and street music</a:t>
            </a:r>
          </a:p>
          <a:p>
            <a:r>
              <a:rPr lang="en-US" sz="1100" dirty="0"/>
              <a:t>Number of audio recording present are 8732 and it is a balanced dataset. </a:t>
            </a:r>
          </a:p>
          <a:p>
            <a:r>
              <a:rPr lang="en-US" sz="1100" dirty="0"/>
              <a:t>Split the dataset in 80:20 ratio, for training considered 6985 data points and for testing 1747 data points.</a:t>
            </a:r>
          </a:p>
          <a:p>
            <a:pPr marL="152400" lvl="0" indent="0" algn="l" rtl="0">
              <a:lnSpc>
                <a:spcPct val="100000"/>
              </a:lnSpc>
              <a:spcBef>
                <a:spcPts val="0"/>
              </a:spcBef>
              <a:spcAft>
                <a:spcPts val="0"/>
              </a:spcAft>
              <a:buClr>
                <a:schemeClr val="lt1"/>
              </a:buClr>
              <a:buSzPts val="1200"/>
              <a:buNone/>
            </a:pPr>
            <a:endParaRPr lang="en-GB" sz="1100" dirty="0"/>
          </a:p>
        </p:txBody>
      </p:sp>
      <p:pic>
        <p:nvPicPr>
          <p:cNvPr id="3" name="Picture 2">
            <a:extLst>
              <a:ext uri="{FF2B5EF4-FFF2-40B4-BE49-F238E27FC236}">
                <a16:creationId xmlns:a16="http://schemas.microsoft.com/office/drawing/2014/main" id="{8A429F18-FF5E-2336-897C-6622CCFF607A}"/>
              </a:ext>
            </a:extLst>
          </p:cNvPr>
          <p:cNvPicPr>
            <a:picLocks noChangeAspect="1"/>
          </p:cNvPicPr>
          <p:nvPr/>
        </p:nvPicPr>
        <p:blipFill>
          <a:blip r:embed="rId3"/>
          <a:stretch>
            <a:fillRect/>
          </a:stretch>
        </p:blipFill>
        <p:spPr>
          <a:xfrm>
            <a:off x="6210197" y="475125"/>
            <a:ext cx="2336427" cy="2296502"/>
          </a:xfrm>
          <a:prstGeom prst="rect">
            <a:avLst/>
          </a:prstGeom>
        </p:spPr>
      </p:pic>
      <p:sp>
        <p:nvSpPr>
          <p:cNvPr id="6" name="Google Shape;435;p25">
            <a:extLst>
              <a:ext uri="{FF2B5EF4-FFF2-40B4-BE49-F238E27FC236}">
                <a16:creationId xmlns:a16="http://schemas.microsoft.com/office/drawing/2014/main" id="{0F5DC802-51B2-8EA7-ABF1-CC627C1EBD4B}"/>
              </a:ext>
            </a:extLst>
          </p:cNvPr>
          <p:cNvSpPr txBox="1">
            <a:spLocks/>
          </p:cNvSpPr>
          <p:nvPr/>
        </p:nvSpPr>
        <p:spPr>
          <a:xfrm>
            <a:off x="5320909" y="2761544"/>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sz="900" dirty="0">
                <a:solidFill>
                  <a:srgbClr val="FFFFFF"/>
                </a:solidFill>
              </a:rPr>
              <a:t>Fig – Class labels URBANSOUND8K dataset</a:t>
            </a:r>
          </a:p>
        </p:txBody>
      </p:sp>
      <p:sp>
        <p:nvSpPr>
          <p:cNvPr id="7" name="Google Shape;435;p25">
            <a:extLst>
              <a:ext uri="{FF2B5EF4-FFF2-40B4-BE49-F238E27FC236}">
                <a16:creationId xmlns:a16="http://schemas.microsoft.com/office/drawing/2014/main" id="{F36A6630-C134-FD86-4C8E-968442D4638C}"/>
              </a:ext>
            </a:extLst>
          </p:cNvPr>
          <p:cNvSpPr txBox="1">
            <a:spLocks/>
          </p:cNvSpPr>
          <p:nvPr/>
        </p:nvSpPr>
        <p:spPr>
          <a:xfrm>
            <a:off x="456998" y="4453025"/>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sz="900" dirty="0">
                <a:solidFill>
                  <a:srgbClr val="FFFFFF"/>
                </a:solidFill>
              </a:rPr>
              <a:t>Fig – Graphical Rep. for signal – Siren</a:t>
            </a:r>
          </a:p>
        </p:txBody>
      </p:sp>
      <p:sp>
        <p:nvSpPr>
          <p:cNvPr id="9" name="Google Shape;435;p25">
            <a:extLst>
              <a:ext uri="{FF2B5EF4-FFF2-40B4-BE49-F238E27FC236}">
                <a16:creationId xmlns:a16="http://schemas.microsoft.com/office/drawing/2014/main" id="{CB43E811-B56D-07AE-2266-ED4BFC8A6DD2}"/>
              </a:ext>
            </a:extLst>
          </p:cNvPr>
          <p:cNvSpPr txBox="1">
            <a:spLocks/>
          </p:cNvSpPr>
          <p:nvPr/>
        </p:nvSpPr>
        <p:spPr>
          <a:xfrm>
            <a:off x="4644516" y="4448334"/>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sz="900" dirty="0">
                <a:solidFill>
                  <a:srgbClr val="FFFFFF"/>
                </a:solidFill>
              </a:rPr>
              <a:t>Fig – Graphical Rep. for signal – Gun Shot</a:t>
            </a:r>
          </a:p>
        </p:txBody>
      </p:sp>
      <p:pic>
        <p:nvPicPr>
          <p:cNvPr id="11" name="Picture 10">
            <a:extLst>
              <a:ext uri="{FF2B5EF4-FFF2-40B4-BE49-F238E27FC236}">
                <a16:creationId xmlns:a16="http://schemas.microsoft.com/office/drawing/2014/main" id="{9D777F69-5D27-2AFE-B7A4-D414091033A2}"/>
              </a:ext>
            </a:extLst>
          </p:cNvPr>
          <p:cNvPicPr>
            <a:picLocks noChangeAspect="1"/>
          </p:cNvPicPr>
          <p:nvPr/>
        </p:nvPicPr>
        <p:blipFill>
          <a:blip r:embed="rId4"/>
          <a:srcRect t="434"/>
          <a:stretch/>
        </p:blipFill>
        <p:spPr>
          <a:xfrm>
            <a:off x="723628" y="3296060"/>
            <a:ext cx="3416832" cy="1167487"/>
          </a:xfrm>
          <a:prstGeom prst="rect">
            <a:avLst/>
          </a:prstGeom>
        </p:spPr>
      </p:pic>
      <p:pic>
        <p:nvPicPr>
          <p:cNvPr id="13" name="Picture 12">
            <a:extLst>
              <a:ext uri="{FF2B5EF4-FFF2-40B4-BE49-F238E27FC236}">
                <a16:creationId xmlns:a16="http://schemas.microsoft.com/office/drawing/2014/main" id="{CB04086E-6E9A-296F-BB98-C8E3FEDF8133}"/>
              </a:ext>
            </a:extLst>
          </p:cNvPr>
          <p:cNvPicPr>
            <a:picLocks noChangeAspect="1"/>
          </p:cNvPicPr>
          <p:nvPr/>
        </p:nvPicPr>
        <p:blipFill>
          <a:blip r:embed="rId5"/>
          <a:stretch>
            <a:fillRect/>
          </a:stretch>
        </p:blipFill>
        <p:spPr>
          <a:xfrm>
            <a:off x="5119748" y="3296060"/>
            <a:ext cx="3323075" cy="1152274"/>
          </a:xfrm>
          <a:prstGeom prst="rect">
            <a:avLst/>
          </a:prstGeom>
        </p:spPr>
      </p:pic>
    </p:spTree>
    <p:extLst>
      <p:ext uri="{BB962C8B-B14F-4D97-AF65-F5344CB8AC3E}">
        <p14:creationId xmlns:p14="http://schemas.microsoft.com/office/powerpoint/2010/main" val="1605237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29"/>
          <p:cNvSpPr txBox="1">
            <a:spLocks noGrp="1"/>
          </p:cNvSpPr>
          <p:nvPr>
            <p:ph type="ctrTitle" idx="4"/>
          </p:nvPr>
        </p:nvSpPr>
        <p:spPr>
          <a:xfrm>
            <a:off x="318575" y="266814"/>
            <a:ext cx="61536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METHODOLOGY</a:t>
            </a:r>
            <a:endParaRPr dirty="0"/>
          </a:p>
        </p:txBody>
      </p:sp>
      <p:sp>
        <p:nvSpPr>
          <p:cNvPr id="17" name="Google Shape;1109;p38">
            <a:extLst>
              <a:ext uri="{FF2B5EF4-FFF2-40B4-BE49-F238E27FC236}">
                <a16:creationId xmlns:a16="http://schemas.microsoft.com/office/drawing/2014/main" id="{FD3B5311-6CC4-4E93-9CFF-93F13D0E5A43}"/>
              </a:ext>
            </a:extLst>
          </p:cNvPr>
          <p:cNvSpPr txBox="1">
            <a:spLocks/>
          </p:cNvSpPr>
          <p:nvPr/>
        </p:nvSpPr>
        <p:spPr>
          <a:xfrm>
            <a:off x="611871" y="1476967"/>
            <a:ext cx="1807603" cy="209874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b="1" dirty="0">
                <a:solidFill>
                  <a:srgbClr val="E898AC"/>
                </a:solidFill>
              </a:rPr>
              <a:t>Dataset Preparation – </a:t>
            </a:r>
            <a:r>
              <a:rPr lang="en-GB" sz="800" dirty="0"/>
              <a:t>Loading UrbanSound8K and metadata about each audio file, including class labels &amp; </a:t>
            </a:r>
            <a:r>
              <a:rPr lang="en-GB" sz="800" dirty="0" err="1"/>
              <a:t>filepath</a:t>
            </a:r>
            <a:r>
              <a:rPr lang="en-GB" sz="800" dirty="0"/>
              <a:t>.</a:t>
            </a:r>
          </a:p>
          <a:p>
            <a:pPr marL="0" indent="0" algn="ctr">
              <a:lnSpc>
                <a:spcPct val="100000"/>
              </a:lnSpc>
              <a:spcAft>
                <a:spcPts val="800"/>
              </a:spcAft>
              <a:buNone/>
            </a:pPr>
            <a:r>
              <a:rPr lang="en-GB" sz="800" b="1" dirty="0">
                <a:solidFill>
                  <a:srgbClr val="E898AC"/>
                </a:solidFill>
              </a:rPr>
              <a:t>Feature Extraction - </a:t>
            </a:r>
            <a:r>
              <a:rPr lang="en-GB" sz="800" dirty="0"/>
              <a:t>MFCCs are extracted from each audio clip. It capture important aspects of the human auditory perception system.</a:t>
            </a:r>
          </a:p>
          <a:p>
            <a:pPr marL="0" indent="0" algn="ctr">
              <a:lnSpc>
                <a:spcPct val="100000"/>
              </a:lnSpc>
              <a:spcAft>
                <a:spcPts val="800"/>
              </a:spcAft>
              <a:buNone/>
            </a:pPr>
            <a:r>
              <a:rPr lang="en-GB" sz="800" b="1" dirty="0">
                <a:solidFill>
                  <a:srgbClr val="E898AC"/>
                </a:solidFill>
              </a:rPr>
              <a:t>Data Preprocessing – </a:t>
            </a:r>
            <a:r>
              <a:rPr lang="en-GB" sz="800" dirty="0"/>
              <a:t>The feature vectors &amp; their associated class labels are separated into input &amp; output arrays. The dataset is split into training &amp; testing sets (80% training, 20% testing).</a:t>
            </a:r>
          </a:p>
        </p:txBody>
      </p:sp>
      <p:sp>
        <p:nvSpPr>
          <p:cNvPr id="18" name="Rectangle 17">
            <a:extLst>
              <a:ext uri="{FF2B5EF4-FFF2-40B4-BE49-F238E27FC236}">
                <a16:creationId xmlns:a16="http://schemas.microsoft.com/office/drawing/2014/main" id="{E1F68B98-E976-F213-A4F0-FEA8F6FAE2AB}"/>
              </a:ext>
            </a:extLst>
          </p:cNvPr>
          <p:cNvSpPr/>
          <p:nvPr/>
        </p:nvSpPr>
        <p:spPr>
          <a:xfrm>
            <a:off x="611871" y="1505543"/>
            <a:ext cx="1807603" cy="2172529"/>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19" name="Google Shape;1109;p38">
            <a:extLst>
              <a:ext uri="{FF2B5EF4-FFF2-40B4-BE49-F238E27FC236}">
                <a16:creationId xmlns:a16="http://schemas.microsoft.com/office/drawing/2014/main" id="{276B5C65-A77A-AF32-BC30-205C5B6C85D7}"/>
              </a:ext>
            </a:extLst>
          </p:cNvPr>
          <p:cNvSpPr txBox="1">
            <a:spLocks/>
          </p:cNvSpPr>
          <p:nvPr/>
        </p:nvSpPr>
        <p:spPr>
          <a:xfrm>
            <a:off x="2729541" y="141754"/>
            <a:ext cx="2941098" cy="14550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1000" b="1" dirty="0">
                <a:solidFill>
                  <a:srgbClr val="00CFCC"/>
                </a:solidFill>
              </a:rPr>
              <a:t>CRNN</a:t>
            </a:r>
          </a:p>
          <a:p>
            <a:pPr marL="0" indent="0" algn="ctr">
              <a:lnSpc>
                <a:spcPct val="100000"/>
              </a:lnSpc>
              <a:spcAft>
                <a:spcPts val="800"/>
              </a:spcAft>
              <a:buNone/>
            </a:pPr>
            <a:r>
              <a:rPr lang="en-GB" sz="800" b="1" dirty="0">
                <a:solidFill>
                  <a:srgbClr val="E898AC"/>
                </a:solidFill>
              </a:rPr>
              <a:t>Convolutional Layers – </a:t>
            </a:r>
            <a:r>
              <a:rPr lang="en-GB" sz="800" dirty="0"/>
              <a:t>Two Conv2D layers with 64 &amp; 128 filters are applied. Each uses </a:t>
            </a:r>
            <a:r>
              <a:rPr lang="en-GB" sz="800" dirty="0" err="1"/>
              <a:t>ReLU</a:t>
            </a:r>
            <a:r>
              <a:rPr lang="en-GB" sz="800" dirty="0"/>
              <a:t> activation function.</a:t>
            </a:r>
          </a:p>
          <a:p>
            <a:pPr marL="0" indent="0" algn="ctr">
              <a:lnSpc>
                <a:spcPct val="100000"/>
              </a:lnSpc>
              <a:spcAft>
                <a:spcPts val="800"/>
              </a:spcAft>
              <a:buNone/>
            </a:pPr>
            <a:r>
              <a:rPr lang="en-GB" sz="800" b="1" dirty="0">
                <a:solidFill>
                  <a:srgbClr val="E898AC"/>
                </a:solidFill>
              </a:rPr>
              <a:t>Recurrent Layers – </a:t>
            </a:r>
            <a:r>
              <a:rPr lang="en-GB" sz="800" dirty="0"/>
              <a:t>A GRU or LSTM layer is used. Captures temporal dependencies across MFCC frames, enables model to understand sequential patterns.</a:t>
            </a:r>
          </a:p>
          <a:p>
            <a:pPr marL="0" indent="0" algn="ctr">
              <a:lnSpc>
                <a:spcPct val="100000"/>
              </a:lnSpc>
              <a:spcAft>
                <a:spcPts val="800"/>
              </a:spcAft>
              <a:buNone/>
            </a:pPr>
            <a:r>
              <a:rPr lang="en-GB" sz="800" b="1" dirty="0">
                <a:solidFill>
                  <a:srgbClr val="E898AC"/>
                </a:solidFill>
              </a:rPr>
              <a:t>Output Layers - </a:t>
            </a:r>
            <a:r>
              <a:rPr lang="en-GB" sz="800" dirty="0"/>
              <a:t>A </a:t>
            </a:r>
            <a:r>
              <a:rPr lang="en-GB" sz="800" dirty="0" err="1"/>
              <a:t>softmax</a:t>
            </a:r>
            <a:r>
              <a:rPr lang="en-GB" sz="800" dirty="0"/>
              <a:t> output layer is used to predict probabilities for each of the ten classes.</a:t>
            </a:r>
          </a:p>
        </p:txBody>
      </p:sp>
      <p:sp>
        <p:nvSpPr>
          <p:cNvPr id="20" name="Rectangle 19">
            <a:extLst>
              <a:ext uri="{FF2B5EF4-FFF2-40B4-BE49-F238E27FC236}">
                <a16:creationId xmlns:a16="http://schemas.microsoft.com/office/drawing/2014/main" id="{893884DC-2783-D2BD-6ADE-CA6BADFC9053}"/>
              </a:ext>
            </a:extLst>
          </p:cNvPr>
          <p:cNvSpPr/>
          <p:nvPr/>
        </p:nvSpPr>
        <p:spPr>
          <a:xfrm>
            <a:off x="2729540" y="170330"/>
            <a:ext cx="2941099" cy="1455029"/>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21" name="Google Shape;1109;p38">
            <a:extLst>
              <a:ext uri="{FF2B5EF4-FFF2-40B4-BE49-F238E27FC236}">
                <a16:creationId xmlns:a16="http://schemas.microsoft.com/office/drawing/2014/main" id="{29E62FA4-6B8A-1557-916B-363992F9C29F}"/>
              </a:ext>
            </a:extLst>
          </p:cNvPr>
          <p:cNvSpPr txBox="1">
            <a:spLocks/>
          </p:cNvSpPr>
          <p:nvPr/>
        </p:nvSpPr>
        <p:spPr>
          <a:xfrm>
            <a:off x="2729540" y="1683267"/>
            <a:ext cx="2941097" cy="159605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1000" b="1" dirty="0">
                <a:solidFill>
                  <a:srgbClr val="00CFCC"/>
                </a:solidFill>
              </a:rPr>
              <a:t>CNN</a:t>
            </a:r>
          </a:p>
          <a:p>
            <a:pPr marL="0" indent="0" algn="ctr">
              <a:lnSpc>
                <a:spcPct val="100000"/>
              </a:lnSpc>
              <a:spcAft>
                <a:spcPts val="800"/>
              </a:spcAft>
              <a:buNone/>
            </a:pPr>
            <a:r>
              <a:rPr lang="en-GB" sz="800" b="1" dirty="0">
                <a:solidFill>
                  <a:srgbClr val="E898AC"/>
                </a:solidFill>
              </a:rPr>
              <a:t>Convolutional Layers – </a:t>
            </a:r>
            <a:r>
              <a:rPr lang="en-GB" sz="800" dirty="0"/>
              <a:t>Two Conv2D layers with 64 &amp; 128 filters used to capture local patterns in MFCC features.</a:t>
            </a:r>
          </a:p>
          <a:p>
            <a:pPr marL="0" indent="0" algn="ctr">
              <a:lnSpc>
                <a:spcPct val="100000"/>
              </a:lnSpc>
              <a:spcAft>
                <a:spcPts val="800"/>
              </a:spcAft>
              <a:buNone/>
            </a:pPr>
            <a:r>
              <a:rPr lang="en-GB" sz="800" b="1" dirty="0">
                <a:solidFill>
                  <a:srgbClr val="E898AC"/>
                </a:solidFill>
              </a:rPr>
              <a:t>Flattening &amp; Dense Layers – </a:t>
            </a:r>
            <a:r>
              <a:rPr lang="en-GB" sz="800" dirty="0">
                <a:solidFill>
                  <a:schemeClr val="bg1"/>
                </a:solidFill>
              </a:rPr>
              <a:t>2D output from convolutional layers is flattened into a 1D vector to connect to fully connected layer.</a:t>
            </a:r>
          </a:p>
          <a:p>
            <a:pPr marL="0" indent="0" algn="ctr">
              <a:lnSpc>
                <a:spcPct val="100000"/>
              </a:lnSpc>
              <a:spcAft>
                <a:spcPts val="800"/>
              </a:spcAft>
              <a:buNone/>
            </a:pPr>
            <a:r>
              <a:rPr lang="en-GB" sz="800" b="1" dirty="0">
                <a:solidFill>
                  <a:srgbClr val="E898AC"/>
                </a:solidFill>
              </a:rPr>
              <a:t>Output Layers - </a:t>
            </a:r>
            <a:r>
              <a:rPr lang="en-GB" sz="800" dirty="0"/>
              <a:t>A </a:t>
            </a:r>
            <a:r>
              <a:rPr lang="en-GB" sz="800" dirty="0" err="1"/>
              <a:t>softmax</a:t>
            </a:r>
            <a:r>
              <a:rPr lang="en-GB" sz="800" dirty="0"/>
              <a:t> output layer is used to predict probability dist. over all classes.</a:t>
            </a:r>
          </a:p>
        </p:txBody>
      </p:sp>
      <p:sp>
        <p:nvSpPr>
          <p:cNvPr id="22" name="Rectangle 21">
            <a:extLst>
              <a:ext uri="{FF2B5EF4-FFF2-40B4-BE49-F238E27FC236}">
                <a16:creationId xmlns:a16="http://schemas.microsoft.com/office/drawing/2014/main" id="{0193345E-6553-5951-7C4F-72F8AFDB5D69}"/>
              </a:ext>
            </a:extLst>
          </p:cNvPr>
          <p:cNvSpPr/>
          <p:nvPr/>
        </p:nvSpPr>
        <p:spPr>
          <a:xfrm>
            <a:off x="2729540" y="1711843"/>
            <a:ext cx="2941097" cy="1596056"/>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25" name="Google Shape;1109;p38">
            <a:extLst>
              <a:ext uri="{FF2B5EF4-FFF2-40B4-BE49-F238E27FC236}">
                <a16:creationId xmlns:a16="http://schemas.microsoft.com/office/drawing/2014/main" id="{33245F47-20A8-AFB0-47A6-F21CB8A2C24F}"/>
              </a:ext>
            </a:extLst>
          </p:cNvPr>
          <p:cNvSpPr txBox="1">
            <a:spLocks/>
          </p:cNvSpPr>
          <p:nvPr/>
        </p:nvSpPr>
        <p:spPr>
          <a:xfrm>
            <a:off x="2729540" y="3369315"/>
            <a:ext cx="2941097" cy="159605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1000" b="1" dirty="0">
                <a:solidFill>
                  <a:srgbClr val="00CFCC"/>
                </a:solidFill>
              </a:rPr>
              <a:t>ANN</a:t>
            </a:r>
          </a:p>
          <a:p>
            <a:pPr marL="0" indent="0" algn="ctr">
              <a:lnSpc>
                <a:spcPct val="100000"/>
              </a:lnSpc>
              <a:spcAft>
                <a:spcPts val="800"/>
              </a:spcAft>
              <a:buNone/>
            </a:pPr>
            <a:r>
              <a:rPr lang="en-GB" sz="800" b="1" dirty="0">
                <a:solidFill>
                  <a:srgbClr val="E898AC"/>
                </a:solidFill>
              </a:rPr>
              <a:t>Convolutional Layers – </a:t>
            </a:r>
            <a:r>
              <a:rPr lang="en-GB" sz="800" dirty="0"/>
              <a:t>Two Conv2D layers with 64 &amp; 128 filters used to capture local patterns in MFCC features.</a:t>
            </a:r>
          </a:p>
          <a:p>
            <a:pPr marL="0" indent="0" algn="ctr">
              <a:lnSpc>
                <a:spcPct val="100000"/>
              </a:lnSpc>
              <a:spcAft>
                <a:spcPts val="800"/>
              </a:spcAft>
              <a:buNone/>
            </a:pPr>
            <a:r>
              <a:rPr lang="en-GB" sz="800" b="1" dirty="0">
                <a:solidFill>
                  <a:srgbClr val="E898AC"/>
                </a:solidFill>
              </a:rPr>
              <a:t>Flattening &amp; Dense Layers – </a:t>
            </a:r>
            <a:r>
              <a:rPr lang="en-GB" sz="800" dirty="0">
                <a:solidFill>
                  <a:schemeClr val="bg1"/>
                </a:solidFill>
              </a:rPr>
              <a:t>2D output from convolutional layers is flattened into a 1D vector to connect to fully connected layer.</a:t>
            </a:r>
          </a:p>
          <a:p>
            <a:pPr marL="0" indent="0" algn="ctr">
              <a:lnSpc>
                <a:spcPct val="100000"/>
              </a:lnSpc>
              <a:spcAft>
                <a:spcPts val="800"/>
              </a:spcAft>
              <a:buNone/>
            </a:pPr>
            <a:r>
              <a:rPr lang="en-GB" sz="800" b="1" dirty="0">
                <a:solidFill>
                  <a:srgbClr val="E898AC"/>
                </a:solidFill>
              </a:rPr>
              <a:t>Output Layers - </a:t>
            </a:r>
            <a:r>
              <a:rPr lang="en-GB" sz="800" dirty="0"/>
              <a:t>A </a:t>
            </a:r>
            <a:r>
              <a:rPr lang="en-GB" sz="800" dirty="0" err="1"/>
              <a:t>softmax</a:t>
            </a:r>
            <a:r>
              <a:rPr lang="en-GB" sz="800" dirty="0"/>
              <a:t> output layer is used to predict probability dist. over all classes.</a:t>
            </a:r>
          </a:p>
        </p:txBody>
      </p:sp>
      <p:sp>
        <p:nvSpPr>
          <p:cNvPr id="26" name="Rectangle 25">
            <a:extLst>
              <a:ext uri="{FF2B5EF4-FFF2-40B4-BE49-F238E27FC236}">
                <a16:creationId xmlns:a16="http://schemas.microsoft.com/office/drawing/2014/main" id="{305C84E2-40D1-D454-8850-B8FD023D2CD4}"/>
              </a:ext>
            </a:extLst>
          </p:cNvPr>
          <p:cNvSpPr/>
          <p:nvPr/>
        </p:nvSpPr>
        <p:spPr>
          <a:xfrm>
            <a:off x="2729540" y="3397891"/>
            <a:ext cx="2941097" cy="1596056"/>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27" name="Google Shape;1109;p38">
            <a:extLst>
              <a:ext uri="{FF2B5EF4-FFF2-40B4-BE49-F238E27FC236}">
                <a16:creationId xmlns:a16="http://schemas.microsoft.com/office/drawing/2014/main" id="{40932B1B-0672-B66B-8F92-94412152D724}"/>
              </a:ext>
            </a:extLst>
          </p:cNvPr>
          <p:cNvSpPr txBox="1">
            <a:spLocks/>
          </p:cNvSpPr>
          <p:nvPr/>
        </p:nvSpPr>
        <p:spPr>
          <a:xfrm>
            <a:off x="5888997" y="1519190"/>
            <a:ext cx="1446674" cy="15242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b="1" dirty="0">
                <a:solidFill>
                  <a:srgbClr val="E898AC"/>
                </a:solidFill>
              </a:rPr>
              <a:t>Hyperparameters – </a:t>
            </a:r>
            <a:r>
              <a:rPr lang="en-GB" sz="800" dirty="0"/>
              <a:t>No. of epochs = 100, batch size = 32 specifies model parameter.</a:t>
            </a:r>
          </a:p>
          <a:p>
            <a:pPr marL="0" indent="0" algn="ctr">
              <a:lnSpc>
                <a:spcPct val="100000"/>
              </a:lnSpc>
              <a:spcAft>
                <a:spcPts val="800"/>
              </a:spcAft>
              <a:buNone/>
            </a:pPr>
            <a:r>
              <a:rPr lang="en-GB" sz="800" b="1" dirty="0">
                <a:solidFill>
                  <a:srgbClr val="E898AC"/>
                </a:solidFill>
              </a:rPr>
              <a:t>Optimizer - </a:t>
            </a:r>
            <a:r>
              <a:rPr lang="en-GB" sz="800" dirty="0"/>
              <a:t>Adam optimizer used for efficient gradient descent with adaptive learning rates.</a:t>
            </a:r>
          </a:p>
          <a:p>
            <a:pPr marL="0" indent="0" algn="ctr">
              <a:lnSpc>
                <a:spcPct val="100000"/>
              </a:lnSpc>
              <a:spcAft>
                <a:spcPts val="800"/>
              </a:spcAft>
              <a:buNone/>
            </a:pPr>
            <a:r>
              <a:rPr lang="en-GB" sz="800" b="1" dirty="0">
                <a:solidFill>
                  <a:srgbClr val="FFFFFF"/>
                </a:solidFill>
              </a:rPr>
              <a:t>A </a:t>
            </a:r>
            <a:r>
              <a:rPr lang="en-GB" sz="800" b="1" dirty="0" err="1">
                <a:solidFill>
                  <a:srgbClr val="FFFFFF"/>
                </a:solidFill>
              </a:rPr>
              <a:t>ModelCheckpoint</a:t>
            </a:r>
            <a:r>
              <a:rPr lang="en-GB" sz="800" b="1" dirty="0">
                <a:solidFill>
                  <a:srgbClr val="FFFFFF"/>
                </a:solidFill>
              </a:rPr>
              <a:t> callback is implemented to save the model that achieves the highest accuracy on the validation set.</a:t>
            </a:r>
            <a:endParaRPr lang="en-GB" sz="800" dirty="0">
              <a:solidFill>
                <a:srgbClr val="FFFFFF"/>
              </a:solidFill>
            </a:endParaRPr>
          </a:p>
        </p:txBody>
      </p:sp>
      <p:sp>
        <p:nvSpPr>
          <p:cNvPr id="28" name="Rectangle 27">
            <a:extLst>
              <a:ext uri="{FF2B5EF4-FFF2-40B4-BE49-F238E27FC236}">
                <a16:creationId xmlns:a16="http://schemas.microsoft.com/office/drawing/2014/main" id="{9C7D60C6-9ADC-DADC-F7DA-CE1545D4FB63}"/>
              </a:ext>
            </a:extLst>
          </p:cNvPr>
          <p:cNvSpPr/>
          <p:nvPr/>
        </p:nvSpPr>
        <p:spPr>
          <a:xfrm>
            <a:off x="5888997" y="1547766"/>
            <a:ext cx="1446674" cy="2172528"/>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29" name="Google Shape;1109;p38">
            <a:extLst>
              <a:ext uri="{FF2B5EF4-FFF2-40B4-BE49-F238E27FC236}">
                <a16:creationId xmlns:a16="http://schemas.microsoft.com/office/drawing/2014/main" id="{049789EE-682E-CEA7-DCEB-0D971DDE2CDF}"/>
              </a:ext>
            </a:extLst>
          </p:cNvPr>
          <p:cNvSpPr txBox="1">
            <a:spLocks/>
          </p:cNvSpPr>
          <p:nvPr/>
        </p:nvSpPr>
        <p:spPr>
          <a:xfrm>
            <a:off x="7534979" y="1690640"/>
            <a:ext cx="1446674" cy="15242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b="1" dirty="0">
                <a:solidFill>
                  <a:srgbClr val="E898AC"/>
                </a:solidFill>
              </a:rPr>
              <a:t>Model Evaluation – </a:t>
            </a:r>
            <a:r>
              <a:rPr lang="en-GB" sz="800" dirty="0"/>
              <a:t>After training, the model’s performance is evaluated on the test set to check accuracy and ensure it generalizes well to unseen data.</a:t>
            </a:r>
          </a:p>
          <a:p>
            <a:pPr marL="0" indent="0" algn="ctr">
              <a:lnSpc>
                <a:spcPct val="100000"/>
              </a:lnSpc>
              <a:spcAft>
                <a:spcPts val="800"/>
              </a:spcAft>
              <a:buNone/>
            </a:pPr>
            <a:r>
              <a:rPr lang="en-GB" sz="800" b="1" dirty="0">
                <a:solidFill>
                  <a:srgbClr val="E898AC"/>
                </a:solidFill>
              </a:rPr>
              <a:t>Confusion Matrix - </a:t>
            </a:r>
            <a:r>
              <a:rPr lang="en-GB" sz="800" b="1" dirty="0">
                <a:solidFill>
                  <a:srgbClr val="FFFFFF"/>
                </a:solidFill>
              </a:rPr>
              <a:t>U</a:t>
            </a:r>
            <a:r>
              <a:rPr lang="en-GB" sz="800" dirty="0">
                <a:solidFill>
                  <a:srgbClr val="FFFFFF"/>
                </a:solidFill>
              </a:rPr>
              <a:t>sed to visualize and diagnose class-level performance, helping to identify which classes are easily confused.</a:t>
            </a:r>
          </a:p>
          <a:p>
            <a:pPr marL="0" indent="0" algn="ctr">
              <a:lnSpc>
                <a:spcPct val="100000"/>
              </a:lnSpc>
              <a:spcAft>
                <a:spcPts val="800"/>
              </a:spcAft>
              <a:buNone/>
            </a:pPr>
            <a:endParaRPr lang="en-GB" sz="800" dirty="0">
              <a:solidFill>
                <a:srgbClr val="FFFFFF"/>
              </a:solidFill>
            </a:endParaRPr>
          </a:p>
        </p:txBody>
      </p:sp>
      <p:sp>
        <p:nvSpPr>
          <p:cNvPr id="30" name="Rectangle 29">
            <a:extLst>
              <a:ext uri="{FF2B5EF4-FFF2-40B4-BE49-F238E27FC236}">
                <a16:creationId xmlns:a16="http://schemas.microsoft.com/office/drawing/2014/main" id="{E158F0C9-AE57-DFAF-7AE8-6C17066D0CDC}"/>
              </a:ext>
            </a:extLst>
          </p:cNvPr>
          <p:cNvSpPr/>
          <p:nvPr/>
        </p:nvSpPr>
        <p:spPr>
          <a:xfrm>
            <a:off x="7534979" y="1719216"/>
            <a:ext cx="1446674" cy="1821549"/>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31" name="Google Shape;1776;p52">
            <a:extLst>
              <a:ext uri="{FF2B5EF4-FFF2-40B4-BE49-F238E27FC236}">
                <a16:creationId xmlns:a16="http://schemas.microsoft.com/office/drawing/2014/main" id="{795AA479-A00E-1368-502D-CF19A9A4C58C}"/>
              </a:ext>
            </a:extLst>
          </p:cNvPr>
          <p:cNvSpPr/>
          <p:nvPr/>
        </p:nvSpPr>
        <p:spPr>
          <a:xfrm>
            <a:off x="2419473" y="2365884"/>
            <a:ext cx="310068" cy="235776"/>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00CFCC"/>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1776;p52">
            <a:extLst>
              <a:ext uri="{FF2B5EF4-FFF2-40B4-BE49-F238E27FC236}">
                <a16:creationId xmlns:a16="http://schemas.microsoft.com/office/drawing/2014/main" id="{72F33B60-BD52-AC36-13FF-020B9FB64725}"/>
              </a:ext>
            </a:extLst>
          </p:cNvPr>
          <p:cNvSpPr/>
          <p:nvPr/>
        </p:nvSpPr>
        <p:spPr>
          <a:xfrm>
            <a:off x="5616067" y="2365884"/>
            <a:ext cx="310068" cy="235776"/>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00CFCC"/>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1776;p52">
            <a:extLst>
              <a:ext uri="{FF2B5EF4-FFF2-40B4-BE49-F238E27FC236}">
                <a16:creationId xmlns:a16="http://schemas.microsoft.com/office/drawing/2014/main" id="{F6E6D969-E941-7DE7-22C4-FE257774ED87}"/>
              </a:ext>
            </a:extLst>
          </p:cNvPr>
          <p:cNvSpPr/>
          <p:nvPr/>
        </p:nvSpPr>
        <p:spPr>
          <a:xfrm>
            <a:off x="7298380" y="2512102"/>
            <a:ext cx="310068" cy="235776"/>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00CFCC"/>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776;p52">
            <a:extLst>
              <a:ext uri="{FF2B5EF4-FFF2-40B4-BE49-F238E27FC236}">
                <a16:creationId xmlns:a16="http://schemas.microsoft.com/office/drawing/2014/main" id="{6E2EDB91-80FC-5CD2-0DA4-A8036B7ECED0}"/>
              </a:ext>
            </a:extLst>
          </p:cNvPr>
          <p:cNvSpPr/>
          <p:nvPr/>
        </p:nvSpPr>
        <p:spPr>
          <a:xfrm rot="18941310">
            <a:off x="2378697" y="1504906"/>
            <a:ext cx="411430" cy="235776"/>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00CFCC"/>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776;p52">
            <a:extLst>
              <a:ext uri="{FF2B5EF4-FFF2-40B4-BE49-F238E27FC236}">
                <a16:creationId xmlns:a16="http://schemas.microsoft.com/office/drawing/2014/main" id="{FBF7A2A8-C378-4CEE-86B7-815568ACFFF9}"/>
              </a:ext>
            </a:extLst>
          </p:cNvPr>
          <p:cNvSpPr/>
          <p:nvPr/>
        </p:nvSpPr>
        <p:spPr>
          <a:xfrm rot="2511702">
            <a:off x="2382457" y="3511848"/>
            <a:ext cx="400199" cy="235776"/>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00CFCC"/>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776;p52">
            <a:extLst>
              <a:ext uri="{FF2B5EF4-FFF2-40B4-BE49-F238E27FC236}">
                <a16:creationId xmlns:a16="http://schemas.microsoft.com/office/drawing/2014/main" id="{5EEA8F05-41FC-2A92-9007-37D9668AE521}"/>
              </a:ext>
            </a:extLst>
          </p:cNvPr>
          <p:cNvSpPr/>
          <p:nvPr/>
        </p:nvSpPr>
        <p:spPr>
          <a:xfrm rot="18941310">
            <a:off x="5565384" y="3511848"/>
            <a:ext cx="411430" cy="235776"/>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00CFCC"/>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76;p52">
            <a:extLst>
              <a:ext uri="{FF2B5EF4-FFF2-40B4-BE49-F238E27FC236}">
                <a16:creationId xmlns:a16="http://schemas.microsoft.com/office/drawing/2014/main" id="{11AAC275-0CDA-4FA6-1131-29B9CF1535FA}"/>
              </a:ext>
            </a:extLst>
          </p:cNvPr>
          <p:cNvSpPr/>
          <p:nvPr/>
        </p:nvSpPr>
        <p:spPr>
          <a:xfrm rot="2511702">
            <a:off x="5579717" y="1465251"/>
            <a:ext cx="400199" cy="235776"/>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00CFCC"/>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30"/>
          <p:cNvSpPr txBox="1">
            <a:spLocks noGrp="1"/>
          </p:cNvSpPr>
          <p:nvPr>
            <p:ph type="ctrTitle" idx="8"/>
          </p:nvPr>
        </p:nvSpPr>
        <p:spPr>
          <a:xfrm>
            <a:off x="331250" y="206248"/>
            <a:ext cx="5888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DATA PRE-PROCESSING</a:t>
            </a:r>
            <a:endParaRPr sz="3000" dirty="0"/>
          </a:p>
        </p:txBody>
      </p:sp>
      <p:cxnSp>
        <p:nvCxnSpPr>
          <p:cNvPr id="18" name="Google Shape;1086;p38">
            <a:extLst>
              <a:ext uri="{FF2B5EF4-FFF2-40B4-BE49-F238E27FC236}">
                <a16:creationId xmlns:a16="http://schemas.microsoft.com/office/drawing/2014/main" id="{4ED09130-1414-E779-D95E-FA1D09DA7CE1}"/>
              </a:ext>
            </a:extLst>
          </p:cNvPr>
          <p:cNvCxnSpPr>
            <a:cxnSpLocks/>
          </p:cNvCxnSpPr>
          <p:nvPr/>
        </p:nvCxnSpPr>
        <p:spPr>
          <a:xfrm>
            <a:off x="683005" y="1958955"/>
            <a:ext cx="0" cy="739315"/>
          </a:xfrm>
          <a:prstGeom prst="straightConnector1">
            <a:avLst/>
          </a:prstGeom>
          <a:noFill/>
          <a:ln w="19050" cap="flat" cmpd="sng">
            <a:solidFill>
              <a:schemeClr val="lt2"/>
            </a:solidFill>
            <a:prstDash val="solid"/>
            <a:round/>
            <a:headEnd type="none" w="med" len="med"/>
            <a:tailEnd type="none" w="med" len="med"/>
          </a:ln>
        </p:spPr>
      </p:cxnSp>
      <p:cxnSp>
        <p:nvCxnSpPr>
          <p:cNvPr id="19" name="Google Shape;1087;p38">
            <a:extLst>
              <a:ext uri="{FF2B5EF4-FFF2-40B4-BE49-F238E27FC236}">
                <a16:creationId xmlns:a16="http://schemas.microsoft.com/office/drawing/2014/main" id="{6678A173-71B3-F2A9-3D0B-DB77124CB8C0}"/>
              </a:ext>
            </a:extLst>
          </p:cNvPr>
          <p:cNvCxnSpPr>
            <a:cxnSpLocks/>
            <a:endCxn id="53" idx="0"/>
          </p:cNvCxnSpPr>
          <p:nvPr/>
        </p:nvCxnSpPr>
        <p:spPr>
          <a:xfrm flipH="1">
            <a:off x="1957533" y="2786595"/>
            <a:ext cx="8" cy="786584"/>
          </a:xfrm>
          <a:prstGeom prst="straightConnector1">
            <a:avLst/>
          </a:prstGeom>
          <a:noFill/>
          <a:ln w="19050" cap="flat" cmpd="sng">
            <a:solidFill>
              <a:schemeClr val="lt2"/>
            </a:solidFill>
            <a:prstDash val="solid"/>
            <a:round/>
            <a:headEnd type="none" w="med" len="med"/>
            <a:tailEnd type="none" w="med" len="med"/>
          </a:ln>
        </p:spPr>
      </p:cxnSp>
      <p:cxnSp>
        <p:nvCxnSpPr>
          <p:cNvPr id="20" name="Google Shape;1088;p38">
            <a:extLst>
              <a:ext uri="{FF2B5EF4-FFF2-40B4-BE49-F238E27FC236}">
                <a16:creationId xmlns:a16="http://schemas.microsoft.com/office/drawing/2014/main" id="{0872A809-FD60-D708-99D3-A70D4500D38B}"/>
              </a:ext>
            </a:extLst>
          </p:cNvPr>
          <p:cNvCxnSpPr>
            <a:cxnSpLocks/>
          </p:cNvCxnSpPr>
          <p:nvPr/>
        </p:nvCxnSpPr>
        <p:spPr>
          <a:xfrm>
            <a:off x="3412466" y="1956931"/>
            <a:ext cx="0" cy="741339"/>
          </a:xfrm>
          <a:prstGeom prst="straightConnector1">
            <a:avLst/>
          </a:prstGeom>
          <a:noFill/>
          <a:ln w="19050" cap="flat" cmpd="sng">
            <a:solidFill>
              <a:schemeClr val="lt2"/>
            </a:solidFill>
            <a:prstDash val="solid"/>
            <a:round/>
            <a:headEnd type="none" w="med" len="med"/>
            <a:tailEnd type="none" w="med" len="med"/>
          </a:ln>
        </p:spPr>
      </p:cxnSp>
      <p:cxnSp>
        <p:nvCxnSpPr>
          <p:cNvPr id="21" name="Google Shape;1089;p38">
            <a:extLst>
              <a:ext uri="{FF2B5EF4-FFF2-40B4-BE49-F238E27FC236}">
                <a16:creationId xmlns:a16="http://schemas.microsoft.com/office/drawing/2014/main" id="{EC69B413-FB16-61FF-C5FC-D3DD2EEEDFC5}"/>
              </a:ext>
            </a:extLst>
          </p:cNvPr>
          <p:cNvCxnSpPr>
            <a:cxnSpLocks/>
          </p:cNvCxnSpPr>
          <p:nvPr/>
        </p:nvCxnSpPr>
        <p:spPr>
          <a:xfrm>
            <a:off x="4861055" y="2815170"/>
            <a:ext cx="0" cy="758009"/>
          </a:xfrm>
          <a:prstGeom prst="straightConnector1">
            <a:avLst/>
          </a:prstGeom>
          <a:noFill/>
          <a:ln w="19050" cap="flat" cmpd="sng">
            <a:solidFill>
              <a:schemeClr val="lt2"/>
            </a:solidFill>
            <a:prstDash val="solid"/>
            <a:round/>
            <a:headEnd type="none" w="med" len="med"/>
            <a:tailEnd type="none" w="med" len="med"/>
          </a:ln>
        </p:spPr>
      </p:cxnSp>
      <p:cxnSp>
        <p:nvCxnSpPr>
          <p:cNvPr id="22" name="Google Shape;1091;p38">
            <a:extLst>
              <a:ext uri="{FF2B5EF4-FFF2-40B4-BE49-F238E27FC236}">
                <a16:creationId xmlns:a16="http://schemas.microsoft.com/office/drawing/2014/main" id="{044B4643-FD92-31B9-B57E-22E2FE938588}"/>
              </a:ext>
            </a:extLst>
          </p:cNvPr>
          <p:cNvCxnSpPr>
            <a:cxnSpLocks/>
          </p:cNvCxnSpPr>
          <p:nvPr/>
        </p:nvCxnSpPr>
        <p:spPr>
          <a:xfrm>
            <a:off x="0" y="2756720"/>
            <a:ext cx="9232710" cy="0"/>
          </a:xfrm>
          <a:prstGeom prst="straightConnector1">
            <a:avLst/>
          </a:prstGeom>
          <a:noFill/>
          <a:ln w="19050" cap="flat" cmpd="sng">
            <a:solidFill>
              <a:schemeClr val="lt2"/>
            </a:solidFill>
            <a:prstDash val="solid"/>
            <a:round/>
            <a:headEnd type="none" w="med" len="med"/>
            <a:tailEnd type="none" w="med" len="med"/>
          </a:ln>
        </p:spPr>
      </p:cxnSp>
      <p:grpSp>
        <p:nvGrpSpPr>
          <p:cNvPr id="23" name="Google Shape;1092;p38">
            <a:extLst>
              <a:ext uri="{FF2B5EF4-FFF2-40B4-BE49-F238E27FC236}">
                <a16:creationId xmlns:a16="http://schemas.microsoft.com/office/drawing/2014/main" id="{82807BAD-45F2-E364-DB81-18171A9678E9}"/>
              </a:ext>
            </a:extLst>
          </p:cNvPr>
          <p:cNvGrpSpPr/>
          <p:nvPr/>
        </p:nvGrpSpPr>
        <p:grpSpPr>
          <a:xfrm>
            <a:off x="504642" y="2569970"/>
            <a:ext cx="373500" cy="373500"/>
            <a:chOff x="1372725" y="1912500"/>
            <a:chExt cx="373500" cy="373500"/>
          </a:xfrm>
          <a:solidFill>
            <a:srgbClr val="00CFCC"/>
          </a:solidFill>
        </p:grpSpPr>
        <p:sp>
          <p:nvSpPr>
            <p:cNvPr id="24" name="Google Shape;1093;p38">
              <a:extLst>
                <a:ext uri="{FF2B5EF4-FFF2-40B4-BE49-F238E27FC236}">
                  <a16:creationId xmlns:a16="http://schemas.microsoft.com/office/drawing/2014/main" id="{790197BD-20CC-01FD-D456-788D60E6982C}"/>
                </a:ext>
              </a:extLst>
            </p:cNvPr>
            <p:cNvSpPr/>
            <p:nvPr/>
          </p:nvSpPr>
          <p:spPr>
            <a:xfrm>
              <a:off x="146406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094;p38">
              <a:extLst>
                <a:ext uri="{FF2B5EF4-FFF2-40B4-BE49-F238E27FC236}">
                  <a16:creationId xmlns:a16="http://schemas.microsoft.com/office/drawing/2014/main" id="{0E5774BB-1104-B6EE-8342-F4BCEC2A33FA}"/>
                </a:ext>
              </a:extLst>
            </p:cNvPr>
            <p:cNvSpPr/>
            <p:nvPr/>
          </p:nvSpPr>
          <p:spPr>
            <a:xfrm>
              <a:off x="1372725"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1095;p38">
            <a:extLst>
              <a:ext uri="{FF2B5EF4-FFF2-40B4-BE49-F238E27FC236}">
                <a16:creationId xmlns:a16="http://schemas.microsoft.com/office/drawing/2014/main" id="{27D7BED3-599A-1026-0106-4740EC2A285E}"/>
              </a:ext>
            </a:extLst>
          </p:cNvPr>
          <p:cNvGrpSpPr/>
          <p:nvPr/>
        </p:nvGrpSpPr>
        <p:grpSpPr>
          <a:xfrm>
            <a:off x="1770795" y="2569970"/>
            <a:ext cx="373500" cy="373500"/>
            <a:chOff x="3212675" y="1912500"/>
            <a:chExt cx="373500" cy="373500"/>
          </a:xfrm>
          <a:solidFill>
            <a:srgbClr val="E898AC"/>
          </a:solidFill>
        </p:grpSpPr>
        <p:sp>
          <p:nvSpPr>
            <p:cNvPr id="27" name="Google Shape;1096;p38">
              <a:extLst>
                <a:ext uri="{FF2B5EF4-FFF2-40B4-BE49-F238E27FC236}">
                  <a16:creationId xmlns:a16="http://schemas.microsoft.com/office/drawing/2014/main" id="{E064F752-B8D2-4AEA-D107-C3BC871B224F}"/>
                </a:ext>
              </a:extLst>
            </p:cNvPr>
            <p:cNvSpPr/>
            <p:nvPr/>
          </p:nvSpPr>
          <p:spPr>
            <a:xfrm>
              <a:off x="330401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097;p38">
              <a:extLst>
                <a:ext uri="{FF2B5EF4-FFF2-40B4-BE49-F238E27FC236}">
                  <a16:creationId xmlns:a16="http://schemas.microsoft.com/office/drawing/2014/main" id="{ADA36087-DDB2-8ED6-6093-772B52CC584B}"/>
                </a:ext>
              </a:extLst>
            </p:cNvPr>
            <p:cNvSpPr/>
            <p:nvPr/>
          </p:nvSpPr>
          <p:spPr>
            <a:xfrm>
              <a:off x="3212675"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098;p38">
            <a:extLst>
              <a:ext uri="{FF2B5EF4-FFF2-40B4-BE49-F238E27FC236}">
                <a16:creationId xmlns:a16="http://schemas.microsoft.com/office/drawing/2014/main" id="{04366A1F-428B-E794-F7B8-E23D6E990782}"/>
              </a:ext>
            </a:extLst>
          </p:cNvPr>
          <p:cNvGrpSpPr/>
          <p:nvPr/>
        </p:nvGrpSpPr>
        <p:grpSpPr>
          <a:xfrm>
            <a:off x="3223686" y="2569970"/>
            <a:ext cx="373500" cy="373500"/>
            <a:chOff x="5557850" y="1912500"/>
            <a:chExt cx="373500" cy="373500"/>
          </a:xfrm>
          <a:solidFill>
            <a:srgbClr val="FF9973"/>
          </a:solidFill>
        </p:grpSpPr>
        <p:sp>
          <p:nvSpPr>
            <p:cNvPr id="30" name="Google Shape;1099;p38">
              <a:extLst>
                <a:ext uri="{FF2B5EF4-FFF2-40B4-BE49-F238E27FC236}">
                  <a16:creationId xmlns:a16="http://schemas.microsoft.com/office/drawing/2014/main" id="{AF06C552-7AEA-EDF4-0388-737D762A262F}"/>
                </a:ext>
              </a:extLst>
            </p:cNvPr>
            <p:cNvSpPr/>
            <p:nvPr/>
          </p:nvSpPr>
          <p:spPr>
            <a:xfrm>
              <a:off x="5649188"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CFCC"/>
                </a:solidFill>
              </a:endParaRPr>
            </a:p>
          </p:txBody>
        </p:sp>
        <p:sp>
          <p:nvSpPr>
            <p:cNvPr id="31" name="Google Shape;1100;p38">
              <a:extLst>
                <a:ext uri="{FF2B5EF4-FFF2-40B4-BE49-F238E27FC236}">
                  <a16:creationId xmlns:a16="http://schemas.microsoft.com/office/drawing/2014/main" id="{D1BFA4EF-8549-F2E7-E846-026EB46400AB}"/>
                </a:ext>
              </a:extLst>
            </p:cNvPr>
            <p:cNvSpPr/>
            <p:nvPr/>
          </p:nvSpPr>
          <p:spPr>
            <a:xfrm>
              <a:off x="5557850"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1101;p38">
            <a:extLst>
              <a:ext uri="{FF2B5EF4-FFF2-40B4-BE49-F238E27FC236}">
                <a16:creationId xmlns:a16="http://schemas.microsoft.com/office/drawing/2014/main" id="{89B7FBBF-68B0-6348-355D-83D96A6D37E4}"/>
              </a:ext>
            </a:extLst>
          </p:cNvPr>
          <p:cNvGrpSpPr/>
          <p:nvPr/>
        </p:nvGrpSpPr>
        <p:grpSpPr>
          <a:xfrm>
            <a:off x="4676592" y="2569970"/>
            <a:ext cx="373500" cy="373500"/>
            <a:chOff x="7457825" y="1912500"/>
            <a:chExt cx="373500" cy="373500"/>
          </a:xfrm>
          <a:solidFill>
            <a:srgbClr val="00CFCC"/>
          </a:solidFill>
        </p:grpSpPr>
        <p:sp>
          <p:nvSpPr>
            <p:cNvPr id="33" name="Google Shape;1102;p38">
              <a:extLst>
                <a:ext uri="{FF2B5EF4-FFF2-40B4-BE49-F238E27FC236}">
                  <a16:creationId xmlns:a16="http://schemas.microsoft.com/office/drawing/2014/main" id="{3CBE43AA-C047-1DEC-80A7-B4E76124C564}"/>
                </a:ext>
              </a:extLst>
            </p:cNvPr>
            <p:cNvSpPr/>
            <p:nvPr/>
          </p:nvSpPr>
          <p:spPr>
            <a:xfrm>
              <a:off x="754916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F64975"/>
                </a:solidFill>
              </a:endParaRPr>
            </a:p>
          </p:txBody>
        </p:sp>
        <p:sp>
          <p:nvSpPr>
            <p:cNvPr id="34" name="Google Shape;1103;p38">
              <a:extLst>
                <a:ext uri="{FF2B5EF4-FFF2-40B4-BE49-F238E27FC236}">
                  <a16:creationId xmlns:a16="http://schemas.microsoft.com/office/drawing/2014/main" id="{0FACC000-3A36-B9A9-E097-6C77FA63428D}"/>
                </a:ext>
              </a:extLst>
            </p:cNvPr>
            <p:cNvSpPr/>
            <p:nvPr/>
          </p:nvSpPr>
          <p:spPr>
            <a:xfrm>
              <a:off x="7457825"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64975"/>
                </a:solidFill>
              </a:endParaRPr>
            </a:p>
          </p:txBody>
        </p:sp>
      </p:grpSp>
      <p:sp>
        <p:nvSpPr>
          <p:cNvPr id="40" name="Google Shape;1109;p38">
            <a:extLst>
              <a:ext uri="{FF2B5EF4-FFF2-40B4-BE49-F238E27FC236}">
                <a16:creationId xmlns:a16="http://schemas.microsoft.com/office/drawing/2014/main" id="{73A66E16-45E6-0FDB-CD0A-F91F2F389911}"/>
              </a:ext>
            </a:extLst>
          </p:cNvPr>
          <p:cNvSpPr txBox="1">
            <a:spLocks/>
          </p:cNvSpPr>
          <p:nvPr/>
        </p:nvSpPr>
        <p:spPr>
          <a:xfrm>
            <a:off x="944683" y="3544604"/>
            <a:ext cx="2025700" cy="14022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b="1" dirty="0" err="1">
                <a:solidFill>
                  <a:srgbClr val="E898AC"/>
                </a:solidFill>
              </a:rPr>
              <a:t>Librosa</a:t>
            </a:r>
            <a:r>
              <a:rPr lang="en-GB" sz="800" b="1" dirty="0">
                <a:solidFill>
                  <a:srgbClr val="E898AC"/>
                </a:solidFill>
              </a:rPr>
              <a:t> Load – </a:t>
            </a:r>
            <a:r>
              <a:rPr lang="en-GB" sz="800" dirty="0"/>
              <a:t>Load the audio file &amp; resample it to a uniform sample rate</a:t>
            </a:r>
          </a:p>
          <a:p>
            <a:pPr marL="0" indent="0" algn="ctr">
              <a:lnSpc>
                <a:spcPct val="100000"/>
              </a:lnSpc>
              <a:spcAft>
                <a:spcPts val="800"/>
              </a:spcAft>
              <a:buNone/>
            </a:pPr>
            <a:r>
              <a:rPr lang="en-GB" sz="800" b="1" dirty="0">
                <a:solidFill>
                  <a:srgbClr val="E898AC"/>
                </a:solidFill>
              </a:rPr>
              <a:t>MFCC Calculation </a:t>
            </a:r>
            <a:r>
              <a:rPr lang="en-GB" sz="800" dirty="0"/>
              <a:t>– Code calculates 40 MFCC features which captures the frequency based char. of audio.</a:t>
            </a:r>
          </a:p>
          <a:p>
            <a:pPr marL="0" indent="0" algn="ctr">
              <a:lnSpc>
                <a:spcPct val="100000"/>
              </a:lnSpc>
              <a:spcAft>
                <a:spcPts val="800"/>
              </a:spcAft>
              <a:buNone/>
            </a:pPr>
            <a:r>
              <a:rPr lang="en-GB" sz="800" b="1" dirty="0">
                <a:solidFill>
                  <a:srgbClr val="E898AC"/>
                </a:solidFill>
              </a:rPr>
              <a:t>Feature Scaling – </a:t>
            </a:r>
            <a:r>
              <a:rPr lang="en-GB" sz="800" dirty="0"/>
              <a:t>Averages MFCC values across time. Reduces complexity but retains important features.</a:t>
            </a:r>
          </a:p>
        </p:txBody>
      </p:sp>
      <p:sp>
        <p:nvSpPr>
          <p:cNvPr id="43" name="Google Shape;1112;p38">
            <a:extLst>
              <a:ext uri="{FF2B5EF4-FFF2-40B4-BE49-F238E27FC236}">
                <a16:creationId xmlns:a16="http://schemas.microsoft.com/office/drawing/2014/main" id="{905187E2-0F1A-99CE-65C5-D98305FFA441}"/>
              </a:ext>
            </a:extLst>
          </p:cNvPr>
          <p:cNvSpPr txBox="1">
            <a:spLocks/>
          </p:cNvSpPr>
          <p:nvPr/>
        </p:nvSpPr>
        <p:spPr>
          <a:xfrm>
            <a:off x="39817" y="3006792"/>
            <a:ext cx="1286400"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chemeClr val="accent2"/>
                </a:solidFill>
              </a:rPr>
              <a:t>Dataset Loading</a:t>
            </a:r>
          </a:p>
        </p:txBody>
      </p:sp>
      <p:sp>
        <p:nvSpPr>
          <p:cNvPr id="44" name="Google Shape;1113;p38">
            <a:extLst>
              <a:ext uri="{FF2B5EF4-FFF2-40B4-BE49-F238E27FC236}">
                <a16:creationId xmlns:a16="http://schemas.microsoft.com/office/drawing/2014/main" id="{14BA9081-D6F0-E45B-9118-ECDCE2441798}"/>
              </a:ext>
            </a:extLst>
          </p:cNvPr>
          <p:cNvSpPr txBox="1">
            <a:spLocks/>
          </p:cNvSpPr>
          <p:nvPr/>
        </p:nvSpPr>
        <p:spPr>
          <a:xfrm>
            <a:off x="1234228" y="2049341"/>
            <a:ext cx="1446627"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chemeClr val="accent1"/>
                </a:solidFill>
              </a:rPr>
              <a:t>Feature Extraction (MFCC)</a:t>
            </a:r>
          </a:p>
        </p:txBody>
      </p:sp>
      <p:sp>
        <p:nvSpPr>
          <p:cNvPr id="51" name="Rectangle 50">
            <a:extLst>
              <a:ext uri="{FF2B5EF4-FFF2-40B4-BE49-F238E27FC236}">
                <a16:creationId xmlns:a16="http://schemas.microsoft.com/office/drawing/2014/main" id="{363AF5FD-E68C-73FD-1370-AB873CFD0DAD}"/>
              </a:ext>
            </a:extLst>
          </p:cNvPr>
          <p:cNvSpPr/>
          <p:nvPr/>
        </p:nvSpPr>
        <p:spPr>
          <a:xfrm>
            <a:off x="76914" y="996402"/>
            <a:ext cx="1807603" cy="962553"/>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dirty="0">
              <a:solidFill>
                <a:schemeClr val="bg2">
                  <a:lumMod val="10000"/>
                  <a:lumOff val="90000"/>
                </a:schemeClr>
              </a:solidFill>
            </a:endParaRPr>
          </a:p>
        </p:txBody>
      </p:sp>
      <p:sp>
        <p:nvSpPr>
          <p:cNvPr id="49" name="Google Shape;1109;p38">
            <a:extLst>
              <a:ext uri="{FF2B5EF4-FFF2-40B4-BE49-F238E27FC236}">
                <a16:creationId xmlns:a16="http://schemas.microsoft.com/office/drawing/2014/main" id="{5E264963-4DC8-4D69-DDBF-F66609118C3F}"/>
              </a:ext>
            </a:extLst>
          </p:cNvPr>
          <p:cNvSpPr txBox="1">
            <a:spLocks/>
          </p:cNvSpPr>
          <p:nvPr/>
        </p:nvSpPr>
        <p:spPr>
          <a:xfrm>
            <a:off x="-29897" y="966839"/>
            <a:ext cx="2017409" cy="9287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Load the dataset using the </a:t>
            </a:r>
            <a:r>
              <a:rPr lang="en-GB" sz="800" dirty="0" err="1"/>
              <a:t>filepath</a:t>
            </a:r>
            <a:r>
              <a:rPr lang="en-GB" sz="800" dirty="0"/>
              <a:t> attached.</a:t>
            </a:r>
          </a:p>
          <a:p>
            <a:pPr marL="0" indent="0" algn="ctr">
              <a:lnSpc>
                <a:spcPct val="100000"/>
              </a:lnSpc>
              <a:spcAft>
                <a:spcPts val="800"/>
              </a:spcAft>
              <a:buNone/>
            </a:pPr>
            <a:r>
              <a:rPr lang="en-GB" sz="800" dirty="0"/>
              <a:t>Metadata file includes information about each audio file, such as the class label, file name, and the fold number where the file is stored.</a:t>
            </a:r>
          </a:p>
        </p:txBody>
      </p:sp>
      <p:sp>
        <p:nvSpPr>
          <p:cNvPr id="53" name="Rectangle 52">
            <a:extLst>
              <a:ext uri="{FF2B5EF4-FFF2-40B4-BE49-F238E27FC236}">
                <a16:creationId xmlns:a16="http://schemas.microsoft.com/office/drawing/2014/main" id="{E3701D04-401D-44DC-F0B3-85B1853A20FD}"/>
              </a:ext>
            </a:extLst>
          </p:cNvPr>
          <p:cNvSpPr/>
          <p:nvPr/>
        </p:nvSpPr>
        <p:spPr>
          <a:xfrm>
            <a:off x="1053731" y="3573179"/>
            <a:ext cx="1807603" cy="1402233"/>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55" name="Google Shape;1112;p38">
            <a:extLst>
              <a:ext uri="{FF2B5EF4-FFF2-40B4-BE49-F238E27FC236}">
                <a16:creationId xmlns:a16="http://schemas.microsoft.com/office/drawing/2014/main" id="{9C969758-FDDE-412D-ACD4-25AA2F46A173}"/>
              </a:ext>
            </a:extLst>
          </p:cNvPr>
          <p:cNvSpPr txBox="1">
            <a:spLocks/>
          </p:cNvSpPr>
          <p:nvPr/>
        </p:nvSpPr>
        <p:spPr>
          <a:xfrm>
            <a:off x="2713731" y="3006643"/>
            <a:ext cx="1415360"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rgbClr val="FF9973"/>
                </a:solidFill>
              </a:rPr>
              <a:t>Iteration through metadata</a:t>
            </a:r>
          </a:p>
        </p:txBody>
      </p:sp>
      <p:cxnSp>
        <p:nvCxnSpPr>
          <p:cNvPr id="56" name="Google Shape;1086;p38">
            <a:extLst>
              <a:ext uri="{FF2B5EF4-FFF2-40B4-BE49-F238E27FC236}">
                <a16:creationId xmlns:a16="http://schemas.microsoft.com/office/drawing/2014/main" id="{58F89951-E956-6AE2-A9C7-B933A826E7DB}"/>
              </a:ext>
            </a:extLst>
          </p:cNvPr>
          <p:cNvCxnSpPr>
            <a:cxnSpLocks/>
          </p:cNvCxnSpPr>
          <p:nvPr/>
        </p:nvCxnSpPr>
        <p:spPr>
          <a:xfrm>
            <a:off x="6313799" y="1223096"/>
            <a:ext cx="0" cy="1475174"/>
          </a:xfrm>
          <a:prstGeom prst="straightConnector1">
            <a:avLst/>
          </a:prstGeom>
          <a:noFill/>
          <a:ln w="19050" cap="flat" cmpd="sng">
            <a:solidFill>
              <a:schemeClr val="lt2"/>
            </a:solidFill>
            <a:prstDash val="solid"/>
            <a:round/>
            <a:headEnd type="none" w="med" len="med"/>
            <a:tailEnd type="none" w="med" len="med"/>
          </a:ln>
        </p:spPr>
      </p:cxnSp>
      <p:grpSp>
        <p:nvGrpSpPr>
          <p:cNvPr id="57" name="Google Shape;1092;p38">
            <a:extLst>
              <a:ext uri="{FF2B5EF4-FFF2-40B4-BE49-F238E27FC236}">
                <a16:creationId xmlns:a16="http://schemas.microsoft.com/office/drawing/2014/main" id="{E3F9D480-8CD7-A5A9-0F89-70D26B268D7C}"/>
              </a:ext>
            </a:extLst>
          </p:cNvPr>
          <p:cNvGrpSpPr/>
          <p:nvPr/>
        </p:nvGrpSpPr>
        <p:grpSpPr>
          <a:xfrm>
            <a:off x="6128612" y="2569970"/>
            <a:ext cx="373500" cy="373500"/>
            <a:chOff x="1372725" y="1912500"/>
            <a:chExt cx="373500" cy="373500"/>
          </a:xfrm>
          <a:solidFill>
            <a:srgbClr val="E898AC"/>
          </a:solidFill>
        </p:grpSpPr>
        <p:sp>
          <p:nvSpPr>
            <p:cNvPr id="58" name="Google Shape;1093;p38">
              <a:extLst>
                <a:ext uri="{FF2B5EF4-FFF2-40B4-BE49-F238E27FC236}">
                  <a16:creationId xmlns:a16="http://schemas.microsoft.com/office/drawing/2014/main" id="{0F0D36C4-5737-1764-3869-B952A9A7A2C5}"/>
                </a:ext>
              </a:extLst>
            </p:cNvPr>
            <p:cNvSpPr/>
            <p:nvPr/>
          </p:nvSpPr>
          <p:spPr>
            <a:xfrm>
              <a:off x="146406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1094;p38">
              <a:extLst>
                <a:ext uri="{FF2B5EF4-FFF2-40B4-BE49-F238E27FC236}">
                  <a16:creationId xmlns:a16="http://schemas.microsoft.com/office/drawing/2014/main" id="{4FDA227E-6B53-3EF5-317E-2DE15D78C84A}"/>
                </a:ext>
              </a:extLst>
            </p:cNvPr>
            <p:cNvSpPr/>
            <p:nvPr/>
          </p:nvSpPr>
          <p:spPr>
            <a:xfrm>
              <a:off x="1372725"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0" name="Google Shape;1087;p38">
            <a:extLst>
              <a:ext uri="{FF2B5EF4-FFF2-40B4-BE49-F238E27FC236}">
                <a16:creationId xmlns:a16="http://schemas.microsoft.com/office/drawing/2014/main" id="{A7C6FB20-C4C0-B526-85AB-28C4C44F76BE}"/>
              </a:ext>
            </a:extLst>
          </p:cNvPr>
          <p:cNvCxnSpPr>
            <a:cxnSpLocks/>
          </p:cNvCxnSpPr>
          <p:nvPr/>
        </p:nvCxnSpPr>
        <p:spPr>
          <a:xfrm flipH="1">
            <a:off x="7611312" y="2787565"/>
            <a:ext cx="8" cy="786584"/>
          </a:xfrm>
          <a:prstGeom prst="straightConnector1">
            <a:avLst/>
          </a:prstGeom>
          <a:noFill/>
          <a:ln w="19050" cap="flat" cmpd="sng">
            <a:solidFill>
              <a:schemeClr val="lt2"/>
            </a:solidFill>
            <a:prstDash val="solid"/>
            <a:round/>
            <a:headEnd type="none" w="med" len="med"/>
            <a:tailEnd type="none" w="med" len="med"/>
          </a:ln>
        </p:spPr>
      </p:cxnSp>
      <p:grpSp>
        <p:nvGrpSpPr>
          <p:cNvPr id="61" name="Google Shape;1095;p38">
            <a:extLst>
              <a:ext uri="{FF2B5EF4-FFF2-40B4-BE49-F238E27FC236}">
                <a16:creationId xmlns:a16="http://schemas.microsoft.com/office/drawing/2014/main" id="{6446F92A-73B6-166C-77EA-367141C19937}"/>
              </a:ext>
            </a:extLst>
          </p:cNvPr>
          <p:cNvGrpSpPr/>
          <p:nvPr/>
        </p:nvGrpSpPr>
        <p:grpSpPr>
          <a:xfrm>
            <a:off x="7424574" y="2570940"/>
            <a:ext cx="373500" cy="373500"/>
            <a:chOff x="3212675" y="1912500"/>
            <a:chExt cx="373500" cy="373500"/>
          </a:xfrm>
          <a:solidFill>
            <a:srgbClr val="FF9973"/>
          </a:solidFill>
        </p:grpSpPr>
        <p:sp>
          <p:nvSpPr>
            <p:cNvPr id="62" name="Google Shape;1096;p38">
              <a:extLst>
                <a:ext uri="{FF2B5EF4-FFF2-40B4-BE49-F238E27FC236}">
                  <a16:creationId xmlns:a16="http://schemas.microsoft.com/office/drawing/2014/main" id="{C5EF7DE7-125B-38A1-EE73-A6A73782617E}"/>
                </a:ext>
              </a:extLst>
            </p:cNvPr>
            <p:cNvSpPr/>
            <p:nvPr/>
          </p:nvSpPr>
          <p:spPr>
            <a:xfrm>
              <a:off x="330401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1097;p38">
              <a:extLst>
                <a:ext uri="{FF2B5EF4-FFF2-40B4-BE49-F238E27FC236}">
                  <a16:creationId xmlns:a16="http://schemas.microsoft.com/office/drawing/2014/main" id="{72A9DB7B-B713-C30E-6704-DB635EC6E87E}"/>
                </a:ext>
              </a:extLst>
            </p:cNvPr>
            <p:cNvSpPr/>
            <p:nvPr/>
          </p:nvSpPr>
          <p:spPr>
            <a:xfrm>
              <a:off x="3212675"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1" name="Rectangle 580">
            <a:extLst>
              <a:ext uri="{FF2B5EF4-FFF2-40B4-BE49-F238E27FC236}">
                <a16:creationId xmlns:a16="http://schemas.microsoft.com/office/drawing/2014/main" id="{8124641B-3F6A-B3C7-1051-AF92A5087986}"/>
              </a:ext>
            </a:extLst>
          </p:cNvPr>
          <p:cNvSpPr/>
          <p:nvPr/>
        </p:nvSpPr>
        <p:spPr>
          <a:xfrm>
            <a:off x="2583854" y="994378"/>
            <a:ext cx="1807603" cy="962553"/>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582" name="Google Shape;1109;p38">
            <a:extLst>
              <a:ext uri="{FF2B5EF4-FFF2-40B4-BE49-F238E27FC236}">
                <a16:creationId xmlns:a16="http://schemas.microsoft.com/office/drawing/2014/main" id="{5A563525-3225-7168-40B7-C4552A00EF8E}"/>
              </a:ext>
            </a:extLst>
          </p:cNvPr>
          <p:cNvSpPr txBox="1">
            <a:spLocks/>
          </p:cNvSpPr>
          <p:nvPr/>
        </p:nvSpPr>
        <p:spPr>
          <a:xfrm>
            <a:off x="2557152" y="964815"/>
            <a:ext cx="1834306" cy="9287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Extracts MFCC features for each audio sample using </a:t>
            </a:r>
            <a:r>
              <a:rPr lang="en-GB" sz="800" dirty="0" err="1"/>
              <a:t>features_extractor</a:t>
            </a:r>
            <a:r>
              <a:rPr lang="en-GB" sz="800" dirty="0"/>
              <a:t>. </a:t>
            </a:r>
          </a:p>
          <a:p>
            <a:pPr marL="0" indent="0" algn="ctr">
              <a:lnSpc>
                <a:spcPct val="100000"/>
              </a:lnSpc>
              <a:spcAft>
                <a:spcPts val="800"/>
              </a:spcAft>
              <a:buNone/>
            </a:pPr>
            <a:r>
              <a:rPr lang="en-GB" sz="800" dirty="0"/>
              <a:t>These features are stored alongside the corresponding class label in </a:t>
            </a:r>
            <a:r>
              <a:rPr lang="en-GB" sz="800" dirty="0" err="1"/>
              <a:t>extracted_features</a:t>
            </a:r>
            <a:r>
              <a:rPr lang="en-GB" sz="800" dirty="0"/>
              <a:t>.</a:t>
            </a:r>
          </a:p>
        </p:txBody>
      </p:sp>
      <p:sp>
        <p:nvSpPr>
          <p:cNvPr id="584" name="Google Shape;1113;p38">
            <a:extLst>
              <a:ext uri="{FF2B5EF4-FFF2-40B4-BE49-F238E27FC236}">
                <a16:creationId xmlns:a16="http://schemas.microsoft.com/office/drawing/2014/main" id="{ABA3D71F-9DF7-99D6-2389-78DF540A33D5}"/>
              </a:ext>
            </a:extLst>
          </p:cNvPr>
          <p:cNvSpPr txBox="1">
            <a:spLocks/>
          </p:cNvSpPr>
          <p:nvPr/>
        </p:nvSpPr>
        <p:spPr>
          <a:xfrm>
            <a:off x="4112153" y="2050305"/>
            <a:ext cx="1497807"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err="1">
                <a:solidFill>
                  <a:srgbClr val="00CFCC"/>
                </a:solidFill>
              </a:rPr>
              <a:t>Dataframes</a:t>
            </a:r>
            <a:r>
              <a:rPr lang="en-IN" sz="1400" b="1" dirty="0">
                <a:solidFill>
                  <a:srgbClr val="00CFCC"/>
                </a:solidFill>
              </a:rPr>
              <a:t> &amp; data for model </a:t>
            </a:r>
            <a:r>
              <a:rPr lang="en-IN" sz="1400" b="1" dirty="0" err="1">
                <a:solidFill>
                  <a:srgbClr val="00CFCC"/>
                </a:solidFill>
              </a:rPr>
              <a:t>i</a:t>
            </a:r>
            <a:r>
              <a:rPr lang="en-IN" sz="1400" b="1" dirty="0">
                <a:solidFill>
                  <a:srgbClr val="00CFCC"/>
                </a:solidFill>
              </a:rPr>
              <a:t>/p</a:t>
            </a:r>
          </a:p>
        </p:txBody>
      </p:sp>
      <p:sp>
        <p:nvSpPr>
          <p:cNvPr id="585" name="Google Shape;1109;p38">
            <a:extLst>
              <a:ext uri="{FF2B5EF4-FFF2-40B4-BE49-F238E27FC236}">
                <a16:creationId xmlns:a16="http://schemas.microsoft.com/office/drawing/2014/main" id="{40345632-2999-2DEF-DAED-85599B3C1A44}"/>
              </a:ext>
            </a:extLst>
          </p:cNvPr>
          <p:cNvSpPr txBox="1">
            <a:spLocks/>
          </p:cNvSpPr>
          <p:nvPr/>
        </p:nvSpPr>
        <p:spPr>
          <a:xfrm>
            <a:off x="3940709" y="3544851"/>
            <a:ext cx="1807603" cy="7865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Extracted features &amp; </a:t>
            </a:r>
            <a:r>
              <a:rPr lang="en-GB" sz="800" dirty="0" err="1"/>
              <a:t>corres</a:t>
            </a:r>
            <a:r>
              <a:rPr lang="en-GB" sz="800" dirty="0"/>
              <a:t>. Class labels are stored in Pandas </a:t>
            </a:r>
            <a:r>
              <a:rPr lang="en-GB" sz="800" dirty="0" err="1"/>
              <a:t>Dataframes</a:t>
            </a:r>
            <a:r>
              <a:rPr lang="en-GB" sz="800" dirty="0"/>
              <a:t>.</a:t>
            </a:r>
          </a:p>
          <a:p>
            <a:pPr marL="0" indent="0" algn="ctr">
              <a:lnSpc>
                <a:spcPct val="100000"/>
              </a:lnSpc>
              <a:spcAft>
                <a:spcPts val="800"/>
              </a:spcAft>
              <a:buNone/>
            </a:pPr>
            <a:r>
              <a:rPr lang="en-GB" sz="800" dirty="0"/>
              <a:t>The MFCCs &amp; labels are separated, and converted into </a:t>
            </a:r>
            <a:r>
              <a:rPr lang="en-GB" sz="800" dirty="0" err="1"/>
              <a:t>numpy</a:t>
            </a:r>
            <a:r>
              <a:rPr lang="en-GB" sz="800" dirty="0"/>
              <a:t> arrays.</a:t>
            </a:r>
          </a:p>
        </p:txBody>
      </p:sp>
      <p:sp>
        <p:nvSpPr>
          <p:cNvPr id="586" name="Rectangle 585">
            <a:extLst>
              <a:ext uri="{FF2B5EF4-FFF2-40B4-BE49-F238E27FC236}">
                <a16:creationId xmlns:a16="http://schemas.microsoft.com/office/drawing/2014/main" id="{285C676B-2475-9BC3-CACF-1804437B22F7}"/>
              </a:ext>
            </a:extLst>
          </p:cNvPr>
          <p:cNvSpPr/>
          <p:nvPr/>
        </p:nvSpPr>
        <p:spPr>
          <a:xfrm>
            <a:off x="3940725" y="3573426"/>
            <a:ext cx="1807603" cy="984926"/>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589" name="Rectangle 588">
            <a:extLst>
              <a:ext uri="{FF2B5EF4-FFF2-40B4-BE49-F238E27FC236}">
                <a16:creationId xmlns:a16="http://schemas.microsoft.com/office/drawing/2014/main" id="{6B5F17C4-73E2-DD91-2B3F-869AB4EA0389}"/>
              </a:ext>
            </a:extLst>
          </p:cNvPr>
          <p:cNvSpPr/>
          <p:nvPr/>
        </p:nvSpPr>
        <p:spPr>
          <a:xfrm>
            <a:off x="5506948" y="735063"/>
            <a:ext cx="1807603" cy="488033"/>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590" name="Google Shape;1109;p38">
            <a:extLst>
              <a:ext uri="{FF2B5EF4-FFF2-40B4-BE49-F238E27FC236}">
                <a16:creationId xmlns:a16="http://schemas.microsoft.com/office/drawing/2014/main" id="{1D6A2D67-DE37-AEB2-92BD-238075AF0E71}"/>
              </a:ext>
            </a:extLst>
          </p:cNvPr>
          <p:cNvSpPr txBox="1">
            <a:spLocks/>
          </p:cNvSpPr>
          <p:nvPr/>
        </p:nvSpPr>
        <p:spPr>
          <a:xfrm>
            <a:off x="5506940" y="687913"/>
            <a:ext cx="1807603" cy="4880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Convert string labels into numeric format mapping each classes into integer.</a:t>
            </a:r>
          </a:p>
        </p:txBody>
      </p:sp>
      <p:sp>
        <p:nvSpPr>
          <p:cNvPr id="591" name="Google Shape;1112;p38">
            <a:extLst>
              <a:ext uri="{FF2B5EF4-FFF2-40B4-BE49-F238E27FC236}">
                <a16:creationId xmlns:a16="http://schemas.microsoft.com/office/drawing/2014/main" id="{CE2D1D88-9296-73DA-CA87-512813242281}"/>
              </a:ext>
            </a:extLst>
          </p:cNvPr>
          <p:cNvSpPr txBox="1">
            <a:spLocks/>
          </p:cNvSpPr>
          <p:nvPr/>
        </p:nvSpPr>
        <p:spPr>
          <a:xfrm>
            <a:off x="5541758" y="3009149"/>
            <a:ext cx="1593430"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rgbClr val="E898AC"/>
                </a:solidFill>
              </a:rPr>
              <a:t>Label encoding &amp; one – Hot encoding</a:t>
            </a:r>
          </a:p>
        </p:txBody>
      </p:sp>
      <p:sp>
        <p:nvSpPr>
          <p:cNvPr id="592" name="Google Shape;1113;p38">
            <a:extLst>
              <a:ext uri="{FF2B5EF4-FFF2-40B4-BE49-F238E27FC236}">
                <a16:creationId xmlns:a16="http://schemas.microsoft.com/office/drawing/2014/main" id="{252280CA-FA04-0034-5F91-3DEEC25FBA16}"/>
              </a:ext>
            </a:extLst>
          </p:cNvPr>
          <p:cNvSpPr txBox="1">
            <a:spLocks/>
          </p:cNvSpPr>
          <p:nvPr/>
        </p:nvSpPr>
        <p:spPr>
          <a:xfrm>
            <a:off x="7061508" y="2052992"/>
            <a:ext cx="1099607"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rgbClr val="FF9973"/>
                </a:solidFill>
              </a:rPr>
              <a:t>Train – Test split</a:t>
            </a:r>
          </a:p>
        </p:txBody>
      </p:sp>
      <p:sp>
        <p:nvSpPr>
          <p:cNvPr id="593" name="Google Shape;1109;p38">
            <a:extLst>
              <a:ext uri="{FF2B5EF4-FFF2-40B4-BE49-F238E27FC236}">
                <a16:creationId xmlns:a16="http://schemas.microsoft.com/office/drawing/2014/main" id="{D28AC433-05E9-8230-7002-A063FAA68429}"/>
              </a:ext>
            </a:extLst>
          </p:cNvPr>
          <p:cNvSpPr txBox="1">
            <a:spLocks/>
          </p:cNvSpPr>
          <p:nvPr/>
        </p:nvSpPr>
        <p:spPr>
          <a:xfrm>
            <a:off x="6689618" y="3555447"/>
            <a:ext cx="1807603" cy="7865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The dataset is split into training and testing sets, using an 80-20 ratio. </a:t>
            </a:r>
          </a:p>
        </p:txBody>
      </p:sp>
      <p:sp>
        <p:nvSpPr>
          <p:cNvPr id="594" name="Rectangle 593">
            <a:extLst>
              <a:ext uri="{FF2B5EF4-FFF2-40B4-BE49-F238E27FC236}">
                <a16:creationId xmlns:a16="http://schemas.microsoft.com/office/drawing/2014/main" id="{04B219F5-47F9-55ED-C207-031F04668AAC}"/>
              </a:ext>
            </a:extLst>
          </p:cNvPr>
          <p:cNvSpPr/>
          <p:nvPr/>
        </p:nvSpPr>
        <p:spPr>
          <a:xfrm>
            <a:off x="6689634" y="3584022"/>
            <a:ext cx="1807603" cy="463932"/>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cxnSp>
        <p:nvCxnSpPr>
          <p:cNvPr id="595" name="Google Shape;1086;p38">
            <a:extLst>
              <a:ext uri="{FF2B5EF4-FFF2-40B4-BE49-F238E27FC236}">
                <a16:creationId xmlns:a16="http://schemas.microsoft.com/office/drawing/2014/main" id="{68596D70-97C4-263D-06B3-799610C4C29B}"/>
              </a:ext>
            </a:extLst>
          </p:cNvPr>
          <p:cNvCxnSpPr>
            <a:cxnSpLocks/>
          </p:cNvCxnSpPr>
          <p:nvPr/>
        </p:nvCxnSpPr>
        <p:spPr>
          <a:xfrm>
            <a:off x="8723942" y="1900143"/>
            <a:ext cx="0" cy="798127"/>
          </a:xfrm>
          <a:prstGeom prst="straightConnector1">
            <a:avLst/>
          </a:prstGeom>
          <a:noFill/>
          <a:ln w="19050" cap="flat" cmpd="sng">
            <a:solidFill>
              <a:schemeClr val="lt2"/>
            </a:solidFill>
            <a:prstDash val="solid"/>
            <a:round/>
            <a:headEnd type="none" w="med" len="med"/>
            <a:tailEnd type="none" w="med" len="med"/>
          </a:ln>
        </p:spPr>
      </p:cxnSp>
      <p:grpSp>
        <p:nvGrpSpPr>
          <p:cNvPr id="596" name="Google Shape;1092;p38">
            <a:extLst>
              <a:ext uri="{FF2B5EF4-FFF2-40B4-BE49-F238E27FC236}">
                <a16:creationId xmlns:a16="http://schemas.microsoft.com/office/drawing/2014/main" id="{FA3C5A1B-4777-DC27-CF8D-55BADB4EB87E}"/>
              </a:ext>
            </a:extLst>
          </p:cNvPr>
          <p:cNvGrpSpPr/>
          <p:nvPr/>
        </p:nvGrpSpPr>
        <p:grpSpPr>
          <a:xfrm>
            <a:off x="8545579" y="2569970"/>
            <a:ext cx="373500" cy="373500"/>
            <a:chOff x="1372725" y="1912500"/>
            <a:chExt cx="373500" cy="373500"/>
          </a:xfrm>
          <a:solidFill>
            <a:srgbClr val="00CFCC"/>
          </a:solidFill>
        </p:grpSpPr>
        <p:sp>
          <p:nvSpPr>
            <p:cNvPr id="597" name="Google Shape;1093;p38">
              <a:extLst>
                <a:ext uri="{FF2B5EF4-FFF2-40B4-BE49-F238E27FC236}">
                  <a16:creationId xmlns:a16="http://schemas.microsoft.com/office/drawing/2014/main" id="{FBA3899E-0D54-BCDB-A4CC-4F6CC6A97174}"/>
                </a:ext>
              </a:extLst>
            </p:cNvPr>
            <p:cNvSpPr/>
            <p:nvPr/>
          </p:nvSpPr>
          <p:spPr>
            <a:xfrm>
              <a:off x="146406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8" name="Google Shape;1094;p38">
              <a:extLst>
                <a:ext uri="{FF2B5EF4-FFF2-40B4-BE49-F238E27FC236}">
                  <a16:creationId xmlns:a16="http://schemas.microsoft.com/office/drawing/2014/main" id="{1FC697CA-8B87-532E-2402-31E996AA45F3}"/>
                </a:ext>
              </a:extLst>
            </p:cNvPr>
            <p:cNvSpPr/>
            <p:nvPr/>
          </p:nvSpPr>
          <p:spPr>
            <a:xfrm>
              <a:off x="1372725"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9" name="Google Shape;1112;p38">
            <a:extLst>
              <a:ext uri="{FF2B5EF4-FFF2-40B4-BE49-F238E27FC236}">
                <a16:creationId xmlns:a16="http://schemas.microsoft.com/office/drawing/2014/main" id="{C06BE4C5-9740-FB4C-2261-2D19C83C6A9D}"/>
              </a:ext>
            </a:extLst>
          </p:cNvPr>
          <p:cNvSpPr txBox="1">
            <a:spLocks/>
          </p:cNvSpPr>
          <p:nvPr/>
        </p:nvSpPr>
        <p:spPr>
          <a:xfrm>
            <a:off x="8080754" y="3006792"/>
            <a:ext cx="1286400"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chemeClr val="accent2"/>
                </a:solidFill>
              </a:rPr>
              <a:t>Reshaping</a:t>
            </a:r>
          </a:p>
        </p:txBody>
      </p:sp>
      <p:sp>
        <p:nvSpPr>
          <p:cNvPr id="600" name="Rectangle 599">
            <a:extLst>
              <a:ext uri="{FF2B5EF4-FFF2-40B4-BE49-F238E27FC236}">
                <a16:creationId xmlns:a16="http://schemas.microsoft.com/office/drawing/2014/main" id="{E3E75D1C-840B-9F87-B03D-993BF68685E7}"/>
              </a:ext>
            </a:extLst>
          </p:cNvPr>
          <p:cNvSpPr/>
          <p:nvPr/>
        </p:nvSpPr>
        <p:spPr>
          <a:xfrm>
            <a:off x="7257061" y="1412110"/>
            <a:ext cx="1807603" cy="488033"/>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655" name="Google Shape;1109;p38">
            <a:extLst>
              <a:ext uri="{FF2B5EF4-FFF2-40B4-BE49-F238E27FC236}">
                <a16:creationId xmlns:a16="http://schemas.microsoft.com/office/drawing/2014/main" id="{8F61B73C-D005-158C-965D-CCE7E28453CF}"/>
              </a:ext>
            </a:extLst>
          </p:cNvPr>
          <p:cNvSpPr txBox="1">
            <a:spLocks/>
          </p:cNvSpPr>
          <p:nvPr/>
        </p:nvSpPr>
        <p:spPr>
          <a:xfrm>
            <a:off x="7257053" y="1364960"/>
            <a:ext cx="1807603" cy="4880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The model expects input data in 4D shape (samples, height, width, channels).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32"/>
          <p:cNvSpPr txBox="1">
            <a:spLocks noGrp="1"/>
          </p:cNvSpPr>
          <p:nvPr>
            <p:ph type="ctrTitle"/>
          </p:nvPr>
        </p:nvSpPr>
        <p:spPr>
          <a:xfrm>
            <a:off x="2031287" y="1742775"/>
            <a:ext cx="2622000" cy="8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DL Models</a:t>
            </a:r>
            <a:endParaRPr dirty="0"/>
          </a:p>
        </p:txBody>
      </p:sp>
      <p:sp>
        <p:nvSpPr>
          <p:cNvPr id="689" name="Google Shape;689;p32"/>
          <p:cNvSpPr txBox="1">
            <a:spLocks noGrp="1"/>
          </p:cNvSpPr>
          <p:nvPr>
            <p:ph type="subTitle" idx="1"/>
          </p:nvPr>
        </p:nvSpPr>
        <p:spPr>
          <a:xfrm>
            <a:off x="1791587" y="2417450"/>
            <a:ext cx="3101400" cy="104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Implemented Deep Learning models – ANN, CNN &amp; CRNN</a:t>
            </a:r>
            <a:endParaRPr dirty="0"/>
          </a:p>
        </p:txBody>
      </p:sp>
      <p:sp>
        <p:nvSpPr>
          <p:cNvPr id="690" name="Google Shape;690;p32"/>
          <p:cNvSpPr/>
          <p:nvPr/>
        </p:nvSpPr>
        <p:spPr>
          <a:xfrm>
            <a:off x="5782875" y="1868575"/>
            <a:ext cx="10851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2"/>
          <p:cNvSpPr txBox="1">
            <a:spLocks noGrp="1"/>
          </p:cNvSpPr>
          <p:nvPr>
            <p:ph type="title" idx="2"/>
          </p:nvPr>
        </p:nvSpPr>
        <p:spPr>
          <a:xfrm>
            <a:off x="5834900" y="2122225"/>
            <a:ext cx="9810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dk2"/>
                </a:solidFill>
              </a:rPr>
              <a:t>02</a:t>
            </a:r>
            <a:endParaRPr dirty="0">
              <a:solidFill>
                <a:schemeClr val="dk2"/>
              </a:solidFill>
            </a:endParaRPr>
          </a:p>
        </p:txBody>
      </p:sp>
      <p:sp>
        <p:nvSpPr>
          <p:cNvPr id="692" name="Google Shape;692;p32"/>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2"/>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4" name="Google Shape;694;p32"/>
          <p:cNvCxnSpPr>
            <a:stCxn id="690" idx="2"/>
          </p:cNvCxnSpPr>
          <p:nvPr/>
        </p:nvCxnSpPr>
        <p:spPr>
          <a:xfrm>
            <a:off x="6325425" y="2953675"/>
            <a:ext cx="0" cy="978000"/>
          </a:xfrm>
          <a:prstGeom prst="straightConnector1">
            <a:avLst/>
          </a:prstGeom>
          <a:noFill/>
          <a:ln w="19050" cap="flat" cmpd="sng">
            <a:solidFill>
              <a:schemeClr val="accent2"/>
            </a:solidFill>
            <a:prstDash val="solid"/>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0">
          <a:extLst>
            <a:ext uri="{FF2B5EF4-FFF2-40B4-BE49-F238E27FC236}">
              <a16:creationId xmlns:a16="http://schemas.microsoft.com/office/drawing/2014/main" id="{48A73A63-F739-E476-0439-2245D0DEEEEC}"/>
            </a:ext>
          </a:extLst>
        </p:cNvPr>
        <p:cNvGrpSpPr/>
        <p:nvPr/>
      </p:nvGrpSpPr>
      <p:grpSpPr>
        <a:xfrm>
          <a:off x="0" y="0"/>
          <a:ext cx="0" cy="0"/>
          <a:chOff x="0" y="0"/>
          <a:chExt cx="0" cy="0"/>
        </a:xfrm>
      </p:grpSpPr>
      <p:sp>
        <p:nvSpPr>
          <p:cNvPr id="601" name="Google Shape;601;p30">
            <a:extLst>
              <a:ext uri="{FF2B5EF4-FFF2-40B4-BE49-F238E27FC236}">
                <a16:creationId xmlns:a16="http://schemas.microsoft.com/office/drawing/2014/main" id="{5316CB9D-4A2A-598B-50D4-731D48C7EBC4}"/>
              </a:ext>
            </a:extLst>
          </p:cNvPr>
          <p:cNvSpPr txBox="1">
            <a:spLocks noGrp="1"/>
          </p:cNvSpPr>
          <p:nvPr>
            <p:ph type="ctrTitle" idx="8"/>
          </p:nvPr>
        </p:nvSpPr>
        <p:spPr>
          <a:xfrm>
            <a:off x="331250" y="206248"/>
            <a:ext cx="5888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ANN ARCHITECTURE</a:t>
            </a:r>
            <a:endParaRPr sz="3000" dirty="0"/>
          </a:p>
        </p:txBody>
      </p:sp>
      <p:cxnSp>
        <p:nvCxnSpPr>
          <p:cNvPr id="18" name="Google Shape;1086;p38">
            <a:extLst>
              <a:ext uri="{FF2B5EF4-FFF2-40B4-BE49-F238E27FC236}">
                <a16:creationId xmlns:a16="http://schemas.microsoft.com/office/drawing/2014/main" id="{EB0CF9C7-704E-B49E-0BC2-896B5337CF74}"/>
              </a:ext>
            </a:extLst>
          </p:cNvPr>
          <p:cNvCxnSpPr>
            <a:cxnSpLocks/>
          </p:cNvCxnSpPr>
          <p:nvPr/>
        </p:nvCxnSpPr>
        <p:spPr>
          <a:xfrm>
            <a:off x="683005" y="2478105"/>
            <a:ext cx="0" cy="220165"/>
          </a:xfrm>
          <a:prstGeom prst="straightConnector1">
            <a:avLst/>
          </a:prstGeom>
          <a:noFill/>
          <a:ln w="19050" cap="flat" cmpd="sng">
            <a:solidFill>
              <a:schemeClr val="lt2"/>
            </a:solidFill>
            <a:prstDash val="solid"/>
            <a:round/>
            <a:headEnd type="none" w="med" len="med"/>
            <a:tailEnd type="none" w="med" len="med"/>
          </a:ln>
        </p:spPr>
      </p:cxnSp>
      <p:cxnSp>
        <p:nvCxnSpPr>
          <p:cNvPr id="19" name="Google Shape;1087;p38">
            <a:extLst>
              <a:ext uri="{FF2B5EF4-FFF2-40B4-BE49-F238E27FC236}">
                <a16:creationId xmlns:a16="http://schemas.microsoft.com/office/drawing/2014/main" id="{489435C0-16B8-4E6C-5988-51F6E6966EC7}"/>
              </a:ext>
            </a:extLst>
          </p:cNvPr>
          <p:cNvCxnSpPr>
            <a:cxnSpLocks/>
            <a:endCxn id="53" idx="0"/>
          </p:cNvCxnSpPr>
          <p:nvPr/>
        </p:nvCxnSpPr>
        <p:spPr>
          <a:xfrm flipH="1">
            <a:off x="2892026" y="2786595"/>
            <a:ext cx="8" cy="339954"/>
          </a:xfrm>
          <a:prstGeom prst="straightConnector1">
            <a:avLst/>
          </a:prstGeom>
          <a:noFill/>
          <a:ln w="19050" cap="flat" cmpd="sng">
            <a:solidFill>
              <a:schemeClr val="lt2"/>
            </a:solidFill>
            <a:prstDash val="solid"/>
            <a:round/>
            <a:headEnd type="none" w="med" len="med"/>
            <a:tailEnd type="none" w="med" len="med"/>
          </a:ln>
        </p:spPr>
      </p:cxnSp>
      <p:cxnSp>
        <p:nvCxnSpPr>
          <p:cNvPr id="20" name="Google Shape;1088;p38">
            <a:extLst>
              <a:ext uri="{FF2B5EF4-FFF2-40B4-BE49-F238E27FC236}">
                <a16:creationId xmlns:a16="http://schemas.microsoft.com/office/drawing/2014/main" id="{9802588A-6D59-7A69-5A4A-9D8667B8DC69}"/>
              </a:ext>
            </a:extLst>
          </p:cNvPr>
          <p:cNvCxnSpPr>
            <a:cxnSpLocks/>
          </p:cNvCxnSpPr>
          <p:nvPr/>
        </p:nvCxnSpPr>
        <p:spPr>
          <a:xfrm>
            <a:off x="4533860" y="2441945"/>
            <a:ext cx="0" cy="303734"/>
          </a:xfrm>
          <a:prstGeom prst="straightConnector1">
            <a:avLst/>
          </a:prstGeom>
          <a:noFill/>
          <a:ln w="19050" cap="flat" cmpd="sng">
            <a:solidFill>
              <a:schemeClr val="lt2"/>
            </a:solidFill>
            <a:prstDash val="solid"/>
            <a:round/>
            <a:headEnd type="none" w="med" len="med"/>
            <a:tailEnd type="none" w="med" len="med"/>
          </a:ln>
        </p:spPr>
      </p:cxnSp>
      <p:cxnSp>
        <p:nvCxnSpPr>
          <p:cNvPr id="22" name="Google Shape;1091;p38">
            <a:extLst>
              <a:ext uri="{FF2B5EF4-FFF2-40B4-BE49-F238E27FC236}">
                <a16:creationId xmlns:a16="http://schemas.microsoft.com/office/drawing/2014/main" id="{649064C5-3E42-D45D-37B9-B4963C2C52F2}"/>
              </a:ext>
            </a:extLst>
          </p:cNvPr>
          <p:cNvCxnSpPr>
            <a:cxnSpLocks/>
          </p:cNvCxnSpPr>
          <p:nvPr/>
        </p:nvCxnSpPr>
        <p:spPr>
          <a:xfrm>
            <a:off x="0" y="2756720"/>
            <a:ext cx="8722468" cy="29718"/>
          </a:xfrm>
          <a:prstGeom prst="straightConnector1">
            <a:avLst/>
          </a:prstGeom>
          <a:noFill/>
          <a:ln w="19050" cap="flat" cmpd="sng">
            <a:solidFill>
              <a:schemeClr val="lt2"/>
            </a:solidFill>
            <a:prstDash val="solid"/>
            <a:round/>
            <a:headEnd type="none" w="med" len="med"/>
            <a:tailEnd type="none" w="med" len="med"/>
          </a:ln>
        </p:spPr>
      </p:cxnSp>
      <p:grpSp>
        <p:nvGrpSpPr>
          <p:cNvPr id="23" name="Google Shape;1092;p38">
            <a:extLst>
              <a:ext uri="{FF2B5EF4-FFF2-40B4-BE49-F238E27FC236}">
                <a16:creationId xmlns:a16="http://schemas.microsoft.com/office/drawing/2014/main" id="{0F67D75E-60CD-754B-B9FD-E513AE6A0DBD}"/>
              </a:ext>
            </a:extLst>
          </p:cNvPr>
          <p:cNvGrpSpPr/>
          <p:nvPr/>
        </p:nvGrpSpPr>
        <p:grpSpPr>
          <a:xfrm>
            <a:off x="504642" y="2569970"/>
            <a:ext cx="373500" cy="373500"/>
            <a:chOff x="1372725" y="1912500"/>
            <a:chExt cx="373500" cy="373500"/>
          </a:xfrm>
          <a:solidFill>
            <a:srgbClr val="00CFCC"/>
          </a:solidFill>
        </p:grpSpPr>
        <p:sp>
          <p:nvSpPr>
            <p:cNvPr id="24" name="Google Shape;1093;p38">
              <a:extLst>
                <a:ext uri="{FF2B5EF4-FFF2-40B4-BE49-F238E27FC236}">
                  <a16:creationId xmlns:a16="http://schemas.microsoft.com/office/drawing/2014/main" id="{6C89224A-59ED-423E-2E3F-CD2F1665B07A}"/>
                </a:ext>
              </a:extLst>
            </p:cNvPr>
            <p:cNvSpPr/>
            <p:nvPr/>
          </p:nvSpPr>
          <p:spPr>
            <a:xfrm>
              <a:off x="146406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094;p38">
              <a:extLst>
                <a:ext uri="{FF2B5EF4-FFF2-40B4-BE49-F238E27FC236}">
                  <a16:creationId xmlns:a16="http://schemas.microsoft.com/office/drawing/2014/main" id="{DAE7F5C0-BD85-5D79-DCF5-2CEB6EEE0AB0}"/>
                </a:ext>
              </a:extLst>
            </p:cNvPr>
            <p:cNvSpPr/>
            <p:nvPr/>
          </p:nvSpPr>
          <p:spPr>
            <a:xfrm>
              <a:off x="1372725"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1095;p38">
            <a:extLst>
              <a:ext uri="{FF2B5EF4-FFF2-40B4-BE49-F238E27FC236}">
                <a16:creationId xmlns:a16="http://schemas.microsoft.com/office/drawing/2014/main" id="{E675F0D6-7E20-1767-5D80-C727F382D978}"/>
              </a:ext>
            </a:extLst>
          </p:cNvPr>
          <p:cNvGrpSpPr/>
          <p:nvPr/>
        </p:nvGrpSpPr>
        <p:grpSpPr>
          <a:xfrm>
            <a:off x="2705288" y="2569970"/>
            <a:ext cx="373500" cy="373500"/>
            <a:chOff x="3212675" y="1912500"/>
            <a:chExt cx="373500" cy="373500"/>
          </a:xfrm>
          <a:solidFill>
            <a:srgbClr val="E898AC"/>
          </a:solidFill>
        </p:grpSpPr>
        <p:sp>
          <p:nvSpPr>
            <p:cNvPr id="27" name="Google Shape;1096;p38">
              <a:extLst>
                <a:ext uri="{FF2B5EF4-FFF2-40B4-BE49-F238E27FC236}">
                  <a16:creationId xmlns:a16="http://schemas.microsoft.com/office/drawing/2014/main" id="{B3AD63FB-CB34-BE58-A0D0-EE1E590101D4}"/>
                </a:ext>
              </a:extLst>
            </p:cNvPr>
            <p:cNvSpPr/>
            <p:nvPr/>
          </p:nvSpPr>
          <p:spPr>
            <a:xfrm>
              <a:off x="330401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097;p38">
              <a:extLst>
                <a:ext uri="{FF2B5EF4-FFF2-40B4-BE49-F238E27FC236}">
                  <a16:creationId xmlns:a16="http://schemas.microsoft.com/office/drawing/2014/main" id="{81EB58BF-594C-A2D8-A9C5-95AAF5E703BA}"/>
                </a:ext>
              </a:extLst>
            </p:cNvPr>
            <p:cNvSpPr/>
            <p:nvPr/>
          </p:nvSpPr>
          <p:spPr>
            <a:xfrm>
              <a:off x="3212675"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098;p38">
            <a:extLst>
              <a:ext uri="{FF2B5EF4-FFF2-40B4-BE49-F238E27FC236}">
                <a16:creationId xmlns:a16="http://schemas.microsoft.com/office/drawing/2014/main" id="{815765FD-ACE1-55D0-A9E2-CD20465DBC67}"/>
              </a:ext>
            </a:extLst>
          </p:cNvPr>
          <p:cNvGrpSpPr/>
          <p:nvPr/>
        </p:nvGrpSpPr>
        <p:grpSpPr>
          <a:xfrm>
            <a:off x="4347122" y="2569970"/>
            <a:ext cx="373500" cy="373500"/>
            <a:chOff x="5557850" y="1912500"/>
            <a:chExt cx="373500" cy="373500"/>
          </a:xfrm>
          <a:solidFill>
            <a:srgbClr val="FF9973"/>
          </a:solidFill>
        </p:grpSpPr>
        <p:sp>
          <p:nvSpPr>
            <p:cNvPr id="30" name="Google Shape;1099;p38">
              <a:extLst>
                <a:ext uri="{FF2B5EF4-FFF2-40B4-BE49-F238E27FC236}">
                  <a16:creationId xmlns:a16="http://schemas.microsoft.com/office/drawing/2014/main" id="{2210043E-2DAE-792D-264F-71CC06070DC9}"/>
                </a:ext>
              </a:extLst>
            </p:cNvPr>
            <p:cNvSpPr/>
            <p:nvPr/>
          </p:nvSpPr>
          <p:spPr>
            <a:xfrm>
              <a:off x="5649188"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CFCC"/>
                </a:solidFill>
              </a:endParaRPr>
            </a:p>
          </p:txBody>
        </p:sp>
        <p:sp>
          <p:nvSpPr>
            <p:cNvPr id="31" name="Google Shape;1100;p38">
              <a:extLst>
                <a:ext uri="{FF2B5EF4-FFF2-40B4-BE49-F238E27FC236}">
                  <a16:creationId xmlns:a16="http://schemas.microsoft.com/office/drawing/2014/main" id="{6768DAE5-4195-76A2-1F61-4CCE31982304}"/>
                </a:ext>
              </a:extLst>
            </p:cNvPr>
            <p:cNvSpPr/>
            <p:nvPr/>
          </p:nvSpPr>
          <p:spPr>
            <a:xfrm>
              <a:off x="5557850"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1109;p38">
            <a:extLst>
              <a:ext uri="{FF2B5EF4-FFF2-40B4-BE49-F238E27FC236}">
                <a16:creationId xmlns:a16="http://schemas.microsoft.com/office/drawing/2014/main" id="{2249DF91-CE6A-CF36-A6EC-DDEB83CBA2CB}"/>
              </a:ext>
            </a:extLst>
          </p:cNvPr>
          <p:cNvSpPr txBox="1">
            <a:spLocks/>
          </p:cNvSpPr>
          <p:nvPr/>
        </p:nvSpPr>
        <p:spPr>
          <a:xfrm>
            <a:off x="1988208" y="3097974"/>
            <a:ext cx="1807615" cy="14137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Loss Function - Binary Cross-Entropy Loss is used, suitable for multi-class classification with one-hot encoded labels.</a:t>
            </a:r>
          </a:p>
          <a:p>
            <a:pPr marL="0" indent="0" algn="ctr">
              <a:lnSpc>
                <a:spcPct val="100000"/>
              </a:lnSpc>
              <a:spcAft>
                <a:spcPts val="800"/>
              </a:spcAft>
              <a:buNone/>
            </a:pPr>
            <a:r>
              <a:rPr lang="en-GB" sz="800" dirty="0"/>
              <a:t>Training Parameters – Batch size 32 and epochs is 100 iterations. A model checkpoint is implemented to save the best-performing model during training, based on validation accuracy. </a:t>
            </a:r>
          </a:p>
        </p:txBody>
      </p:sp>
      <p:sp>
        <p:nvSpPr>
          <p:cNvPr id="43" name="Google Shape;1112;p38">
            <a:extLst>
              <a:ext uri="{FF2B5EF4-FFF2-40B4-BE49-F238E27FC236}">
                <a16:creationId xmlns:a16="http://schemas.microsoft.com/office/drawing/2014/main" id="{6546B09E-2DAE-A303-C299-0DE7EF920B97}"/>
              </a:ext>
            </a:extLst>
          </p:cNvPr>
          <p:cNvSpPr txBox="1">
            <a:spLocks/>
          </p:cNvSpPr>
          <p:nvPr/>
        </p:nvSpPr>
        <p:spPr>
          <a:xfrm>
            <a:off x="39817" y="3006792"/>
            <a:ext cx="1286400"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chemeClr val="accent2"/>
                </a:solidFill>
              </a:rPr>
              <a:t>ANN Layers</a:t>
            </a:r>
          </a:p>
        </p:txBody>
      </p:sp>
      <p:sp>
        <p:nvSpPr>
          <p:cNvPr id="44" name="Google Shape;1113;p38">
            <a:extLst>
              <a:ext uri="{FF2B5EF4-FFF2-40B4-BE49-F238E27FC236}">
                <a16:creationId xmlns:a16="http://schemas.microsoft.com/office/drawing/2014/main" id="{92C83504-548A-8173-1692-05A5B7E9C1FB}"/>
              </a:ext>
            </a:extLst>
          </p:cNvPr>
          <p:cNvSpPr txBox="1">
            <a:spLocks/>
          </p:cNvSpPr>
          <p:nvPr/>
        </p:nvSpPr>
        <p:spPr>
          <a:xfrm>
            <a:off x="2362115" y="2111263"/>
            <a:ext cx="1078159"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chemeClr val="accent1"/>
                </a:solidFill>
              </a:rPr>
              <a:t>Training ANN</a:t>
            </a:r>
          </a:p>
        </p:txBody>
      </p:sp>
      <p:sp>
        <p:nvSpPr>
          <p:cNvPr id="51" name="Rectangle 50">
            <a:extLst>
              <a:ext uri="{FF2B5EF4-FFF2-40B4-BE49-F238E27FC236}">
                <a16:creationId xmlns:a16="http://schemas.microsoft.com/office/drawing/2014/main" id="{7CC68903-4910-41F6-C0E3-506F5B79B9C8}"/>
              </a:ext>
            </a:extLst>
          </p:cNvPr>
          <p:cNvSpPr/>
          <p:nvPr/>
        </p:nvSpPr>
        <p:spPr>
          <a:xfrm>
            <a:off x="174727" y="842498"/>
            <a:ext cx="2128791" cy="1639793"/>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49" name="Google Shape;1109;p38">
            <a:extLst>
              <a:ext uri="{FF2B5EF4-FFF2-40B4-BE49-F238E27FC236}">
                <a16:creationId xmlns:a16="http://schemas.microsoft.com/office/drawing/2014/main" id="{23F8A85C-4CA1-116A-1201-E39ACFC7AF1F}"/>
              </a:ext>
            </a:extLst>
          </p:cNvPr>
          <p:cNvSpPr txBox="1">
            <a:spLocks/>
          </p:cNvSpPr>
          <p:nvPr/>
        </p:nvSpPr>
        <p:spPr>
          <a:xfrm>
            <a:off x="174726" y="784048"/>
            <a:ext cx="2155723" cy="160637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Input Layers – Accepts 1D </a:t>
            </a:r>
            <a:r>
              <a:rPr lang="en-GB" sz="800" dirty="0" err="1"/>
              <a:t>i</a:t>
            </a:r>
            <a:r>
              <a:rPr lang="en-GB" sz="800" dirty="0"/>
              <a:t>/p vector of size 40 (MFCC feature). Starting point for feature processing.</a:t>
            </a:r>
          </a:p>
          <a:p>
            <a:pPr marL="0" indent="0" algn="ctr">
              <a:lnSpc>
                <a:spcPct val="100000"/>
              </a:lnSpc>
              <a:spcAft>
                <a:spcPts val="800"/>
              </a:spcAft>
              <a:buNone/>
            </a:pPr>
            <a:r>
              <a:rPr lang="en-GB" sz="800" dirty="0"/>
              <a:t>Hidden Layers – Consists of three hidden layers with dense layers of 100, 200, 100 neurons. </a:t>
            </a:r>
            <a:r>
              <a:rPr lang="en-GB" sz="800" dirty="0" err="1"/>
              <a:t>ReLU</a:t>
            </a:r>
            <a:r>
              <a:rPr lang="en-GB" sz="800" dirty="0"/>
              <a:t> is used as activation function. Dropout rate is 0.5.</a:t>
            </a:r>
          </a:p>
          <a:p>
            <a:pPr marL="0" indent="0" algn="ctr">
              <a:lnSpc>
                <a:spcPct val="100000"/>
              </a:lnSpc>
              <a:spcAft>
                <a:spcPts val="800"/>
              </a:spcAft>
              <a:buNone/>
            </a:pPr>
            <a:r>
              <a:rPr lang="en-GB" sz="800" dirty="0"/>
              <a:t>Output Layer - Number of neurons equals the number of output classes. </a:t>
            </a:r>
            <a:r>
              <a:rPr lang="en-GB" sz="800" dirty="0" err="1"/>
              <a:t>Softmax</a:t>
            </a:r>
            <a:r>
              <a:rPr lang="en-GB" sz="800" dirty="0"/>
              <a:t> to produce a probability distribution over the classes.</a:t>
            </a:r>
          </a:p>
        </p:txBody>
      </p:sp>
      <p:sp>
        <p:nvSpPr>
          <p:cNvPr id="53" name="Rectangle 52">
            <a:extLst>
              <a:ext uri="{FF2B5EF4-FFF2-40B4-BE49-F238E27FC236}">
                <a16:creationId xmlns:a16="http://schemas.microsoft.com/office/drawing/2014/main" id="{C37010EE-9253-ADDC-02B1-0007F5C8E24F}"/>
              </a:ext>
            </a:extLst>
          </p:cNvPr>
          <p:cNvSpPr/>
          <p:nvPr/>
        </p:nvSpPr>
        <p:spPr>
          <a:xfrm>
            <a:off x="1988224" y="3126549"/>
            <a:ext cx="1807603" cy="1483551"/>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55" name="Google Shape;1112;p38">
            <a:extLst>
              <a:ext uri="{FF2B5EF4-FFF2-40B4-BE49-F238E27FC236}">
                <a16:creationId xmlns:a16="http://schemas.microsoft.com/office/drawing/2014/main" id="{9700A9B6-8752-324B-71C4-CBDB1BA7E7B5}"/>
              </a:ext>
            </a:extLst>
          </p:cNvPr>
          <p:cNvSpPr txBox="1">
            <a:spLocks/>
          </p:cNvSpPr>
          <p:nvPr/>
        </p:nvSpPr>
        <p:spPr>
          <a:xfrm>
            <a:off x="4041354" y="3006643"/>
            <a:ext cx="1000514"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rgbClr val="FF9973"/>
                </a:solidFill>
              </a:rPr>
              <a:t>Predictions</a:t>
            </a:r>
          </a:p>
        </p:txBody>
      </p:sp>
      <p:sp>
        <p:nvSpPr>
          <p:cNvPr id="581" name="Rectangle 580">
            <a:extLst>
              <a:ext uri="{FF2B5EF4-FFF2-40B4-BE49-F238E27FC236}">
                <a16:creationId xmlns:a16="http://schemas.microsoft.com/office/drawing/2014/main" id="{3C1BB6CB-7DC3-1779-5801-7A286B9EF1AA}"/>
              </a:ext>
            </a:extLst>
          </p:cNvPr>
          <p:cNvSpPr/>
          <p:nvPr/>
        </p:nvSpPr>
        <p:spPr>
          <a:xfrm>
            <a:off x="3672766" y="842498"/>
            <a:ext cx="1807603" cy="1604305"/>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582" name="Google Shape;1109;p38">
            <a:extLst>
              <a:ext uri="{FF2B5EF4-FFF2-40B4-BE49-F238E27FC236}">
                <a16:creationId xmlns:a16="http://schemas.microsoft.com/office/drawing/2014/main" id="{23E51EB9-1AD6-BF6E-4296-CEE6EAB1A9CA}"/>
              </a:ext>
            </a:extLst>
          </p:cNvPr>
          <p:cNvSpPr txBox="1">
            <a:spLocks/>
          </p:cNvSpPr>
          <p:nvPr/>
        </p:nvSpPr>
        <p:spPr>
          <a:xfrm>
            <a:off x="3646064" y="842498"/>
            <a:ext cx="1834306" cy="14803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Feature Extraction - For a new audio file, MFCCs are extracted and scaled similarly to the training data. The feature vector is reshaped to match the input dimensions of the ANN.</a:t>
            </a:r>
          </a:p>
          <a:p>
            <a:pPr marL="0" indent="0" algn="ctr">
              <a:lnSpc>
                <a:spcPct val="100000"/>
              </a:lnSpc>
              <a:spcAft>
                <a:spcPts val="800"/>
              </a:spcAft>
              <a:buNone/>
            </a:pPr>
            <a:r>
              <a:rPr lang="en-GB" sz="800" dirty="0"/>
              <a:t>Prediction - The numeric prediction is decoded back into the original class label for interpretability.</a:t>
            </a:r>
          </a:p>
        </p:txBody>
      </p:sp>
      <p:sp>
        <p:nvSpPr>
          <p:cNvPr id="7" name="Google Shape;435;p25">
            <a:extLst>
              <a:ext uri="{FF2B5EF4-FFF2-40B4-BE49-F238E27FC236}">
                <a16:creationId xmlns:a16="http://schemas.microsoft.com/office/drawing/2014/main" id="{771204CF-D185-9C5C-A387-6F44D0CC4C15}"/>
              </a:ext>
            </a:extLst>
          </p:cNvPr>
          <p:cNvSpPr txBox="1">
            <a:spLocks/>
          </p:cNvSpPr>
          <p:nvPr/>
        </p:nvSpPr>
        <p:spPr>
          <a:xfrm>
            <a:off x="5171667" y="4328754"/>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sz="900" dirty="0">
                <a:solidFill>
                  <a:srgbClr val="FFFFFF"/>
                </a:solidFill>
              </a:rPr>
              <a:t>Fig – Overview of the ANN structure</a:t>
            </a:r>
          </a:p>
        </p:txBody>
      </p:sp>
      <p:pic>
        <p:nvPicPr>
          <p:cNvPr id="4098" name="Picture 2" descr="Simply understanding Artificial Neural Networks (ANN): Deep Learning | by  Jeslur Rahman | Medium">
            <a:extLst>
              <a:ext uri="{FF2B5EF4-FFF2-40B4-BE49-F238E27FC236}">
                <a16:creationId xmlns:a16="http://schemas.microsoft.com/office/drawing/2014/main" id="{0805EA7A-5864-8B53-A349-08FD381733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448" y="2661320"/>
            <a:ext cx="3425441" cy="1680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5122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0">
          <a:extLst>
            <a:ext uri="{FF2B5EF4-FFF2-40B4-BE49-F238E27FC236}">
              <a16:creationId xmlns:a16="http://schemas.microsoft.com/office/drawing/2014/main" id="{33385219-491F-6787-AC34-5D7022CFA70F}"/>
            </a:ext>
          </a:extLst>
        </p:cNvPr>
        <p:cNvGrpSpPr/>
        <p:nvPr/>
      </p:nvGrpSpPr>
      <p:grpSpPr>
        <a:xfrm>
          <a:off x="0" y="0"/>
          <a:ext cx="0" cy="0"/>
          <a:chOff x="0" y="0"/>
          <a:chExt cx="0" cy="0"/>
        </a:xfrm>
      </p:grpSpPr>
      <p:sp>
        <p:nvSpPr>
          <p:cNvPr id="601" name="Google Shape;601;p30">
            <a:extLst>
              <a:ext uri="{FF2B5EF4-FFF2-40B4-BE49-F238E27FC236}">
                <a16:creationId xmlns:a16="http://schemas.microsoft.com/office/drawing/2014/main" id="{08ECA6B3-0E7A-965E-6AF0-861E6C606DB4}"/>
              </a:ext>
            </a:extLst>
          </p:cNvPr>
          <p:cNvSpPr txBox="1">
            <a:spLocks noGrp="1"/>
          </p:cNvSpPr>
          <p:nvPr>
            <p:ph type="ctrTitle" idx="8"/>
          </p:nvPr>
        </p:nvSpPr>
        <p:spPr>
          <a:xfrm>
            <a:off x="331250" y="206248"/>
            <a:ext cx="5888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CNN ARCHITECTURE</a:t>
            </a:r>
            <a:endParaRPr sz="3000" dirty="0"/>
          </a:p>
        </p:txBody>
      </p:sp>
      <p:cxnSp>
        <p:nvCxnSpPr>
          <p:cNvPr id="18" name="Google Shape;1086;p38">
            <a:extLst>
              <a:ext uri="{FF2B5EF4-FFF2-40B4-BE49-F238E27FC236}">
                <a16:creationId xmlns:a16="http://schemas.microsoft.com/office/drawing/2014/main" id="{4795133D-67D3-F4FC-E5A1-69875A3EEBD4}"/>
              </a:ext>
            </a:extLst>
          </p:cNvPr>
          <p:cNvCxnSpPr>
            <a:cxnSpLocks/>
          </p:cNvCxnSpPr>
          <p:nvPr/>
        </p:nvCxnSpPr>
        <p:spPr>
          <a:xfrm>
            <a:off x="683005" y="2478105"/>
            <a:ext cx="0" cy="220165"/>
          </a:xfrm>
          <a:prstGeom prst="straightConnector1">
            <a:avLst/>
          </a:prstGeom>
          <a:noFill/>
          <a:ln w="19050" cap="flat" cmpd="sng">
            <a:solidFill>
              <a:schemeClr val="lt2"/>
            </a:solidFill>
            <a:prstDash val="solid"/>
            <a:round/>
            <a:headEnd type="none" w="med" len="med"/>
            <a:tailEnd type="none" w="med" len="med"/>
          </a:ln>
        </p:spPr>
      </p:cxnSp>
      <p:cxnSp>
        <p:nvCxnSpPr>
          <p:cNvPr id="19" name="Google Shape;1087;p38">
            <a:extLst>
              <a:ext uri="{FF2B5EF4-FFF2-40B4-BE49-F238E27FC236}">
                <a16:creationId xmlns:a16="http://schemas.microsoft.com/office/drawing/2014/main" id="{07284675-E8A5-2F6F-EAEA-1EE4300610A2}"/>
              </a:ext>
            </a:extLst>
          </p:cNvPr>
          <p:cNvCxnSpPr>
            <a:cxnSpLocks/>
            <a:endCxn id="53" idx="0"/>
          </p:cNvCxnSpPr>
          <p:nvPr/>
        </p:nvCxnSpPr>
        <p:spPr>
          <a:xfrm flipH="1">
            <a:off x="2612626" y="2786595"/>
            <a:ext cx="8" cy="786584"/>
          </a:xfrm>
          <a:prstGeom prst="straightConnector1">
            <a:avLst/>
          </a:prstGeom>
          <a:noFill/>
          <a:ln w="19050" cap="flat" cmpd="sng">
            <a:solidFill>
              <a:schemeClr val="lt2"/>
            </a:solidFill>
            <a:prstDash val="solid"/>
            <a:round/>
            <a:headEnd type="none" w="med" len="med"/>
            <a:tailEnd type="none" w="med" len="med"/>
          </a:ln>
        </p:spPr>
      </p:cxnSp>
      <p:cxnSp>
        <p:nvCxnSpPr>
          <p:cNvPr id="20" name="Google Shape;1088;p38">
            <a:extLst>
              <a:ext uri="{FF2B5EF4-FFF2-40B4-BE49-F238E27FC236}">
                <a16:creationId xmlns:a16="http://schemas.microsoft.com/office/drawing/2014/main" id="{E941EAD4-68B1-5614-B1FF-4C37B1B3867F}"/>
              </a:ext>
            </a:extLst>
          </p:cNvPr>
          <p:cNvCxnSpPr>
            <a:cxnSpLocks/>
          </p:cNvCxnSpPr>
          <p:nvPr/>
        </p:nvCxnSpPr>
        <p:spPr>
          <a:xfrm>
            <a:off x="4528674" y="2238008"/>
            <a:ext cx="0" cy="460262"/>
          </a:xfrm>
          <a:prstGeom prst="straightConnector1">
            <a:avLst/>
          </a:prstGeom>
          <a:noFill/>
          <a:ln w="19050" cap="flat" cmpd="sng">
            <a:solidFill>
              <a:schemeClr val="lt2"/>
            </a:solidFill>
            <a:prstDash val="solid"/>
            <a:round/>
            <a:headEnd type="none" w="med" len="med"/>
            <a:tailEnd type="none" w="med" len="med"/>
          </a:ln>
        </p:spPr>
      </p:cxnSp>
      <p:cxnSp>
        <p:nvCxnSpPr>
          <p:cNvPr id="22" name="Google Shape;1091;p38">
            <a:extLst>
              <a:ext uri="{FF2B5EF4-FFF2-40B4-BE49-F238E27FC236}">
                <a16:creationId xmlns:a16="http://schemas.microsoft.com/office/drawing/2014/main" id="{E44D2AE5-7A7B-7B0E-7A50-4185C9D8B2AC}"/>
              </a:ext>
            </a:extLst>
          </p:cNvPr>
          <p:cNvCxnSpPr>
            <a:cxnSpLocks/>
          </p:cNvCxnSpPr>
          <p:nvPr/>
        </p:nvCxnSpPr>
        <p:spPr>
          <a:xfrm>
            <a:off x="0" y="2756720"/>
            <a:ext cx="9197788" cy="31337"/>
          </a:xfrm>
          <a:prstGeom prst="straightConnector1">
            <a:avLst/>
          </a:prstGeom>
          <a:noFill/>
          <a:ln w="19050" cap="flat" cmpd="sng">
            <a:solidFill>
              <a:schemeClr val="lt2"/>
            </a:solidFill>
            <a:prstDash val="solid"/>
            <a:round/>
            <a:headEnd type="none" w="med" len="med"/>
            <a:tailEnd type="none" w="med" len="med"/>
          </a:ln>
        </p:spPr>
      </p:cxnSp>
      <p:grpSp>
        <p:nvGrpSpPr>
          <p:cNvPr id="23" name="Google Shape;1092;p38">
            <a:extLst>
              <a:ext uri="{FF2B5EF4-FFF2-40B4-BE49-F238E27FC236}">
                <a16:creationId xmlns:a16="http://schemas.microsoft.com/office/drawing/2014/main" id="{FA568A7C-2B65-C165-0031-0EADBADC53F3}"/>
              </a:ext>
            </a:extLst>
          </p:cNvPr>
          <p:cNvGrpSpPr/>
          <p:nvPr/>
        </p:nvGrpSpPr>
        <p:grpSpPr>
          <a:xfrm>
            <a:off x="504642" y="2569970"/>
            <a:ext cx="373500" cy="373500"/>
            <a:chOff x="1372725" y="1912500"/>
            <a:chExt cx="373500" cy="373500"/>
          </a:xfrm>
          <a:solidFill>
            <a:srgbClr val="00CFCC"/>
          </a:solidFill>
        </p:grpSpPr>
        <p:sp>
          <p:nvSpPr>
            <p:cNvPr id="24" name="Google Shape;1093;p38">
              <a:extLst>
                <a:ext uri="{FF2B5EF4-FFF2-40B4-BE49-F238E27FC236}">
                  <a16:creationId xmlns:a16="http://schemas.microsoft.com/office/drawing/2014/main" id="{5567D5B0-FA96-3D9D-FF60-44EA35BD2EFC}"/>
                </a:ext>
              </a:extLst>
            </p:cNvPr>
            <p:cNvSpPr/>
            <p:nvPr/>
          </p:nvSpPr>
          <p:spPr>
            <a:xfrm>
              <a:off x="146406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094;p38">
              <a:extLst>
                <a:ext uri="{FF2B5EF4-FFF2-40B4-BE49-F238E27FC236}">
                  <a16:creationId xmlns:a16="http://schemas.microsoft.com/office/drawing/2014/main" id="{D402E0D7-2CBA-CCF1-3A39-B562130A84D3}"/>
                </a:ext>
              </a:extLst>
            </p:cNvPr>
            <p:cNvSpPr/>
            <p:nvPr/>
          </p:nvSpPr>
          <p:spPr>
            <a:xfrm>
              <a:off x="1372725"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1095;p38">
            <a:extLst>
              <a:ext uri="{FF2B5EF4-FFF2-40B4-BE49-F238E27FC236}">
                <a16:creationId xmlns:a16="http://schemas.microsoft.com/office/drawing/2014/main" id="{272ED646-8B2F-5E73-C6C2-1478B1A63291}"/>
              </a:ext>
            </a:extLst>
          </p:cNvPr>
          <p:cNvGrpSpPr/>
          <p:nvPr/>
        </p:nvGrpSpPr>
        <p:grpSpPr>
          <a:xfrm>
            <a:off x="2425888" y="2569970"/>
            <a:ext cx="373500" cy="373500"/>
            <a:chOff x="3212675" y="1912500"/>
            <a:chExt cx="373500" cy="373500"/>
          </a:xfrm>
          <a:solidFill>
            <a:srgbClr val="E898AC"/>
          </a:solidFill>
        </p:grpSpPr>
        <p:sp>
          <p:nvSpPr>
            <p:cNvPr id="27" name="Google Shape;1096;p38">
              <a:extLst>
                <a:ext uri="{FF2B5EF4-FFF2-40B4-BE49-F238E27FC236}">
                  <a16:creationId xmlns:a16="http://schemas.microsoft.com/office/drawing/2014/main" id="{F0139762-ADCA-B8AB-8821-3082BF46BC9E}"/>
                </a:ext>
              </a:extLst>
            </p:cNvPr>
            <p:cNvSpPr/>
            <p:nvPr/>
          </p:nvSpPr>
          <p:spPr>
            <a:xfrm>
              <a:off x="330401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097;p38">
              <a:extLst>
                <a:ext uri="{FF2B5EF4-FFF2-40B4-BE49-F238E27FC236}">
                  <a16:creationId xmlns:a16="http://schemas.microsoft.com/office/drawing/2014/main" id="{46214FC1-9C8C-5547-42CE-17C3E5C565BF}"/>
                </a:ext>
              </a:extLst>
            </p:cNvPr>
            <p:cNvSpPr/>
            <p:nvPr/>
          </p:nvSpPr>
          <p:spPr>
            <a:xfrm>
              <a:off x="3212675"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098;p38">
            <a:extLst>
              <a:ext uri="{FF2B5EF4-FFF2-40B4-BE49-F238E27FC236}">
                <a16:creationId xmlns:a16="http://schemas.microsoft.com/office/drawing/2014/main" id="{58BDDD5F-8B43-BE35-65C1-1E5846DCBD52}"/>
              </a:ext>
            </a:extLst>
          </p:cNvPr>
          <p:cNvGrpSpPr/>
          <p:nvPr/>
        </p:nvGrpSpPr>
        <p:grpSpPr>
          <a:xfrm>
            <a:off x="4347122" y="2569970"/>
            <a:ext cx="373500" cy="373500"/>
            <a:chOff x="5557850" y="1912500"/>
            <a:chExt cx="373500" cy="373500"/>
          </a:xfrm>
          <a:solidFill>
            <a:srgbClr val="FF9973"/>
          </a:solidFill>
        </p:grpSpPr>
        <p:sp>
          <p:nvSpPr>
            <p:cNvPr id="30" name="Google Shape;1099;p38">
              <a:extLst>
                <a:ext uri="{FF2B5EF4-FFF2-40B4-BE49-F238E27FC236}">
                  <a16:creationId xmlns:a16="http://schemas.microsoft.com/office/drawing/2014/main" id="{9579058F-1723-48D1-7C0A-56E7C6BE4E51}"/>
                </a:ext>
              </a:extLst>
            </p:cNvPr>
            <p:cNvSpPr/>
            <p:nvPr/>
          </p:nvSpPr>
          <p:spPr>
            <a:xfrm>
              <a:off x="5649188"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CFCC"/>
                </a:solidFill>
              </a:endParaRPr>
            </a:p>
          </p:txBody>
        </p:sp>
        <p:sp>
          <p:nvSpPr>
            <p:cNvPr id="31" name="Google Shape;1100;p38">
              <a:extLst>
                <a:ext uri="{FF2B5EF4-FFF2-40B4-BE49-F238E27FC236}">
                  <a16:creationId xmlns:a16="http://schemas.microsoft.com/office/drawing/2014/main" id="{AFF22811-936E-58A8-3B36-E1BF703F3B6F}"/>
                </a:ext>
              </a:extLst>
            </p:cNvPr>
            <p:cNvSpPr/>
            <p:nvPr/>
          </p:nvSpPr>
          <p:spPr>
            <a:xfrm>
              <a:off x="5557850"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1109;p38">
            <a:extLst>
              <a:ext uri="{FF2B5EF4-FFF2-40B4-BE49-F238E27FC236}">
                <a16:creationId xmlns:a16="http://schemas.microsoft.com/office/drawing/2014/main" id="{B600EA61-9560-6992-29F9-3C50F612D02C}"/>
              </a:ext>
            </a:extLst>
          </p:cNvPr>
          <p:cNvSpPr txBox="1">
            <a:spLocks/>
          </p:cNvSpPr>
          <p:nvPr/>
        </p:nvSpPr>
        <p:spPr>
          <a:xfrm>
            <a:off x="1708808" y="3544604"/>
            <a:ext cx="1807615" cy="11847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Output from 2</a:t>
            </a:r>
            <a:r>
              <a:rPr lang="en-GB" sz="800" baseline="30000" dirty="0"/>
              <a:t>nd</a:t>
            </a:r>
            <a:r>
              <a:rPr lang="en-GB" sz="800" dirty="0"/>
              <a:t> Conv2D layer is flattened to create a 1D feature vector that connects to dense layer.</a:t>
            </a:r>
          </a:p>
          <a:p>
            <a:pPr marL="0" indent="0" algn="ctr">
              <a:lnSpc>
                <a:spcPct val="100000"/>
              </a:lnSpc>
              <a:spcAft>
                <a:spcPts val="800"/>
              </a:spcAft>
              <a:buNone/>
            </a:pPr>
            <a:r>
              <a:rPr lang="en-GB" sz="800" dirty="0"/>
              <a:t>Dense Layer – </a:t>
            </a:r>
            <a:r>
              <a:rPr lang="en-GB" sz="800" dirty="0" err="1"/>
              <a:t>ReLU</a:t>
            </a:r>
            <a:r>
              <a:rPr lang="en-GB" sz="800" dirty="0"/>
              <a:t> is activation function. Integrates the learned features for the final classification.</a:t>
            </a:r>
          </a:p>
          <a:p>
            <a:pPr marL="0" indent="0" algn="ctr">
              <a:lnSpc>
                <a:spcPct val="100000"/>
              </a:lnSpc>
              <a:spcAft>
                <a:spcPts val="800"/>
              </a:spcAft>
              <a:buNone/>
            </a:pPr>
            <a:endParaRPr lang="en-GB" sz="800" dirty="0"/>
          </a:p>
        </p:txBody>
      </p:sp>
      <p:sp>
        <p:nvSpPr>
          <p:cNvPr id="43" name="Google Shape;1112;p38">
            <a:extLst>
              <a:ext uri="{FF2B5EF4-FFF2-40B4-BE49-F238E27FC236}">
                <a16:creationId xmlns:a16="http://schemas.microsoft.com/office/drawing/2014/main" id="{C076A628-ABE4-6266-9A6E-5E378DC6CECB}"/>
              </a:ext>
            </a:extLst>
          </p:cNvPr>
          <p:cNvSpPr txBox="1">
            <a:spLocks/>
          </p:cNvSpPr>
          <p:nvPr/>
        </p:nvSpPr>
        <p:spPr>
          <a:xfrm>
            <a:off x="39817" y="3006792"/>
            <a:ext cx="1286400"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chemeClr val="accent2"/>
                </a:solidFill>
              </a:rPr>
              <a:t>Convolutional Layer</a:t>
            </a:r>
          </a:p>
        </p:txBody>
      </p:sp>
      <p:sp>
        <p:nvSpPr>
          <p:cNvPr id="44" name="Google Shape;1113;p38">
            <a:extLst>
              <a:ext uri="{FF2B5EF4-FFF2-40B4-BE49-F238E27FC236}">
                <a16:creationId xmlns:a16="http://schemas.microsoft.com/office/drawing/2014/main" id="{8865B86F-8583-8360-8953-3B58024B7355}"/>
              </a:ext>
            </a:extLst>
          </p:cNvPr>
          <p:cNvSpPr txBox="1">
            <a:spLocks/>
          </p:cNvSpPr>
          <p:nvPr/>
        </p:nvSpPr>
        <p:spPr>
          <a:xfrm>
            <a:off x="2101765" y="2111263"/>
            <a:ext cx="1078159"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chemeClr val="accent1"/>
                </a:solidFill>
              </a:rPr>
              <a:t>Flatten &amp; Dense Layer</a:t>
            </a:r>
          </a:p>
        </p:txBody>
      </p:sp>
      <p:sp>
        <p:nvSpPr>
          <p:cNvPr id="51" name="Rectangle 50">
            <a:extLst>
              <a:ext uri="{FF2B5EF4-FFF2-40B4-BE49-F238E27FC236}">
                <a16:creationId xmlns:a16="http://schemas.microsoft.com/office/drawing/2014/main" id="{3677C5CF-61E6-29FE-5790-4699498B462C}"/>
              </a:ext>
            </a:extLst>
          </p:cNvPr>
          <p:cNvSpPr/>
          <p:nvPr/>
        </p:nvSpPr>
        <p:spPr>
          <a:xfrm>
            <a:off x="174727" y="909148"/>
            <a:ext cx="1807603" cy="1573143"/>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49" name="Google Shape;1109;p38">
            <a:extLst>
              <a:ext uri="{FF2B5EF4-FFF2-40B4-BE49-F238E27FC236}">
                <a16:creationId xmlns:a16="http://schemas.microsoft.com/office/drawing/2014/main" id="{CC582083-DFCA-3863-F32C-FE7B014B28A5}"/>
              </a:ext>
            </a:extLst>
          </p:cNvPr>
          <p:cNvSpPr txBox="1">
            <a:spLocks/>
          </p:cNvSpPr>
          <p:nvPr/>
        </p:nvSpPr>
        <p:spPr>
          <a:xfrm>
            <a:off x="174727" y="879584"/>
            <a:ext cx="1807604" cy="16458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Two Conv2D layers are used with 64 and 128, each of size (3,3).</a:t>
            </a:r>
          </a:p>
          <a:p>
            <a:pPr marL="0" indent="0" algn="ctr">
              <a:lnSpc>
                <a:spcPct val="100000"/>
              </a:lnSpc>
              <a:spcAft>
                <a:spcPts val="800"/>
              </a:spcAft>
              <a:buNone/>
            </a:pPr>
            <a:r>
              <a:rPr lang="en-GB" sz="800" dirty="0" err="1"/>
              <a:t>ReLU</a:t>
            </a:r>
            <a:r>
              <a:rPr lang="en-GB" sz="800" dirty="0"/>
              <a:t> activation function introduces non-linearity. MaxPooling2D with pool size (2,1) reduces dimensionality along the frequency axis.</a:t>
            </a:r>
          </a:p>
          <a:p>
            <a:pPr marL="0" indent="0" algn="ctr">
              <a:lnSpc>
                <a:spcPct val="100000"/>
              </a:lnSpc>
              <a:spcAft>
                <a:spcPts val="800"/>
              </a:spcAft>
              <a:buNone/>
            </a:pPr>
            <a:r>
              <a:rPr lang="en-GB" sz="800" dirty="0"/>
              <a:t>Dropout rate of 0.3 reduces overfitting by randomly disabling neurons during training.</a:t>
            </a:r>
          </a:p>
        </p:txBody>
      </p:sp>
      <p:sp>
        <p:nvSpPr>
          <p:cNvPr id="53" name="Rectangle 52">
            <a:extLst>
              <a:ext uri="{FF2B5EF4-FFF2-40B4-BE49-F238E27FC236}">
                <a16:creationId xmlns:a16="http://schemas.microsoft.com/office/drawing/2014/main" id="{5248E575-8175-C116-A0B8-C6D864623EF6}"/>
              </a:ext>
            </a:extLst>
          </p:cNvPr>
          <p:cNvSpPr/>
          <p:nvPr/>
        </p:nvSpPr>
        <p:spPr>
          <a:xfrm>
            <a:off x="1708824" y="3573179"/>
            <a:ext cx="1807603" cy="1184783"/>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55" name="Google Shape;1112;p38">
            <a:extLst>
              <a:ext uri="{FF2B5EF4-FFF2-40B4-BE49-F238E27FC236}">
                <a16:creationId xmlns:a16="http://schemas.microsoft.com/office/drawing/2014/main" id="{349CF96B-091D-8836-AC4E-54C47C7DC269}"/>
              </a:ext>
            </a:extLst>
          </p:cNvPr>
          <p:cNvSpPr txBox="1">
            <a:spLocks/>
          </p:cNvSpPr>
          <p:nvPr/>
        </p:nvSpPr>
        <p:spPr>
          <a:xfrm>
            <a:off x="4073104" y="3006643"/>
            <a:ext cx="911139"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rgbClr val="FF9973"/>
                </a:solidFill>
              </a:rPr>
              <a:t>Output Layer</a:t>
            </a:r>
          </a:p>
        </p:txBody>
      </p:sp>
      <p:sp>
        <p:nvSpPr>
          <p:cNvPr id="581" name="Rectangle 580">
            <a:extLst>
              <a:ext uri="{FF2B5EF4-FFF2-40B4-BE49-F238E27FC236}">
                <a16:creationId xmlns:a16="http://schemas.microsoft.com/office/drawing/2014/main" id="{95B6BC06-597E-E9B0-AE52-46CFE82EE4A1}"/>
              </a:ext>
            </a:extLst>
          </p:cNvPr>
          <p:cNvSpPr/>
          <p:nvPr/>
        </p:nvSpPr>
        <p:spPr>
          <a:xfrm>
            <a:off x="3672766" y="1131504"/>
            <a:ext cx="1807603" cy="1105321"/>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582" name="Google Shape;1109;p38">
            <a:extLst>
              <a:ext uri="{FF2B5EF4-FFF2-40B4-BE49-F238E27FC236}">
                <a16:creationId xmlns:a16="http://schemas.microsoft.com/office/drawing/2014/main" id="{5B4A2FD9-E84A-AF9C-8DEA-230B30AEA4F1}"/>
              </a:ext>
            </a:extLst>
          </p:cNvPr>
          <p:cNvSpPr txBox="1">
            <a:spLocks/>
          </p:cNvSpPr>
          <p:nvPr/>
        </p:nvSpPr>
        <p:spPr>
          <a:xfrm>
            <a:off x="3646064" y="1101941"/>
            <a:ext cx="1834306" cy="10872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The final dense layer has the number of units equal to the number of with a </a:t>
            </a:r>
            <a:r>
              <a:rPr lang="en-GB" sz="800" b="1" dirty="0" err="1"/>
              <a:t>softmax</a:t>
            </a:r>
            <a:r>
              <a:rPr lang="en-GB" sz="800" b="1" dirty="0"/>
              <a:t> activation</a:t>
            </a:r>
            <a:r>
              <a:rPr lang="en-GB" sz="800" dirty="0"/>
              <a:t>. </a:t>
            </a:r>
          </a:p>
          <a:p>
            <a:pPr marL="0" indent="0" algn="ctr">
              <a:lnSpc>
                <a:spcPct val="100000"/>
              </a:lnSpc>
              <a:spcAft>
                <a:spcPts val="800"/>
              </a:spcAft>
              <a:buNone/>
            </a:pPr>
            <a:r>
              <a:rPr lang="en-GB" sz="800" dirty="0"/>
              <a:t>This converts the output to class probabilities, facilitating multi-class classification.</a:t>
            </a:r>
          </a:p>
        </p:txBody>
      </p:sp>
      <p:sp>
        <p:nvSpPr>
          <p:cNvPr id="7" name="Google Shape;435;p25">
            <a:extLst>
              <a:ext uri="{FF2B5EF4-FFF2-40B4-BE49-F238E27FC236}">
                <a16:creationId xmlns:a16="http://schemas.microsoft.com/office/drawing/2014/main" id="{4F204327-EDC9-0594-B105-358470A1EE3F}"/>
              </a:ext>
            </a:extLst>
          </p:cNvPr>
          <p:cNvSpPr txBox="1">
            <a:spLocks/>
          </p:cNvSpPr>
          <p:nvPr/>
        </p:nvSpPr>
        <p:spPr>
          <a:xfrm>
            <a:off x="4946697" y="4420110"/>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sz="900" dirty="0">
                <a:solidFill>
                  <a:srgbClr val="FFFFFF"/>
                </a:solidFill>
              </a:rPr>
              <a:t>Fig – Overview of the CNN structure</a:t>
            </a:r>
          </a:p>
        </p:txBody>
      </p:sp>
      <p:pic>
        <p:nvPicPr>
          <p:cNvPr id="3" name="Picture 2">
            <a:extLst>
              <a:ext uri="{FF2B5EF4-FFF2-40B4-BE49-F238E27FC236}">
                <a16:creationId xmlns:a16="http://schemas.microsoft.com/office/drawing/2014/main" id="{59937F23-013A-3670-5FE2-9FB554186B2D}"/>
              </a:ext>
            </a:extLst>
          </p:cNvPr>
          <p:cNvPicPr>
            <a:picLocks noChangeAspect="1"/>
          </p:cNvPicPr>
          <p:nvPr/>
        </p:nvPicPr>
        <p:blipFill>
          <a:blip r:embed="rId3"/>
          <a:stretch>
            <a:fillRect/>
          </a:stretch>
        </p:blipFill>
        <p:spPr>
          <a:xfrm>
            <a:off x="4984243" y="3307952"/>
            <a:ext cx="4039911" cy="1122018"/>
          </a:xfrm>
          <a:prstGeom prst="rect">
            <a:avLst/>
          </a:prstGeom>
        </p:spPr>
      </p:pic>
    </p:spTree>
    <p:extLst>
      <p:ext uri="{BB962C8B-B14F-4D97-AF65-F5344CB8AC3E}">
        <p14:creationId xmlns:p14="http://schemas.microsoft.com/office/powerpoint/2010/main" val="2684527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0">
          <a:extLst>
            <a:ext uri="{FF2B5EF4-FFF2-40B4-BE49-F238E27FC236}">
              <a16:creationId xmlns:a16="http://schemas.microsoft.com/office/drawing/2014/main" id="{3E444A93-2C80-DE4F-1517-379EAAF5CB63}"/>
            </a:ext>
          </a:extLst>
        </p:cNvPr>
        <p:cNvGrpSpPr/>
        <p:nvPr/>
      </p:nvGrpSpPr>
      <p:grpSpPr>
        <a:xfrm>
          <a:off x="0" y="0"/>
          <a:ext cx="0" cy="0"/>
          <a:chOff x="0" y="0"/>
          <a:chExt cx="0" cy="0"/>
        </a:xfrm>
      </p:grpSpPr>
      <p:sp>
        <p:nvSpPr>
          <p:cNvPr id="601" name="Google Shape;601;p30">
            <a:extLst>
              <a:ext uri="{FF2B5EF4-FFF2-40B4-BE49-F238E27FC236}">
                <a16:creationId xmlns:a16="http://schemas.microsoft.com/office/drawing/2014/main" id="{06A4E5C9-D106-E583-2C38-7002C8D61320}"/>
              </a:ext>
            </a:extLst>
          </p:cNvPr>
          <p:cNvSpPr txBox="1">
            <a:spLocks noGrp="1"/>
          </p:cNvSpPr>
          <p:nvPr>
            <p:ph type="ctrTitle" idx="8"/>
          </p:nvPr>
        </p:nvSpPr>
        <p:spPr>
          <a:xfrm>
            <a:off x="331250" y="206248"/>
            <a:ext cx="5888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CRNN ARCHITECTURE</a:t>
            </a:r>
            <a:endParaRPr sz="3000" dirty="0"/>
          </a:p>
        </p:txBody>
      </p:sp>
      <p:cxnSp>
        <p:nvCxnSpPr>
          <p:cNvPr id="18" name="Google Shape;1086;p38">
            <a:extLst>
              <a:ext uri="{FF2B5EF4-FFF2-40B4-BE49-F238E27FC236}">
                <a16:creationId xmlns:a16="http://schemas.microsoft.com/office/drawing/2014/main" id="{FABAD0E2-435B-DFEE-E6C2-6CB355722404}"/>
              </a:ext>
            </a:extLst>
          </p:cNvPr>
          <p:cNvCxnSpPr>
            <a:cxnSpLocks/>
          </p:cNvCxnSpPr>
          <p:nvPr/>
        </p:nvCxnSpPr>
        <p:spPr>
          <a:xfrm>
            <a:off x="683005" y="2478105"/>
            <a:ext cx="0" cy="220165"/>
          </a:xfrm>
          <a:prstGeom prst="straightConnector1">
            <a:avLst/>
          </a:prstGeom>
          <a:noFill/>
          <a:ln w="19050" cap="flat" cmpd="sng">
            <a:solidFill>
              <a:schemeClr val="lt2"/>
            </a:solidFill>
            <a:prstDash val="solid"/>
            <a:round/>
            <a:headEnd type="none" w="med" len="med"/>
            <a:tailEnd type="none" w="med" len="med"/>
          </a:ln>
        </p:spPr>
      </p:cxnSp>
      <p:cxnSp>
        <p:nvCxnSpPr>
          <p:cNvPr id="19" name="Google Shape;1087;p38">
            <a:extLst>
              <a:ext uri="{FF2B5EF4-FFF2-40B4-BE49-F238E27FC236}">
                <a16:creationId xmlns:a16="http://schemas.microsoft.com/office/drawing/2014/main" id="{508A59C8-BEB5-926E-ED84-AD69BA8A1ECA}"/>
              </a:ext>
            </a:extLst>
          </p:cNvPr>
          <p:cNvCxnSpPr>
            <a:cxnSpLocks/>
            <a:endCxn id="53" idx="0"/>
          </p:cNvCxnSpPr>
          <p:nvPr/>
        </p:nvCxnSpPr>
        <p:spPr>
          <a:xfrm flipH="1">
            <a:off x="2612626" y="2786595"/>
            <a:ext cx="8" cy="786584"/>
          </a:xfrm>
          <a:prstGeom prst="straightConnector1">
            <a:avLst/>
          </a:prstGeom>
          <a:noFill/>
          <a:ln w="19050" cap="flat" cmpd="sng">
            <a:solidFill>
              <a:schemeClr val="lt2"/>
            </a:solidFill>
            <a:prstDash val="solid"/>
            <a:round/>
            <a:headEnd type="none" w="med" len="med"/>
            <a:tailEnd type="none" w="med" len="med"/>
          </a:ln>
        </p:spPr>
      </p:cxnSp>
      <p:cxnSp>
        <p:nvCxnSpPr>
          <p:cNvPr id="20" name="Google Shape;1088;p38">
            <a:extLst>
              <a:ext uri="{FF2B5EF4-FFF2-40B4-BE49-F238E27FC236}">
                <a16:creationId xmlns:a16="http://schemas.microsoft.com/office/drawing/2014/main" id="{748BCE50-1BC5-2704-395D-41E92F0155E8}"/>
              </a:ext>
            </a:extLst>
          </p:cNvPr>
          <p:cNvCxnSpPr>
            <a:cxnSpLocks/>
          </p:cNvCxnSpPr>
          <p:nvPr/>
        </p:nvCxnSpPr>
        <p:spPr>
          <a:xfrm>
            <a:off x="4528674" y="2238008"/>
            <a:ext cx="0" cy="460262"/>
          </a:xfrm>
          <a:prstGeom prst="straightConnector1">
            <a:avLst/>
          </a:prstGeom>
          <a:noFill/>
          <a:ln w="19050" cap="flat" cmpd="sng">
            <a:solidFill>
              <a:schemeClr val="lt2"/>
            </a:solidFill>
            <a:prstDash val="solid"/>
            <a:round/>
            <a:headEnd type="none" w="med" len="med"/>
            <a:tailEnd type="none" w="med" len="med"/>
          </a:ln>
        </p:spPr>
      </p:cxnSp>
      <p:cxnSp>
        <p:nvCxnSpPr>
          <p:cNvPr id="22" name="Google Shape;1091;p38">
            <a:extLst>
              <a:ext uri="{FF2B5EF4-FFF2-40B4-BE49-F238E27FC236}">
                <a16:creationId xmlns:a16="http://schemas.microsoft.com/office/drawing/2014/main" id="{DAAAD9E8-4B15-3DC4-E807-88203D5F6415}"/>
              </a:ext>
            </a:extLst>
          </p:cNvPr>
          <p:cNvCxnSpPr>
            <a:cxnSpLocks/>
          </p:cNvCxnSpPr>
          <p:nvPr/>
        </p:nvCxnSpPr>
        <p:spPr>
          <a:xfrm>
            <a:off x="0" y="2756720"/>
            <a:ext cx="8768687" cy="29875"/>
          </a:xfrm>
          <a:prstGeom prst="straightConnector1">
            <a:avLst/>
          </a:prstGeom>
          <a:noFill/>
          <a:ln w="19050" cap="flat" cmpd="sng">
            <a:solidFill>
              <a:schemeClr val="lt2"/>
            </a:solidFill>
            <a:prstDash val="solid"/>
            <a:round/>
            <a:headEnd type="none" w="med" len="med"/>
            <a:tailEnd type="none" w="med" len="med"/>
          </a:ln>
        </p:spPr>
      </p:cxnSp>
      <p:grpSp>
        <p:nvGrpSpPr>
          <p:cNvPr id="23" name="Google Shape;1092;p38">
            <a:extLst>
              <a:ext uri="{FF2B5EF4-FFF2-40B4-BE49-F238E27FC236}">
                <a16:creationId xmlns:a16="http://schemas.microsoft.com/office/drawing/2014/main" id="{37D8103D-ED6A-B03C-647D-82F166AB9F73}"/>
              </a:ext>
            </a:extLst>
          </p:cNvPr>
          <p:cNvGrpSpPr/>
          <p:nvPr/>
        </p:nvGrpSpPr>
        <p:grpSpPr>
          <a:xfrm>
            <a:off x="504642" y="2569970"/>
            <a:ext cx="373500" cy="373500"/>
            <a:chOff x="1372725" y="1912500"/>
            <a:chExt cx="373500" cy="373500"/>
          </a:xfrm>
          <a:solidFill>
            <a:srgbClr val="00CFCC"/>
          </a:solidFill>
        </p:grpSpPr>
        <p:sp>
          <p:nvSpPr>
            <p:cNvPr id="24" name="Google Shape;1093;p38">
              <a:extLst>
                <a:ext uri="{FF2B5EF4-FFF2-40B4-BE49-F238E27FC236}">
                  <a16:creationId xmlns:a16="http://schemas.microsoft.com/office/drawing/2014/main" id="{FF9C43BD-D506-35B0-7984-B3D6A31B06B3}"/>
                </a:ext>
              </a:extLst>
            </p:cNvPr>
            <p:cNvSpPr/>
            <p:nvPr/>
          </p:nvSpPr>
          <p:spPr>
            <a:xfrm>
              <a:off x="146406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094;p38">
              <a:extLst>
                <a:ext uri="{FF2B5EF4-FFF2-40B4-BE49-F238E27FC236}">
                  <a16:creationId xmlns:a16="http://schemas.microsoft.com/office/drawing/2014/main" id="{30310EF0-1863-C257-D92F-49E56E78F6D9}"/>
                </a:ext>
              </a:extLst>
            </p:cNvPr>
            <p:cNvSpPr/>
            <p:nvPr/>
          </p:nvSpPr>
          <p:spPr>
            <a:xfrm>
              <a:off x="1372725"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1095;p38">
            <a:extLst>
              <a:ext uri="{FF2B5EF4-FFF2-40B4-BE49-F238E27FC236}">
                <a16:creationId xmlns:a16="http://schemas.microsoft.com/office/drawing/2014/main" id="{57219E1D-A5F0-D471-FD1A-00CC35F0A0FC}"/>
              </a:ext>
            </a:extLst>
          </p:cNvPr>
          <p:cNvGrpSpPr/>
          <p:nvPr/>
        </p:nvGrpSpPr>
        <p:grpSpPr>
          <a:xfrm>
            <a:off x="2425888" y="2569970"/>
            <a:ext cx="373500" cy="373500"/>
            <a:chOff x="3212675" y="1912500"/>
            <a:chExt cx="373500" cy="373500"/>
          </a:xfrm>
          <a:solidFill>
            <a:srgbClr val="E898AC"/>
          </a:solidFill>
        </p:grpSpPr>
        <p:sp>
          <p:nvSpPr>
            <p:cNvPr id="27" name="Google Shape;1096;p38">
              <a:extLst>
                <a:ext uri="{FF2B5EF4-FFF2-40B4-BE49-F238E27FC236}">
                  <a16:creationId xmlns:a16="http://schemas.microsoft.com/office/drawing/2014/main" id="{46263BBC-3C21-1160-DB9D-206C17E23F4D}"/>
                </a:ext>
              </a:extLst>
            </p:cNvPr>
            <p:cNvSpPr/>
            <p:nvPr/>
          </p:nvSpPr>
          <p:spPr>
            <a:xfrm>
              <a:off x="3304013"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097;p38">
              <a:extLst>
                <a:ext uri="{FF2B5EF4-FFF2-40B4-BE49-F238E27FC236}">
                  <a16:creationId xmlns:a16="http://schemas.microsoft.com/office/drawing/2014/main" id="{1DCDAEC6-1C2C-416A-BE22-C3BBA7FC57CC}"/>
                </a:ext>
              </a:extLst>
            </p:cNvPr>
            <p:cNvSpPr/>
            <p:nvPr/>
          </p:nvSpPr>
          <p:spPr>
            <a:xfrm>
              <a:off x="3212675"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098;p38">
            <a:extLst>
              <a:ext uri="{FF2B5EF4-FFF2-40B4-BE49-F238E27FC236}">
                <a16:creationId xmlns:a16="http://schemas.microsoft.com/office/drawing/2014/main" id="{A9A4A88A-2E43-A92C-E806-9A454EA6499B}"/>
              </a:ext>
            </a:extLst>
          </p:cNvPr>
          <p:cNvGrpSpPr/>
          <p:nvPr/>
        </p:nvGrpSpPr>
        <p:grpSpPr>
          <a:xfrm>
            <a:off x="4347122" y="2569970"/>
            <a:ext cx="373500" cy="373500"/>
            <a:chOff x="5557850" y="1912500"/>
            <a:chExt cx="373500" cy="373500"/>
          </a:xfrm>
          <a:solidFill>
            <a:srgbClr val="FF9973"/>
          </a:solidFill>
        </p:grpSpPr>
        <p:sp>
          <p:nvSpPr>
            <p:cNvPr id="30" name="Google Shape;1099;p38">
              <a:extLst>
                <a:ext uri="{FF2B5EF4-FFF2-40B4-BE49-F238E27FC236}">
                  <a16:creationId xmlns:a16="http://schemas.microsoft.com/office/drawing/2014/main" id="{AC84FBCE-E5CE-4EF8-6C9B-52E5361BF84E}"/>
                </a:ext>
              </a:extLst>
            </p:cNvPr>
            <p:cNvSpPr/>
            <p:nvPr/>
          </p:nvSpPr>
          <p:spPr>
            <a:xfrm>
              <a:off x="5649188" y="2003850"/>
              <a:ext cx="190800" cy="190800"/>
            </a:xfrm>
            <a:prstGeom prst="ellipse">
              <a:avLst/>
            </a:prstGeom>
            <a:solidFill>
              <a:srgbClr val="FFD6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CFCC"/>
                </a:solidFill>
              </a:endParaRPr>
            </a:p>
          </p:txBody>
        </p:sp>
        <p:sp>
          <p:nvSpPr>
            <p:cNvPr id="31" name="Google Shape;1100;p38">
              <a:extLst>
                <a:ext uri="{FF2B5EF4-FFF2-40B4-BE49-F238E27FC236}">
                  <a16:creationId xmlns:a16="http://schemas.microsoft.com/office/drawing/2014/main" id="{E01EE702-6A4F-529F-7E86-3A483B53659E}"/>
                </a:ext>
              </a:extLst>
            </p:cNvPr>
            <p:cNvSpPr/>
            <p:nvPr/>
          </p:nvSpPr>
          <p:spPr>
            <a:xfrm>
              <a:off x="5557850" y="1912500"/>
              <a:ext cx="373500" cy="373500"/>
            </a:xfrm>
            <a:prstGeom prst="donut">
              <a:avLst>
                <a:gd name="adj" fmla="val 10193"/>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1109;p38">
            <a:extLst>
              <a:ext uri="{FF2B5EF4-FFF2-40B4-BE49-F238E27FC236}">
                <a16:creationId xmlns:a16="http://schemas.microsoft.com/office/drawing/2014/main" id="{15771A43-CA0C-D295-14D7-6A38818501DA}"/>
              </a:ext>
            </a:extLst>
          </p:cNvPr>
          <p:cNvSpPr txBox="1">
            <a:spLocks/>
          </p:cNvSpPr>
          <p:nvPr/>
        </p:nvSpPr>
        <p:spPr>
          <a:xfrm>
            <a:off x="1708808" y="3544604"/>
            <a:ext cx="1807615" cy="11847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A GRU (Gated Recurrent Unit) or LSTM is used as recurrent layer.</a:t>
            </a:r>
          </a:p>
          <a:p>
            <a:pPr marL="0" indent="0" algn="ctr">
              <a:lnSpc>
                <a:spcPct val="100000"/>
              </a:lnSpc>
              <a:spcAft>
                <a:spcPts val="800"/>
              </a:spcAft>
              <a:buNone/>
            </a:pPr>
            <a:r>
              <a:rPr lang="en-GB" sz="800" dirty="0"/>
              <a:t>Captures temporal dependencies across MFCC frames.</a:t>
            </a:r>
          </a:p>
          <a:p>
            <a:pPr marL="0" indent="0" algn="ctr">
              <a:lnSpc>
                <a:spcPct val="100000"/>
              </a:lnSpc>
              <a:spcAft>
                <a:spcPts val="800"/>
              </a:spcAft>
              <a:buNone/>
            </a:pPr>
            <a:r>
              <a:rPr lang="en-GB" sz="800" dirty="0"/>
              <a:t>Enables model to understand sequential patterns in acoustic events.</a:t>
            </a:r>
          </a:p>
        </p:txBody>
      </p:sp>
      <p:sp>
        <p:nvSpPr>
          <p:cNvPr id="43" name="Google Shape;1112;p38">
            <a:extLst>
              <a:ext uri="{FF2B5EF4-FFF2-40B4-BE49-F238E27FC236}">
                <a16:creationId xmlns:a16="http://schemas.microsoft.com/office/drawing/2014/main" id="{0259DB0E-36C7-5FC3-D0DD-A56E7EEB2404}"/>
              </a:ext>
            </a:extLst>
          </p:cNvPr>
          <p:cNvSpPr txBox="1">
            <a:spLocks/>
          </p:cNvSpPr>
          <p:nvPr/>
        </p:nvSpPr>
        <p:spPr>
          <a:xfrm>
            <a:off x="39817" y="3006792"/>
            <a:ext cx="1286400"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chemeClr val="accent2"/>
                </a:solidFill>
              </a:rPr>
              <a:t>Convolutional Layer</a:t>
            </a:r>
          </a:p>
        </p:txBody>
      </p:sp>
      <p:sp>
        <p:nvSpPr>
          <p:cNvPr id="44" name="Google Shape;1113;p38">
            <a:extLst>
              <a:ext uri="{FF2B5EF4-FFF2-40B4-BE49-F238E27FC236}">
                <a16:creationId xmlns:a16="http://schemas.microsoft.com/office/drawing/2014/main" id="{7B69958E-B50A-D9A2-9539-F47522FEFF2D}"/>
              </a:ext>
            </a:extLst>
          </p:cNvPr>
          <p:cNvSpPr txBox="1">
            <a:spLocks/>
          </p:cNvSpPr>
          <p:nvPr/>
        </p:nvSpPr>
        <p:spPr>
          <a:xfrm>
            <a:off x="2101766" y="2111263"/>
            <a:ext cx="1021698"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chemeClr val="accent1"/>
                </a:solidFill>
              </a:rPr>
              <a:t>Recurrent Layer</a:t>
            </a:r>
          </a:p>
        </p:txBody>
      </p:sp>
      <p:sp>
        <p:nvSpPr>
          <p:cNvPr id="51" name="Rectangle 50">
            <a:extLst>
              <a:ext uri="{FF2B5EF4-FFF2-40B4-BE49-F238E27FC236}">
                <a16:creationId xmlns:a16="http://schemas.microsoft.com/office/drawing/2014/main" id="{21B59478-611D-8FE9-4330-9E8FFBB83031}"/>
              </a:ext>
            </a:extLst>
          </p:cNvPr>
          <p:cNvSpPr/>
          <p:nvPr/>
        </p:nvSpPr>
        <p:spPr>
          <a:xfrm>
            <a:off x="174727" y="813612"/>
            <a:ext cx="1807603" cy="1664494"/>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49" name="Google Shape;1109;p38">
            <a:extLst>
              <a:ext uri="{FF2B5EF4-FFF2-40B4-BE49-F238E27FC236}">
                <a16:creationId xmlns:a16="http://schemas.microsoft.com/office/drawing/2014/main" id="{B2036E70-05D5-506B-3EB6-AF56710CB93F}"/>
              </a:ext>
            </a:extLst>
          </p:cNvPr>
          <p:cNvSpPr txBox="1">
            <a:spLocks/>
          </p:cNvSpPr>
          <p:nvPr/>
        </p:nvSpPr>
        <p:spPr>
          <a:xfrm>
            <a:off x="67916" y="784048"/>
            <a:ext cx="2017409" cy="16458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CRNN starts with convolutional layer designed to capture spatial hierarchy of features within MFCC </a:t>
            </a:r>
            <a:r>
              <a:rPr lang="en-GB" sz="800" dirty="0" err="1"/>
              <a:t>i</a:t>
            </a:r>
            <a:r>
              <a:rPr lang="en-GB" sz="800" dirty="0"/>
              <a:t>/p.</a:t>
            </a:r>
          </a:p>
          <a:p>
            <a:pPr marL="0" indent="0" algn="ctr">
              <a:lnSpc>
                <a:spcPct val="100000"/>
              </a:lnSpc>
              <a:spcAft>
                <a:spcPts val="800"/>
              </a:spcAft>
              <a:buNone/>
            </a:pPr>
            <a:r>
              <a:rPr lang="en-GB" sz="800" b="1" dirty="0">
                <a:solidFill>
                  <a:srgbClr val="E898AC"/>
                </a:solidFill>
              </a:rPr>
              <a:t>Conv2D layers – </a:t>
            </a:r>
            <a:r>
              <a:rPr lang="en-GB" sz="800" dirty="0"/>
              <a:t>Two Conv2D layers with filters. Each uses </a:t>
            </a:r>
            <a:r>
              <a:rPr lang="en-GB" sz="800" dirty="0" err="1"/>
              <a:t>ReLU</a:t>
            </a:r>
            <a:r>
              <a:rPr lang="en-GB" sz="800" dirty="0"/>
              <a:t> activation function, followed by </a:t>
            </a:r>
            <a:r>
              <a:rPr lang="en-GB" sz="800" dirty="0" err="1"/>
              <a:t>MaxPooling</a:t>
            </a:r>
            <a:r>
              <a:rPr lang="en-GB" sz="800" dirty="0"/>
              <a:t>.</a:t>
            </a:r>
          </a:p>
          <a:p>
            <a:pPr marL="0" indent="0" algn="ctr">
              <a:lnSpc>
                <a:spcPct val="100000"/>
              </a:lnSpc>
              <a:spcAft>
                <a:spcPts val="800"/>
              </a:spcAft>
              <a:buNone/>
            </a:pPr>
            <a:r>
              <a:rPr lang="en-GB" sz="800" b="1" dirty="0" err="1">
                <a:solidFill>
                  <a:srgbClr val="E898AC"/>
                </a:solidFill>
              </a:rPr>
              <a:t>MaxPooling</a:t>
            </a:r>
            <a:r>
              <a:rPr lang="en-GB" sz="800" b="1" dirty="0">
                <a:solidFill>
                  <a:srgbClr val="E898AC"/>
                </a:solidFill>
              </a:rPr>
              <a:t> – </a:t>
            </a:r>
            <a:r>
              <a:rPr lang="en-GB" sz="800" dirty="0"/>
              <a:t>To reduce spatial dimension, retains most significant features &amp; reduce computational load. Dropout layers are used to prevent overfitting.</a:t>
            </a:r>
          </a:p>
        </p:txBody>
      </p:sp>
      <p:sp>
        <p:nvSpPr>
          <p:cNvPr id="53" name="Rectangle 52">
            <a:extLst>
              <a:ext uri="{FF2B5EF4-FFF2-40B4-BE49-F238E27FC236}">
                <a16:creationId xmlns:a16="http://schemas.microsoft.com/office/drawing/2014/main" id="{A050AFAF-CB6F-904A-CC96-7E2A2B11E4A4}"/>
              </a:ext>
            </a:extLst>
          </p:cNvPr>
          <p:cNvSpPr/>
          <p:nvPr/>
        </p:nvSpPr>
        <p:spPr>
          <a:xfrm>
            <a:off x="1708824" y="3573179"/>
            <a:ext cx="1807603" cy="1184783"/>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55" name="Google Shape;1112;p38">
            <a:extLst>
              <a:ext uri="{FF2B5EF4-FFF2-40B4-BE49-F238E27FC236}">
                <a16:creationId xmlns:a16="http://schemas.microsoft.com/office/drawing/2014/main" id="{030D76E0-EF99-D2E5-E0CE-87CC60D74A90}"/>
              </a:ext>
            </a:extLst>
          </p:cNvPr>
          <p:cNvSpPr txBox="1">
            <a:spLocks/>
          </p:cNvSpPr>
          <p:nvPr/>
        </p:nvSpPr>
        <p:spPr>
          <a:xfrm>
            <a:off x="4073104" y="3006643"/>
            <a:ext cx="911139" cy="42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1pPr>
            <a:lvl2pPr marR="0" lvl="1"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2pPr>
            <a:lvl3pPr marR="0" lvl="2"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3pPr>
            <a:lvl4pPr marR="0" lvl="3"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4pPr>
            <a:lvl5pPr marR="0" lvl="4"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5pPr>
            <a:lvl6pPr marR="0" lvl="5"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6pPr>
            <a:lvl7pPr marR="0" lvl="6"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7pPr>
            <a:lvl8pPr marR="0" lvl="7"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8pPr>
            <a:lvl9pPr marR="0" lvl="8" algn="l" rtl="0">
              <a:lnSpc>
                <a:spcPct val="100000"/>
              </a:lnSpc>
              <a:spcBef>
                <a:spcPts val="0"/>
              </a:spcBef>
              <a:spcAft>
                <a:spcPts val="0"/>
              </a:spcAft>
              <a:buClr>
                <a:schemeClr val="lt1"/>
              </a:buClr>
              <a:buSzPts val="2800"/>
              <a:buFont typeface="Share Tech"/>
              <a:buNone/>
              <a:defRPr sz="2800" b="0" i="0" u="none" strike="noStrike" cap="none">
                <a:solidFill>
                  <a:schemeClr val="lt1"/>
                </a:solidFill>
                <a:latin typeface="Share Tech"/>
                <a:ea typeface="Share Tech"/>
                <a:cs typeface="Share Tech"/>
                <a:sym typeface="Share Tech"/>
              </a:defRPr>
            </a:lvl9pPr>
          </a:lstStyle>
          <a:p>
            <a:pPr algn="ctr"/>
            <a:r>
              <a:rPr lang="en-IN" sz="1400" b="1" dirty="0">
                <a:solidFill>
                  <a:srgbClr val="FF9973"/>
                </a:solidFill>
              </a:rPr>
              <a:t>Output Layer</a:t>
            </a:r>
          </a:p>
        </p:txBody>
      </p:sp>
      <p:sp>
        <p:nvSpPr>
          <p:cNvPr id="581" name="Rectangle 580">
            <a:extLst>
              <a:ext uri="{FF2B5EF4-FFF2-40B4-BE49-F238E27FC236}">
                <a16:creationId xmlns:a16="http://schemas.microsoft.com/office/drawing/2014/main" id="{A76B4B92-EECA-F54D-077E-3667382B5E1B}"/>
              </a:ext>
            </a:extLst>
          </p:cNvPr>
          <p:cNvSpPr/>
          <p:nvPr/>
        </p:nvSpPr>
        <p:spPr>
          <a:xfrm>
            <a:off x="3672766" y="912490"/>
            <a:ext cx="1807603" cy="1325518"/>
          </a:xfrm>
          <a:prstGeom prst="rect">
            <a:avLst/>
          </a:prstGeom>
          <a:noFill/>
          <a:ln w="15875" cap="flat" cmpd="sng" algn="ctr">
            <a:solidFill>
              <a:srgbClr val="FFD6E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solidFill>
                <a:schemeClr val="bg2">
                  <a:lumMod val="10000"/>
                  <a:lumOff val="90000"/>
                </a:schemeClr>
              </a:solidFill>
            </a:endParaRPr>
          </a:p>
        </p:txBody>
      </p:sp>
      <p:sp>
        <p:nvSpPr>
          <p:cNvPr id="582" name="Google Shape;1109;p38">
            <a:extLst>
              <a:ext uri="{FF2B5EF4-FFF2-40B4-BE49-F238E27FC236}">
                <a16:creationId xmlns:a16="http://schemas.microsoft.com/office/drawing/2014/main" id="{265C282C-5258-CF51-41FF-B817A4EFFB65}"/>
              </a:ext>
            </a:extLst>
          </p:cNvPr>
          <p:cNvSpPr txBox="1">
            <a:spLocks/>
          </p:cNvSpPr>
          <p:nvPr/>
        </p:nvSpPr>
        <p:spPr>
          <a:xfrm>
            <a:off x="3646064" y="882926"/>
            <a:ext cx="1834306" cy="12665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lgn="ctr">
              <a:lnSpc>
                <a:spcPct val="100000"/>
              </a:lnSpc>
              <a:spcAft>
                <a:spcPts val="800"/>
              </a:spcAft>
              <a:buNone/>
            </a:pPr>
            <a:r>
              <a:rPr lang="en-GB" sz="800" dirty="0"/>
              <a:t>After flattening, the outputs pass through a dense layer with 256 units, activated by </a:t>
            </a:r>
            <a:r>
              <a:rPr lang="en-GB" sz="800" dirty="0" err="1"/>
              <a:t>ReLU</a:t>
            </a:r>
            <a:r>
              <a:rPr lang="en-GB" sz="800" dirty="0"/>
              <a:t>. Integrates the learned features for the final classification.</a:t>
            </a:r>
          </a:p>
          <a:p>
            <a:pPr marL="0" indent="0" algn="ctr">
              <a:lnSpc>
                <a:spcPct val="100000"/>
              </a:lnSpc>
              <a:spcAft>
                <a:spcPts val="800"/>
              </a:spcAft>
              <a:buNone/>
            </a:pPr>
            <a:r>
              <a:rPr lang="en-GB" sz="800" dirty="0"/>
              <a:t>Output layer – </a:t>
            </a:r>
            <a:r>
              <a:rPr lang="en-GB" sz="800" dirty="0" err="1"/>
              <a:t>softmax</a:t>
            </a:r>
            <a:r>
              <a:rPr lang="en-GB" sz="800" dirty="0"/>
              <a:t> is the activation function. Predicts probabilities for each of ten classes.</a:t>
            </a:r>
          </a:p>
        </p:txBody>
      </p:sp>
      <p:pic>
        <p:nvPicPr>
          <p:cNvPr id="6" name="Picture 5">
            <a:extLst>
              <a:ext uri="{FF2B5EF4-FFF2-40B4-BE49-F238E27FC236}">
                <a16:creationId xmlns:a16="http://schemas.microsoft.com/office/drawing/2014/main" id="{F01E308F-3E1E-7C23-C706-9B3F6CC873B0}"/>
              </a:ext>
            </a:extLst>
          </p:cNvPr>
          <p:cNvPicPr>
            <a:picLocks noChangeAspect="1"/>
          </p:cNvPicPr>
          <p:nvPr/>
        </p:nvPicPr>
        <p:blipFill>
          <a:blip r:embed="rId3"/>
          <a:stretch>
            <a:fillRect/>
          </a:stretch>
        </p:blipFill>
        <p:spPr>
          <a:xfrm>
            <a:off x="5992926" y="367686"/>
            <a:ext cx="2847109" cy="4220838"/>
          </a:xfrm>
          <a:prstGeom prst="rect">
            <a:avLst/>
          </a:prstGeom>
        </p:spPr>
      </p:pic>
      <p:sp>
        <p:nvSpPr>
          <p:cNvPr id="7" name="Google Shape;435;p25">
            <a:extLst>
              <a:ext uri="{FF2B5EF4-FFF2-40B4-BE49-F238E27FC236}">
                <a16:creationId xmlns:a16="http://schemas.microsoft.com/office/drawing/2014/main" id="{A7E13BC4-E79A-B42A-BAA4-51D256BBD58F}"/>
              </a:ext>
            </a:extLst>
          </p:cNvPr>
          <p:cNvSpPr txBox="1">
            <a:spLocks/>
          </p:cNvSpPr>
          <p:nvPr/>
        </p:nvSpPr>
        <p:spPr>
          <a:xfrm>
            <a:off x="5358979" y="4568024"/>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sz="900" dirty="0">
                <a:solidFill>
                  <a:srgbClr val="FFFFFF"/>
                </a:solidFill>
              </a:rPr>
              <a:t>Fig – Overview of the CRNN structure</a:t>
            </a:r>
          </a:p>
        </p:txBody>
      </p:sp>
    </p:spTree>
    <p:extLst>
      <p:ext uri="{BB962C8B-B14F-4D97-AF65-F5344CB8AC3E}">
        <p14:creationId xmlns:p14="http://schemas.microsoft.com/office/powerpoint/2010/main" val="3354483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7">
          <a:extLst>
            <a:ext uri="{FF2B5EF4-FFF2-40B4-BE49-F238E27FC236}">
              <a16:creationId xmlns:a16="http://schemas.microsoft.com/office/drawing/2014/main" id="{31E2F08F-9B6B-5F6A-15FB-44AB47CDCA25}"/>
            </a:ext>
          </a:extLst>
        </p:cNvPr>
        <p:cNvGrpSpPr/>
        <p:nvPr/>
      </p:nvGrpSpPr>
      <p:grpSpPr>
        <a:xfrm>
          <a:off x="0" y="0"/>
          <a:ext cx="0" cy="0"/>
          <a:chOff x="0" y="0"/>
          <a:chExt cx="0" cy="0"/>
        </a:xfrm>
      </p:grpSpPr>
      <p:sp>
        <p:nvSpPr>
          <p:cNvPr id="688" name="Google Shape;688;p32">
            <a:extLst>
              <a:ext uri="{FF2B5EF4-FFF2-40B4-BE49-F238E27FC236}">
                <a16:creationId xmlns:a16="http://schemas.microsoft.com/office/drawing/2014/main" id="{5E75FDC0-5563-118E-9918-AEFC2B9BCA8B}"/>
              </a:ext>
            </a:extLst>
          </p:cNvPr>
          <p:cNvSpPr txBox="1">
            <a:spLocks noGrp="1"/>
          </p:cNvSpPr>
          <p:nvPr>
            <p:ph type="ctrTitle"/>
          </p:nvPr>
        </p:nvSpPr>
        <p:spPr>
          <a:xfrm>
            <a:off x="1167515" y="1742775"/>
            <a:ext cx="4349543" cy="8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Research Aspects</a:t>
            </a:r>
            <a:endParaRPr dirty="0"/>
          </a:p>
        </p:txBody>
      </p:sp>
      <p:sp>
        <p:nvSpPr>
          <p:cNvPr id="689" name="Google Shape;689;p32">
            <a:extLst>
              <a:ext uri="{FF2B5EF4-FFF2-40B4-BE49-F238E27FC236}">
                <a16:creationId xmlns:a16="http://schemas.microsoft.com/office/drawing/2014/main" id="{7429541D-EAAF-A648-FD86-691116E51456}"/>
              </a:ext>
            </a:extLst>
          </p:cNvPr>
          <p:cNvSpPr txBox="1">
            <a:spLocks noGrp="1"/>
          </p:cNvSpPr>
          <p:nvPr>
            <p:ph type="subTitle" idx="1"/>
          </p:nvPr>
        </p:nvSpPr>
        <p:spPr>
          <a:xfrm>
            <a:off x="1791587" y="2417450"/>
            <a:ext cx="3101400" cy="104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State of the art models (Theoretical analysis)</a:t>
            </a:r>
            <a:endParaRPr dirty="0"/>
          </a:p>
        </p:txBody>
      </p:sp>
      <p:sp>
        <p:nvSpPr>
          <p:cNvPr id="690" name="Google Shape;690;p32">
            <a:extLst>
              <a:ext uri="{FF2B5EF4-FFF2-40B4-BE49-F238E27FC236}">
                <a16:creationId xmlns:a16="http://schemas.microsoft.com/office/drawing/2014/main" id="{6692C8E3-5059-344D-310C-CA78306419D5}"/>
              </a:ext>
            </a:extLst>
          </p:cNvPr>
          <p:cNvSpPr/>
          <p:nvPr/>
        </p:nvSpPr>
        <p:spPr>
          <a:xfrm>
            <a:off x="5782875" y="1868575"/>
            <a:ext cx="10851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2">
            <a:extLst>
              <a:ext uri="{FF2B5EF4-FFF2-40B4-BE49-F238E27FC236}">
                <a16:creationId xmlns:a16="http://schemas.microsoft.com/office/drawing/2014/main" id="{1938A90E-9A04-FFEE-26F7-AA5248BBA04D}"/>
              </a:ext>
            </a:extLst>
          </p:cNvPr>
          <p:cNvSpPr txBox="1">
            <a:spLocks noGrp="1"/>
          </p:cNvSpPr>
          <p:nvPr>
            <p:ph type="title" idx="2"/>
          </p:nvPr>
        </p:nvSpPr>
        <p:spPr>
          <a:xfrm>
            <a:off x="5834900" y="2122225"/>
            <a:ext cx="9810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dk2"/>
                </a:solidFill>
              </a:rPr>
              <a:t>03</a:t>
            </a:r>
            <a:endParaRPr dirty="0">
              <a:solidFill>
                <a:schemeClr val="dk2"/>
              </a:solidFill>
            </a:endParaRPr>
          </a:p>
        </p:txBody>
      </p:sp>
      <p:sp>
        <p:nvSpPr>
          <p:cNvPr id="692" name="Google Shape;692;p32">
            <a:extLst>
              <a:ext uri="{FF2B5EF4-FFF2-40B4-BE49-F238E27FC236}">
                <a16:creationId xmlns:a16="http://schemas.microsoft.com/office/drawing/2014/main" id="{6677DDDD-C9B0-7E70-AE18-B6688AB684F2}"/>
              </a:ext>
            </a:extLst>
          </p:cNvPr>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2">
            <a:extLst>
              <a:ext uri="{FF2B5EF4-FFF2-40B4-BE49-F238E27FC236}">
                <a16:creationId xmlns:a16="http://schemas.microsoft.com/office/drawing/2014/main" id="{08281D20-422F-173A-F74F-F3FCF412B9F9}"/>
              </a:ext>
            </a:extLst>
          </p:cNvPr>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4" name="Google Shape;694;p32">
            <a:extLst>
              <a:ext uri="{FF2B5EF4-FFF2-40B4-BE49-F238E27FC236}">
                <a16:creationId xmlns:a16="http://schemas.microsoft.com/office/drawing/2014/main" id="{32F8B822-3624-54C2-881F-36DDDD79C8F9}"/>
              </a:ext>
            </a:extLst>
          </p:cNvPr>
          <p:cNvCxnSpPr>
            <a:stCxn id="690" idx="2"/>
          </p:cNvCxnSpPr>
          <p:nvPr/>
        </p:nvCxnSpPr>
        <p:spPr>
          <a:xfrm>
            <a:off x="6325425" y="2953675"/>
            <a:ext cx="0" cy="978000"/>
          </a:xfrm>
          <a:prstGeom prst="straightConnector1">
            <a:avLst/>
          </a:prstGeom>
          <a:noFill/>
          <a:ln w="19050"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1386169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6">
          <a:extLst>
            <a:ext uri="{FF2B5EF4-FFF2-40B4-BE49-F238E27FC236}">
              <a16:creationId xmlns:a16="http://schemas.microsoft.com/office/drawing/2014/main" id="{5EC79044-6F19-91B1-DC7E-244D80108DEB}"/>
            </a:ext>
          </a:extLst>
        </p:cNvPr>
        <p:cNvGrpSpPr/>
        <p:nvPr/>
      </p:nvGrpSpPr>
      <p:grpSpPr>
        <a:xfrm>
          <a:off x="0" y="0"/>
          <a:ext cx="0" cy="0"/>
          <a:chOff x="0" y="0"/>
          <a:chExt cx="0" cy="0"/>
        </a:xfrm>
      </p:grpSpPr>
      <p:sp>
        <p:nvSpPr>
          <p:cNvPr id="508" name="Google Shape;508;p28">
            <a:extLst>
              <a:ext uri="{FF2B5EF4-FFF2-40B4-BE49-F238E27FC236}">
                <a16:creationId xmlns:a16="http://schemas.microsoft.com/office/drawing/2014/main" id="{1204A14C-8BE9-E265-FFFE-C57A10467A60}"/>
              </a:ext>
            </a:extLst>
          </p:cNvPr>
          <p:cNvSpPr txBox="1">
            <a:spLocks noGrp="1"/>
          </p:cNvSpPr>
          <p:nvPr>
            <p:ph type="ctrTitle"/>
          </p:nvPr>
        </p:nvSpPr>
        <p:spPr>
          <a:xfrm>
            <a:off x="258476" y="246575"/>
            <a:ext cx="5331499"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Transformer-Based model</a:t>
            </a:r>
            <a:endParaRPr dirty="0"/>
          </a:p>
        </p:txBody>
      </p:sp>
      <p:sp>
        <p:nvSpPr>
          <p:cNvPr id="4" name="Google Shape;466;p26">
            <a:extLst>
              <a:ext uri="{FF2B5EF4-FFF2-40B4-BE49-F238E27FC236}">
                <a16:creationId xmlns:a16="http://schemas.microsoft.com/office/drawing/2014/main" id="{7911D18F-9ABA-96CA-7851-A05FD6A7E726}"/>
              </a:ext>
            </a:extLst>
          </p:cNvPr>
          <p:cNvSpPr txBox="1">
            <a:spLocks noGrp="1"/>
          </p:cNvSpPr>
          <p:nvPr>
            <p:ph type="body" idx="1"/>
          </p:nvPr>
        </p:nvSpPr>
        <p:spPr>
          <a:xfrm>
            <a:off x="258476" y="824375"/>
            <a:ext cx="7164674" cy="388475"/>
          </a:xfrm>
          <a:prstGeom prst="rect">
            <a:avLst/>
          </a:prstGeom>
        </p:spPr>
        <p:txBody>
          <a:bodyPr spcFirstLastPara="1" wrap="square" lIns="91425" tIns="91425" rIns="91425" bIns="91425" anchor="t" anchorCtr="0">
            <a:noAutofit/>
          </a:bodyPr>
          <a:lstStyle/>
          <a:p>
            <a:pPr marL="152400" lvl="0" indent="0" algn="l" rtl="0">
              <a:lnSpc>
                <a:spcPct val="100000"/>
              </a:lnSpc>
              <a:spcBef>
                <a:spcPts val="0"/>
              </a:spcBef>
              <a:spcAft>
                <a:spcPts val="0"/>
              </a:spcAft>
              <a:buClr>
                <a:schemeClr val="lt1"/>
              </a:buClr>
              <a:buSzPts val="1200"/>
              <a:buNone/>
            </a:pPr>
            <a:r>
              <a:rPr lang="en-GB" sz="1100" dirty="0"/>
              <a:t>Leverage self-attention mechanisms to capture long-range dependencies in sequential data.</a:t>
            </a:r>
          </a:p>
        </p:txBody>
      </p:sp>
      <p:sp>
        <p:nvSpPr>
          <p:cNvPr id="9" name="Google Shape;466;p26">
            <a:extLst>
              <a:ext uri="{FF2B5EF4-FFF2-40B4-BE49-F238E27FC236}">
                <a16:creationId xmlns:a16="http://schemas.microsoft.com/office/drawing/2014/main" id="{DEC7491C-1DC5-6232-9FA2-FB9B2E45D5B0}"/>
              </a:ext>
            </a:extLst>
          </p:cNvPr>
          <p:cNvSpPr txBox="1">
            <a:spLocks/>
          </p:cNvSpPr>
          <p:nvPr/>
        </p:nvSpPr>
        <p:spPr>
          <a:xfrm>
            <a:off x="258476" y="1212849"/>
            <a:ext cx="4313524" cy="33690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buFont typeface="Maven Pro"/>
              <a:buNone/>
            </a:pPr>
            <a:r>
              <a:rPr lang="en" sz="1300" b="1" dirty="0">
                <a:solidFill>
                  <a:srgbClr val="FF9973"/>
                </a:solidFill>
              </a:rPr>
              <a:t>Dataset Pre-processing</a:t>
            </a:r>
          </a:p>
          <a:p>
            <a:pPr marL="0" indent="0">
              <a:buFont typeface="Maven Pro"/>
              <a:buNone/>
            </a:pPr>
            <a:endParaRPr lang="en-IN" sz="1300" b="1" dirty="0">
              <a:solidFill>
                <a:srgbClr val="FF9973"/>
              </a:solidFill>
            </a:endParaRPr>
          </a:p>
          <a:p>
            <a:r>
              <a:rPr lang="en-IN" sz="1100" dirty="0">
                <a:solidFill>
                  <a:srgbClr val="E898AC"/>
                </a:solidFill>
              </a:rPr>
              <a:t>Input Representation – </a:t>
            </a:r>
            <a:r>
              <a:rPr lang="en-IN" sz="1100" dirty="0"/>
              <a:t>Works on 2D representation like spectrogram or waveforms tokenized into patches.</a:t>
            </a:r>
          </a:p>
          <a:p>
            <a:r>
              <a:rPr lang="en-IN" sz="1100" dirty="0">
                <a:solidFill>
                  <a:srgbClr val="E898AC"/>
                </a:solidFill>
              </a:rPr>
              <a:t>Resampling –</a:t>
            </a:r>
            <a:r>
              <a:rPr lang="en-IN" sz="1100" dirty="0"/>
              <a:t> Audio is resampled to a standard rate.</a:t>
            </a:r>
          </a:p>
          <a:p>
            <a:pPr marL="114300" indent="0">
              <a:buNone/>
            </a:pPr>
            <a:endParaRPr lang="en-IN" sz="1100" dirty="0"/>
          </a:p>
          <a:p>
            <a:r>
              <a:rPr lang="en-IN" sz="1100" dirty="0">
                <a:solidFill>
                  <a:srgbClr val="E898AC"/>
                </a:solidFill>
              </a:rPr>
              <a:t>Feature Extraction - </a:t>
            </a:r>
            <a:endParaRPr lang="en-GB" sz="1100" dirty="0">
              <a:solidFill>
                <a:srgbClr val="E898AC"/>
              </a:solidFill>
            </a:endParaRPr>
          </a:p>
          <a:p>
            <a:pPr lvl="1"/>
            <a:r>
              <a:rPr lang="en-GB" sz="1050" dirty="0"/>
              <a:t>Log-</a:t>
            </a:r>
            <a:r>
              <a:rPr lang="en-GB" sz="1050" dirty="0" err="1"/>
              <a:t>mel</a:t>
            </a:r>
            <a:r>
              <a:rPr lang="en-GB" sz="1050" dirty="0"/>
              <a:t> spectrogram – Convert waveform to a time-frequency representation using Mel-scale filters</a:t>
            </a:r>
          </a:p>
          <a:p>
            <a:pPr lvl="1"/>
            <a:r>
              <a:rPr lang="en-GB" sz="1050" dirty="0"/>
              <a:t>Patch Tokenization – Divide spectrogram into non – overlapping patches e.g. 16x16 pixels per patch.</a:t>
            </a:r>
          </a:p>
          <a:p>
            <a:pPr lvl="1"/>
            <a:endParaRPr lang="en-GB" sz="1050" dirty="0"/>
          </a:p>
          <a:p>
            <a:r>
              <a:rPr lang="en-GB" sz="1100" dirty="0">
                <a:solidFill>
                  <a:srgbClr val="E898AC"/>
                </a:solidFill>
              </a:rPr>
              <a:t>Normalization –</a:t>
            </a:r>
            <a:r>
              <a:rPr lang="en-GB" sz="1100" dirty="0"/>
              <a:t> Normalize spectrogram values to a range suitable for training.</a:t>
            </a:r>
          </a:p>
          <a:p>
            <a:r>
              <a:rPr lang="en-GB" sz="1100" dirty="0">
                <a:solidFill>
                  <a:srgbClr val="E898AC"/>
                </a:solidFill>
              </a:rPr>
              <a:t>Augmentation –</a:t>
            </a:r>
            <a:r>
              <a:rPr lang="en-GB" sz="1100" dirty="0"/>
              <a:t> </a:t>
            </a:r>
          </a:p>
          <a:p>
            <a:pPr lvl="1"/>
            <a:r>
              <a:rPr lang="en-GB" sz="1050" dirty="0" err="1"/>
              <a:t>SpecAugment</a:t>
            </a:r>
            <a:r>
              <a:rPr lang="en-GB" sz="1050" dirty="0"/>
              <a:t> – Apply time or frequency masking to spectrogram.</a:t>
            </a:r>
          </a:p>
          <a:p>
            <a:endParaRPr lang="en-US" sz="1100" dirty="0"/>
          </a:p>
        </p:txBody>
      </p:sp>
      <p:sp>
        <p:nvSpPr>
          <p:cNvPr id="10" name="Google Shape;466;p26">
            <a:extLst>
              <a:ext uri="{FF2B5EF4-FFF2-40B4-BE49-F238E27FC236}">
                <a16:creationId xmlns:a16="http://schemas.microsoft.com/office/drawing/2014/main" id="{49C70B47-E994-74F0-1ACF-4182821DEC3F}"/>
              </a:ext>
            </a:extLst>
          </p:cNvPr>
          <p:cNvSpPr txBox="1">
            <a:spLocks/>
          </p:cNvSpPr>
          <p:nvPr/>
        </p:nvSpPr>
        <p:spPr>
          <a:xfrm>
            <a:off x="4664823" y="1918527"/>
            <a:ext cx="4313524" cy="19577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buFont typeface="Maven Pro"/>
              <a:buNone/>
            </a:pPr>
            <a:r>
              <a:rPr lang="en" sz="1300" b="1" dirty="0">
                <a:solidFill>
                  <a:srgbClr val="FF9973"/>
                </a:solidFill>
              </a:rPr>
              <a:t>Model Working</a:t>
            </a:r>
          </a:p>
          <a:p>
            <a:pPr marL="0" indent="0">
              <a:buFont typeface="Maven Pro"/>
              <a:buNone/>
            </a:pPr>
            <a:endParaRPr lang="en-IN" sz="1300" b="1" dirty="0">
              <a:solidFill>
                <a:srgbClr val="FF9973"/>
              </a:solidFill>
            </a:endParaRPr>
          </a:p>
          <a:p>
            <a:r>
              <a:rPr lang="en-IN" sz="1100" dirty="0">
                <a:solidFill>
                  <a:srgbClr val="E898AC"/>
                </a:solidFill>
              </a:rPr>
              <a:t>Input –</a:t>
            </a:r>
            <a:r>
              <a:rPr lang="en-IN" sz="1100" dirty="0"/>
              <a:t> Spectrogram patches with positional encodings.</a:t>
            </a:r>
          </a:p>
          <a:p>
            <a:r>
              <a:rPr lang="en-IN" sz="1100" dirty="0">
                <a:solidFill>
                  <a:srgbClr val="E898AC"/>
                </a:solidFill>
              </a:rPr>
              <a:t>Self Attention Mechanism – </a:t>
            </a:r>
          </a:p>
          <a:p>
            <a:pPr lvl="1"/>
            <a:r>
              <a:rPr lang="en-IN" sz="1050" dirty="0"/>
              <a:t>Compute similarity between patches to determine which part of audio are important for classification.</a:t>
            </a:r>
          </a:p>
          <a:p>
            <a:pPr lvl="1"/>
            <a:r>
              <a:rPr lang="en-IN" sz="1050" dirty="0"/>
              <a:t>Captures global relationships in time and frequency.</a:t>
            </a:r>
          </a:p>
          <a:p>
            <a:r>
              <a:rPr lang="en-IN" sz="1100" dirty="0">
                <a:solidFill>
                  <a:srgbClr val="E898AC"/>
                </a:solidFill>
              </a:rPr>
              <a:t>Output –</a:t>
            </a:r>
            <a:r>
              <a:rPr lang="en-IN" sz="1100" dirty="0"/>
              <a:t> A probability distribution over acoustic scene classes.</a:t>
            </a:r>
            <a:endParaRPr lang="en-US" sz="1100" dirty="0"/>
          </a:p>
        </p:txBody>
      </p:sp>
    </p:spTree>
    <p:extLst>
      <p:ext uri="{BB962C8B-B14F-4D97-AF65-F5344CB8AC3E}">
        <p14:creationId xmlns:p14="http://schemas.microsoft.com/office/powerpoint/2010/main" val="734782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0E1FE2C-FA2A-E3DF-978D-71A8ADBAECAE}"/>
              </a:ext>
            </a:extLst>
          </p:cNvPr>
          <p:cNvSpPr/>
          <p:nvPr/>
        </p:nvSpPr>
        <p:spPr>
          <a:xfrm rot="5400000">
            <a:off x="7596627" y="3685184"/>
            <a:ext cx="714679" cy="1792570"/>
          </a:xfrm>
          <a:prstGeom prst="rect">
            <a:avLst/>
          </a:prstGeom>
          <a:solidFill>
            <a:srgbClr val="00284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Google Shape;466;p26">
            <a:extLst>
              <a:ext uri="{FF2B5EF4-FFF2-40B4-BE49-F238E27FC236}">
                <a16:creationId xmlns:a16="http://schemas.microsoft.com/office/drawing/2014/main" id="{F582680F-D13F-38D8-20E8-088AFE0F2B22}"/>
              </a:ext>
            </a:extLst>
          </p:cNvPr>
          <p:cNvSpPr txBox="1">
            <a:spLocks/>
          </p:cNvSpPr>
          <p:nvPr/>
        </p:nvSpPr>
        <p:spPr>
          <a:xfrm>
            <a:off x="361180" y="437596"/>
            <a:ext cx="4313524" cy="37865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buFont typeface="Maven Pro"/>
              <a:buNone/>
            </a:pPr>
            <a:r>
              <a:rPr lang="en" sz="1300" b="1" dirty="0">
                <a:solidFill>
                  <a:srgbClr val="FF9973"/>
                </a:solidFill>
              </a:rPr>
              <a:t>Model Description </a:t>
            </a:r>
          </a:p>
          <a:p>
            <a:pPr marL="0" indent="0">
              <a:buFont typeface="Maven Pro"/>
              <a:buNone/>
            </a:pPr>
            <a:r>
              <a:rPr lang="en" sz="1300" b="1" dirty="0">
                <a:solidFill>
                  <a:srgbClr val="FF9973"/>
                </a:solidFill>
              </a:rPr>
              <a:t> </a:t>
            </a:r>
          </a:p>
          <a:p>
            <a:pPr marL="0" indent="0">
              <a:buFont typeface="Maven Pro"/>
              <a:buNone/>
            </a:pPr>
            <a:r>
              <a:rPr lang="en" sz="1300" b="1" dirty="0">
                <a:solidFill>
                  <a:srgbClr val="FF9973"/>
                </a:solidFill>
              </a:rPr>
              <a:t>  Architecture</a:t>
            </a:r>
          </a:p>
          <a:p>
            <a:pPr marL="0" indent="0">
              <a:buFont typeface="Maven Pro"/>
              <a:buNone/>
            </a:pPr>
            <a:endParaRPr lang="en-IN" sz="1300" b="1" dirty="0">
              <a:solidFill>
                <a:srgbClr val="FF9973"/>
              </a:solidFill>
            </a:endParaRPr>
          </a:p>
          <a:p>
            <a:r>
              <a:rPr lang="en-IN" sz="1100" dirty="0">
                <a:solidFill>
                  <a:srgbClr val="E898AC"/>
                </a:solidFill>
              </a:rPr>
              <a:t>Patch Embedding Layer – </a:t>
            </a:r>
          </a:p>
          <a:p>
            <a:pPr lvl="1"/>
            <a:r>
              <a:rPr lang="en-IN" sz="1050" dirty="0"/>
              <a:t>Converts spectrogram patches into vectors using linear projection.</a:t>
            </a:r>
          </a:p>
          <a:p>
            <a:pPr lvl="1"/>
            <a:r>
              <a:rPr lang="en-IN" sz="1050" dirty="0"/>
              <a:t>Positional embeddings are added to encode temporal info.</a:t>
            </a:r>
          </a:p>
          <a:p>
            <a:r>
              <a:rPr lang="en-IN" sz="1100" dirty="0">
                <a:solidFill>
                  <a:srgbClr val="E898AC"/>
                </a:solidFill>
              </a:rPr>
              <a:t>Transformer Encoder – </a:t>
            </a:r>
          </a:p>
          <a:p>
            <a:pPr lvl="1"/>
            <a:r>
              <a:rPr lang="en-IN" sz="1050" dirty="0"/>
              <a:t>Consists of many self-attention layers &amp; feed forward networks (FFNs).</a:t>
            </a:r>
          </a:p>
          <a:p>
            <a:pPr lvl="1"/>
            <a:r>
              <a:rPr lang="en-IN" sz="1050" dirty="0"/>
              <a:t>Self-attention computes relationship between all patches to capture global context.</a:t>
            </a:r>
          </a:p>
          <a:p>
            <a:r>
              <a:rPr lang="en-IN" sz="1100" dirty="0">
                <a:solidFill>
                  <a:srgbClr val="E898AC"/>
                </a:solidFill>
              </a:rPr>
              <a:t>Classification Head – </a:t>
            </a:r>
          </a:p>
          <a:p>
            <a:pPr lvl="1"/>
            <a:r>
              <a:rPr lang="en-IN" sz="1050" dirty="0">
                <a:solidFill>
                  <a:schemeClr val="bg1"/>
                </a:solidFill>
              </a:rPr>
              <a:t>The token rep. entire input is used to aggregate global info.</a:t>
            </a:r>
          </a:p>
          <a:p>
            <a:pPr lvl="1"/>
            <a:r>
              <a:rPr lang="en-IN" sz="1050" dirty="0">
                <a:solidFill>
                  <a:schemeClr val="bg1"/>
                </a:solidFill>
              </a:rPr>
              <a:t>A dense layer maps the token embedding to class probabilities.</a:t>
            </a:r>
            <a:endParaRPr lang="en-US" sz="1050" dirty="0">
              <a:solidFill>
                <a:schemeClr val="bg1"/>
              </a:solidFill>
            </a:endParaRPr>
          </a:p>
        </p:txBody>
      </p:sp>
      <p:sp>
        <p:nvSpPr>
          <p:cNvPr id="7" name="Google Shape;466;p26">
            <a:extLst>
              <a:ext uri="{FF2B5EF4-FFF2-40B4-BE49-F238E27FC236}">
                <a16:creationId xmlns:a16="http://schemas.microsoft.com/office/drawing/2014/main" id="{833A1723-693B-33A4-F7B3-8FD23C951D9B}"/>
              </a:ext>
            </a:extLst>
          </p:cNvPr>
          <p:cNvSpPr txBox="1">
            <a:spLocks/>
          </p:cNvSpPr>
          <p:nvPr/>
        </p:nvSpPr>
        <p:spPr>
          <a:xfrm>
            <a:off x="4674704" y="437597"/>
            <a:ext cx="4313524" cy="179870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buFont typeface="Maven Pro"/>
              <a:buNone/>
            </a:pPr>
            <a:r>
              <a:rPr lang="en" sz="1300" b="1" dirty="0">
                <a:solidFill>
                  <a:srgbClr val="FF9973"/>
                </a:solidFill>
              </a:rPr>
              <a:t>Model Description </a:t>
            </a:r>
          </a:p>
          <a:p>
            <a:pPr marL="0" indent="0">
              <a:buFont typeface="Maven Pro"/>
              <a:buNone/>
            </a:pPr>
            <a:r>
              <a:rPr lang="en" sz="1300" b="1" dirty="0">
                <a:solidFill>
                  <a:srgbClr val="FF9973"/>
                </a:solidFill>
              </a:rPr>
              <a:t> </a:t>
            </a:r>
          </a:p>
          <a:p>
            <a:pPr marL="0" indent="0">
              <a:buFont typeface="Maven Pro"/>
              <a:buNone/>
            </a:pPr>
            <a:r>
              <a:rPr lang="en" sz="1300" b="1" dirty="0">
                <a:solidFill>
                  <a:srgbClr val="FF9973"/>
                </a:solidFill>
              </a:rPr>
              <a:t>  Training</a:t>
            </a:r>
          </a:p>
          <a:p>
            <a:pPr marL="0" indent="0">
              <a:buFont typeface="Maven Pro"/>
              <a:buNone/>
            </a:pPr>
            <a:endParaRPr lang="en-IN" sz="1300" b="1" dirty="0">
              <a:solidFill>
                <a:srgbClr val="FF9973"/>
              </a:solidFill>
            </a:endParaRPr>
          </a:p>
          <a:p>
            <a:r>
              <a:rPr lang="en-IN" sz="1100" dirty="0">
                <a:solidFill>
                  <a:srgbClr val="E898AC"/>
                </a:solidFill>
              </a:rPr>
              <a:t>Loss Function -  </a:t>
            </a:r>
          </a:p>
          <a:p>
            <a:pPr lvl="1"/>
            <a:r>
              <a:rPr lang="en-IN" sz="1050" dirty="0"/>
              <a:t>Cross-entropy loss for multi-class classification</a:t>
            </a:r>
          </a:p>
          <a:p>
            <a:r>
              <a:rPr lang="en-IN" sz="1100" dirty="0">
                <a:solidFill>
                  <a:srgbClr val="E898AC"/>
                </a:solidFill>
              </a:rPr>
              <a:t>Optimizer - </a:t>
            </a:r>
          </a:p>
          <a:p>
            <a:pPr lvl="1"/>
            <a:r>
              <a:rPr lang="en-IN" sz="1050" dirty="0"/>
              <a:t>Adam or </a:t>
            </a:r>
            <a:r>
              <a:rPr lang="en-IN" sz="1050" dirty="0" err="1"/>
              <a:t>AdamW</a:t>
            </a:r>
            <a:r>
              <a:rPr lang="en-IN" sz="1050" dirty="0"/>
              <a:t> is used with learning rate scheduling.</a:t>
            </a:r>
          </a:p>
        </p:txBody>
      </p:sp>
      <p:pic>
        <p:nvPicPr>
          <p:cNvPr id="9" name="Picture 8">
            <a:extLst>
              <a:ext uri="{FF2B5EF4-FFF2-40B4-BE49-F238E27FC236}">
                <a16:creationId xmlns:a16="http://schemas.microsoft.com/office/drawing/2014/main" id="{545535AC-C2E6-5C6B-DD20-78DDDD3719E8}"/>
              </a:ext>
            </a:extLst>
          </p:cNvPr>
          <p:cNvPicPr>
            <a:picLocks noChangeAspect="1"/>
          </p:cNvPicPr>
          <p:nvPr/>
        </p:nvPicPr>
        <p:blipFill>
          <a:blip r:embed="rId2"/>
          <a:stretch>
            <a:fillRect/>
          </a:stretch>
        </p:blipFill>
        <p:spPr>
          <a:xfrm>
            <a:off x="5020872" y="2907196"/>
            <a:ext cx="3761948" cy="1508349"/>
          </a:xfrm>
          <a:prstGeom prst="rect">
            <a:avLst/>
          </a:prstGeom>
        </p:spPr>
      </p:pic>
      <p:sp>
        <p:nvSpPr>
          <p:cNvPr id="11" name="Google Shape;435;p25">
            <a:extLst>
              <a:ext uri="{FF2B5EF4-FFF2-40B4-BE49-F238E27FC236}">
                <a16:creationId xmlns:a16="http://schemas.microsoft.com/office/drawing/2014/main" id="{940D7DEC-E202-4209-B571-2AC33334228B}"/>
              </a:ext>
            </a:extLst>
          </p:cNvPr>
          <p:cNvSpPr txBox="1">
            <a:spLocks/>
          </p:cNvSpPr>
          <p:nvPr/>
        </p:nvSpPr>
        <p:spPr>
          <a:xfrm>
            <a:off x="4844345" y="4401060"/>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sz="900" dirty="0">
                <a:solidFill>
                  <a:srgbClr val="FFFFFF"/>
                </a:solidFill>
              </a:rPr>
              <a:t>Fig – Transformer Model for ASC</a:t>
            </a:r>
          </a:p>
        </p:txBody>
      </p:sp>
    </p:spTree>
    <p:extLst>
      <p:ext uri="{BB962C8B-B14F-4D97-AF65-F5344CB8AC3E}">
        <p14:creationId xmlns:p14="http://schemas.microsoft.com/office/powerpoint/2010/main" val="3888701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06">
          <a:extLst>
            <a:ext uri="{FF2B5EF4-FFF2-40B4-BE49-F238E27FC236}">
              <a16:creationId xmlns:a16="http://schemas.microsoft.com/office/drawing/2014/main" id="{CD729347-48FF-6135-25A4-0D23E9B9AAD0}"/>
            </a:ext>
          </a:extLst>
        </p:cNvPr>
        <p:cNvGrpSpPr/>
        <p:nvPr/>
      </p:nvGrpSpPr>
      <p:grpSpPr>
        <a:xfrm>
          <a:off x="0" y="0"/>
          <a:ext cx="0" cy="0"/>
          <a:chOff x="0" y="0"/>
          <a:chExt cx="0" cy="0"/>
        </a:xfrm>
      </p:grpSpPr>
      <p:sp>
        <p:nvSpPr>
          <p:cNvPr id="508" name="Google Shape;508;p28">
            <a:extLst>
              <a:ext uri="{FF2B5EF4-FFF2-40B4-BE49-F238E27FC236}">
                <a16:creationId xmlns:a16="http://schemas.microsoft.com/office/drawing/2014/main" id="{D5FF37C5-DD3E-EF6D-AC2B-659A2E41B7DF}"/>
              </a:ext>
            </a:extLst>
          </p:cNvPr>
          <p:cNvSpPr txBox="1">
            <a:spLocks noGrp="1"/>
          </p:cNvSpPr>
          <p:nvPr>
            <p:ph type="ctrTitle"/>
          </p:nvPr>
        </p:nvSpPr>
        <p:spPr>
          <a:xfrm>
            <a:off x="258476" y="246575"/>
            <a:ext cx="5331499"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err="1"/>
              <a:t>WaveNet</a:t>
            </a:r>
            <a:r>
              <a:rPr lang="en-IN" dirty="0"/>
              <a:t> model</a:t>
            </a:r>
            <a:endParaRPr dirty="0"/>
          </a:p>
        </p:txBody>
      </p:sp>
      <p:sp>
        <p:nvSpPr>
          <p:cNvPr id="4" name="Google Shape;466;p26">
            <a:extLst>
              <a:ext uri="{FF2B5EF4-FFF2-40B4-BE49-F238E27FC236}">
                <a16:creationId xmlns:a16="http://schemas.microsoft.com/office/drawing/2014/main" id="{612A3F28-7296-E74A-48A3-8DD95D2E6B7F}"/>
              </a:ext>
            </a:extLst>
          </p:cNvPr>
          <p:cNvSpPr txBox="1">
            <a:spLocks noGrp="1"/>
          </p:cNvSpPr>
          <p:nvPr>
            <p:ph type="body" idx="1"/>
          </p:nvPr>
        </p:nvSpPr>
        <p:spPr>
          <a:xfrm>
            <a:off x="258476" y="824375"/>
            <a:ext cx="8627048" cy="388475"/>
          </a:xfrm>
          <a:prstGeom prst="rect">
            <a:avLst/>
          </a:prstGeom>
        </p:spPr>
        <p:txBody>
          <a:bodyPr spcFirstLastPara="1" wrap="square" lIns="91425" tIns="91425" rIns="91425" bIns="91425" anchor="t" anchorCtr="0">
            <a:noAutofit/>
          </a:bodyPr>
          <a:lstStyle/>
          <a:p>
            <a:pPr marL="152400" lvl="0" indent="0" algn="l" rtl="0">
              <a:lnSpc>
                <a:spcPct val="100000"/>
              </a:lnSpc>
              <a:spcBef>
                <a:spcPts val="0"/>
              </a:spcBef>
              <a:spcAft>
                <a:spcPts val="0"/>
              </a:spcAft>
              <a:buClr>
                <a:schemeClr val="lt1"/>
              </a:buClr>
              <a:buSzPts val="1200"/>
              <a:buNone/>
            </a:pPr>
            <a:r>
              <a:rPr lang="en-GB" sz="1100" dirty="0"/>
              <a:t>Developed by </a:t>
            </a:r>
            <a:r>
              <a:rPr lang="en-GB" sz="1100" dirty="0" err="1"/>
              <a:t>DeepMinds</a:t>
            </a:r>
            <a:r>
              <a:rPr lang="en-GB" sz="1100" dirty="0"/>
              <a:t> for audio synthesis, can also be adapted for ASC. It operates directly on raw waveforms, </a:t>
            </a:r>
            <a:r>
              <a:rPr lang="en-GB" sz="1100" dirty="0" err="1"/>
              <a:t>modeling</a:t>
            </a:r>
            <a:r>
              <a:rPr lang="en-GB" sz="1100" dirty="0"/>
              <a:t> the signal's temporal dependencies.</a:t>
            </a:r>
          </a:p>
        </p:txBody>
      </p:sp>
      <p:sp>
        <p:nvSpPr>
          <p:cNvPr id="9" name="Google Shape;466;p26">
            <a:extLst>
              <a:ext uri="{FF2B5EF4-FFF2-40B4-BE49-F238E27FC236}">
                <a16:creationId xmlns:a16="http://schemas.microsoft.com/office/drawing/2014/main" id="{EAA33690-1C50-D4B9-DE1A-D733454A04F3}"/>
              </a:ext>
            </a:extLst>
          </p:cNvPr>
          <p:cNvSpPr txBox="1">
            <a:spLocks/>
          </p:cNvSpPr>
          <p:nvPr/>
        </p:nvSpPr>
        <p:spPr>
          <a:xfrm>
            <a:off x="258476" y="1361934"/>
            <a:ext cx="4313524" cy="33690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buFont typeface="Maven Pro"/>
              <a:buNone/>
            </a:pPr>
            <a:r>
              <a:rPr lang="en" sz="1300" b="1" dirty="0">
                <a:solidFill>
                  <a:srgbClr val="FF9973"/>
                </a:solidFill>
              </a:rPr>
              <a:t>Dataset Pre-processing</a:t>
            </a:r>
          </a:p>
          <a:p>
            <a:pPr marL="0" indent="0">
              <a:buFont typeface="Maven Pro"/>
              <a:buNone/>
            </a:pPr>
            <a:endParaRPr lang="en-IN" sz="1300" b="1" dirty="0">
              <a:solidFill>
                <a:srgbClr val="FF9973"/>
              </a:solidFill>
            </a:endParaRPr>
          </a:p>
          <a:p>
            <a:r>
              <a:rPr lang="en-IN" sz="1100" dirty="0">
                <a:solidFill>
                  <a:srgbClr val="E898AC"/>
                </a:solidFill>
              </a:rPr>
              <a:t>Resampling –</a:t>
            </a:r>
            <a:r>
              <a:rPr lang="en-IN" sz="1100" dirty="0"/>
              <a:t> Audio is resampled to a standard rate.</a:t>
            </a:r>
          </a:p>
          <a:p>
            <a:pPr marL="114300" indent="0">
              <a:buNone/>
            </a:pPr>
            <a:endParaRPr lang="en-IN" sz="1100" dirty="0"/>
          </a:p>
          <a:p>
            <a:r>
              <a:rPr lang="en-IN" sz="1100" dirty="0">
                <a:solidFill>
                  <a:srgbClr val="E898AC"/>
                </a:solidFill>
              </a:rPr>
              <a:t>Quantization - </a:t>
            </a:r>
            <a:endParaRPr lang="en-GB" sz="1100" dirty="0">
              <a:solidFill>
                <a:srgbClr val="E898AC"/>
              </a:solidFill>
            </a:endParaRPr>
          </a:p>
          <a:p>
            <a:pPr lvl="1"/>
            <a:r>
              <a:rPr lang="en-GB" sz="1050" dirty="0"/>
              <a:t>WaveNet uses quantized waveforms techniques like </a:t>
            </a:r>
            <a:r>
              <a:rPr lang="en-GB" sz="1050" b="1" dirty="0"/>
              <a:t>μ-law encoding</a:t>
            </a:r>
            <a:r>
              <a:rPr lang="en-GB" sz="1050" dirty="0"/>
              <a:t> to reduce data size while preserving information.</a:t>
            </a:r>
          </a:p>
          <a:p>
            <a:pPr lvl="1"/>
            <a:r>
              <a:rPr lang="en-GB" sz="1050" dirty="0"/>
              <a:t>Quantized samples are converted into a one-hot encoded representation for input.</a:t>
            </a:r>
          </a:p>
          <a:p>
            <a:pPr lvl="1"/>
            <a:endParaRPr lang="en-GB" sz="1050" dirty="0"/>
          </a:p>
          <a:p>
            <a:r>
              <a:rPr lang="en-GB" sz="1100" dirty="0">
                <a:solidFill>
                  <a:srgbClr val="E898AC"/>
                </a:solidFill>
              </a:rPr>
              <a:t>Segmentation - </a:t>
            </a:r>
            <a:r>
              <a:rPr lang="en-GB" sz="1050" dirty="0"/>
              <a:t>Long audio clips are segmented into smaller windows (e.g., 1-second chunks) to reduce computational load</a:t>
            </a:r>
            <a:r>
              <a:rPr lang="en-GB" sz="1100" dirty="0"/>
              <a:t>.</a:t>
            </a:r>
          </a:p>
          <a:p>
            <a:r>
              <a:rPr lang="en-GB" sz="1100" dirty="0">
                <a:solidFill>
                  <a:srgbClr val="E898AC"/>
                </a:solidFill>
              </a:rPr>
              <a:t>Augmentation –</a:t>
            </a:r>
            <a:r>
              <a:rPr lang="en-GB" sz="1100" dirty="0"/>
              <a:t> WaveNet can work on augmented raw audio, benefiting from techniques like noise addition or pitch-shifting.</a:t>
            </a:r>
            <a:endParaRPr lang="en-US" sz="1100" dirty="0"/>
          </a:p>
        </p:txBody>
      </p:sp>
      <p:sp>
        <p:nvSpPr>
          <p:cNvPr id="10" name="Google Shape;466;p26">
            <a:extLst>
              <a:ext uri="{FF2B5EF4-FFF2-40B4-BE49-F238E27FC236}">
                <a16:creationId xmlns:a16="http://schemas.microsoft.com/office/drawing/2014/main" id="{A2BF972D-7258-444E-5A6E-3D0FED3E872D}"/>
              </a:ext>
            </a:extLst>
          </p:cNvPr>
          <p:cNvSpPr txBox="1">
            <a:spLocks/>
          </p:cNvSpPr>
          <p:nvPr/>
        </p:nvSpPr>
        <p:spPr>
          <a:xfrm>
            <a:off x="4664823" y="1790650"/>
            <a:ext cx="4313524" cy="233542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buFont typeface="Maven Pro"/>
              <a:buNone/>
            </a:pPr>
            <a:r>
              <a:rPr lang="en" sz="1300" b="1" dirty="0">
                <a:solidFill>
                  <a:srgbClr val="FF9973"/>
                </a:solidFill>
              </a:rPr>
              <a:t>Model Working</a:t>
            </a:r>
          </a:p>
          <a:p>
            <a:pPr marL="0" indent="0">
              <a:buFont typeface="Maven Pro"/>
              <a:buNone/>
            </a:pPr>
            <a:endParaRPr lang="en-IN" sz="1300" b="1" dirty="0">
              <a:solidFill>
                <a:srgbClr val="FF9973"/>
              </a:solidFill>
            </a:endParaRPr>
          </a:p>
          <a:p>
            <a:r>
              <a:rPr lang="en-IN" sz="1100" dirty="0">
                <a:solidFill>
                  <a:srgbClr val="E898AC"/>
                </a:solidFill>
              </a:rPr>
              <a:t>Input –</a:t>
            </a:r>
            <a:r>
              <a:rPr lang="en-IN" sz="1100" dirty="0"/>
              <a:t> Quantized waveform segments.</a:t>
            </a:r>
          </a:p>
          <a:p>
            <a:r>
              <a:rPr lang="en-IN" sz="1100" dirty="0">
                <a:solidFill>
                  <a:srgbClr val="E898AC"/>
                </a:solidFill>
              </a:rPr>
              <a:t>Feature Extraction - </a:t>
            </a:r>
          </a:p>
          <a:p>
            <a:pPr lvl="1"/>
            <a:r>
              <a:rPr lang="en-GB" sz="1050" dirty="0"/>
              <a:t>The dilated causal convolutions model short- and long-range dependencies in the waveform.</a:t>
            </a:r>
            <a:r>
              <a:rPr lang="en-IN" sz="1050" dirty="0"/>
              <a:t> </a:t>
            </a:r>
          </a:p>
          <a:p>
            <a:r>
              <a:rPr lang="en-IN" sz="1100" dirty="0">
                <a:solidFill>
                  <a:srgbClr val="E898AC"/>
                </a:solidFill>
              </a:rPr>
              <a:t>Temporal Hierarchies - </a:t>
            </a:r>
          </a:p>
          <a:p>
            <a:pPr lvl="1"/>
            <a:r>
              <a:rPr lang="en-GB" sz="1050" dirty="0"/>
              <a:t>Residual connections ensure efficient gradient flow and learning of hierarchical temporal features</a:t>
            </a:r>
            <a:r>
              <a:rPr lang="en-GB" sz="1200" dirty="0"/>
              <a:t>.</a:t>
            </a:r>
          </a:p>
          <a:p>
            <a:r>
              <a:rPr lang="en-IN" sz="1100" dirty="0">
                <a:solidFill>
                  <a:srgbClr val="E898AC"/>
                </a:solidFill>
              </a:rPr>
              <a:t>Output –</a:t>
            </a:r>
            <a:r>
              <a:rPr lang="en-IN" sz="1100" dirty="0"/>
              <a:t> A probability distribution over acoustic scene classes.</a:t>
            </a:r>
            <a:endParaRPr lang="en-US" sz="1100" dirty="0"/>
          </a:p>
        </p:txBody>
      </p:sp>
    </p:spTree>
    <p:extLst>
      <p:ext uri="{BB962C8B-B14F-4D97-AF65-F5344CB8AC3E}">
        <p14:creationId xmlns:p14="http://schemas.microsoft.com/office/powerpoint/2010/main" val="440615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42223-E8B7-B99B-85DB-0E1E9B5A8729}"/>
            </a:ext>
          </a:extLst>
        </p:cNvPr>
        <p:cNvGrpSpPr/>
        <p:nvPr/>
      </p:nvGrpSpPr>
      <p:grpSpPr>
        <a:xfrm>
          <a:off x="0" y="0"/>
          <a:ext cx="0" cy="0"/>
          <a:chOff x="0" y="0"/>
          <a:chExt cx="0" cy="0"/>
        </a:xfrm>
      </p:grpSpPr>
      <p:sp>
        <p:nvSpPr>
          <p:cNvPr id="5" name="Google Shape;466;p26">
            <a:extLst>
              <a:ext uri="{FF2B5EF4-FFF2-40B4-BE49-F238E27FC236}">
                <a16:creationId xmlns:a16="http://schemas.microsoft.com/office/drawing/2014/main" id="{795E33E0-BE9C-FC1F-C91A-AA88151739F3}"/>
              </a:ext>
            </a:extLst>
          </p:cNvPr>
          <p:cNvSpPr txBox="1">
            <a:spLocks/>
          </p:cNvSpPr>
          <p:nvPr/>
        </p:nvSpPr>
        <p:spPr>
          <a:xfrm>
            <a:off x="361180" y="437596"/>
            <a:ext cx="4313524" cy="37865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buFont typeface="Maven Pro"/>
              <a:buNone/>
            </a:pPr>
            <a:r>
              <a:rPr lang="en" sz="1300" b="1" dirty="0">
                <a:solidFill>
                  <a:srgbClr val="FF9973"/>
                </a:solidFill>
              </a:rPr>
              <a:t>Model Description </a:t>
            </a:r>
          </a:p>
          <a:p>
            <a:pPr marL="0" indent="0">
              <a:buFont typeface="Maven Pro"/>
              <a:buNone/>
            </a:pPr>
            <a:r>
              <a:rPr lang="en" sz="1300" b="1" dirty="0">
                <a:solidFill>
                  <a:srgbClr val="FF9973"/>
                </a:solidFill>
              </a:rPr>
              <a:t> </a:t>
            </a:r>
          </a:p>
          <a:p>
            <a:pPr marL="0" indent="0">
              <a:buFont typeface="Maven Pro"/>
              <a:buNone/>
            </a:pPr>
            <a:r>
              <a:rPr lang="en" sz="1300" b="1" dirty="0">
                <a:solidFill>
                  <a:srgbClr val="FF9973"/>
                </a:solidFill>
              </a:rPr>
              <a:t>  Architecture</a:t>
            </a:r>
          </a:p>
          <a:p>
            <a:pPr marL="0" indent="0">
              <a:buFont typeface="Maven Pro"/>
              <a:buNone/>
            </a:pPr>
            <a:endParaRPr lang="en-IN" sz="1300" b="1" dirty="0">
              <a:solidFill>
                <a:srgbClr val="FF9973"/>
              </a:solidFill>
            </a:endParaRPr>
          </a:p>
          <a:p>
            <a:r>
              <a:rPr lang="en-IN" sz="1100" dirty="0">
                <a:solidFill>
                  <a:srgbClr val="E898AC"/>
                </a:solidFill>
              </a:rPr>
              <a:t>Dilated Causal Convolutions - </a:t>
            </a:r>
          </a:p>
          <a:p>
            <a:pPr lvl="1"/>
            <a:r>
              <a:rPr lang="en-GB" sz="1050" dirty="0"/>
              <a:t>Convolutions ensure the model looks only at past samples (causal), preserving the sequence.</a:t>
            </a:r>
          </a:p>
          <a:p>
            <a:pPr lvl="1"/>
            <a:r>
              <a:rPr lang="en-GB" sz="1050" dirty="0"/>
              <a:t>Dilations exponentially increase the receptive field, enabling modelling of long-range dependencies without excessive computation.</a:t>
            </a:r>
          </a:p>
          <a:p>
            <a:pPr lvl="1"/>
            <a:endParaRPr lang="en-GB" sz="1050" dirty="0"/>
          </a:p>
          <a:p>
            <a:r>
              <a:rPr lang="en-IN" sz="1100" dirty="0">
                <a:solidFill>
                  <a:srgbClr val="E898AC"/>
                </a:solidFill>
              </a:rPr>
              <a:t>Residual Blocks - </a:t>
            </a:r>
          </a:p>
          <a:p>
            <a:pPr lvl="1"/>
            <a:r>
              <a:rPr lang="en-GB" sz="1050" dirty="0"/>
              <a:t>Consist of dilated convolutions, </a:t>
            </a:r>
            <a:r>
              <a:rPr lang="en-GB" sz="1050" dirty="0" err="1"/>
              <a:t>ReLU</a:t>
            </a:r>
            <a:r>
              <a:rPr lang="en-GB" sz="1050" dirty="0"/>
              <a:t> activations, and skip connections.</a:t>
            </a:r>
          </a:p>
          <a:p>
            <a:pPr lvl="1"/>
            <a:r>
              <a:rPr lang="en-IN" sz="1050" dirty="0"/>
              <a:t>Capture hierarchical temporal features.</a:t>
            </a:r>
          </a:p>
          <a:p>
            <a:pPr lvl="1"/>
            <a:endParaRPr lang="en-IN" sz="1200" dirty="0"/>
          </a:p>
          <a:p>
            <a:r>
              <a:rPr lang="en-IN" sz="1100" dirty="0">
                <a:solidFill>
                  <a:srgbClr val="E898AC"/>
                </a:solidFill>
              </a:rPr>
              <a:t>SoftMax Output - </a:t>
            </a:r>
          </a:p>
          <a:p>
            <a:pPr lvl="1"/>
            <a:r>
              <a:rPr lang="en-GB" sz="1050" dirty="0"/>
              <a:t>Provides class probabilities for ASC after aggregating features.</a:t>
            </a:r>
            <a:endParaRPr lang="en-US" sz="1050" dirty="0">
              <a:solidFill>
                <a:schemeClr val="bg1"/>
              </a:solidFill>
            </a:endParaRPr>
          </a:p>
        </p:txBody>
      </p:sp>
      <p:sp>
        <p:nvSpPr>
          <p:cNvPr id="7" name="Google Shape;466;p26">
            <a:extLst>
              <a:ext uri="{FF2B5EF4-FFF2-40B4-BE49-F238E27FC236}">
                <a16:creationId xmlns:a16="http://schemas.microsoft.com/office/drawing/2014/main" id="{3DEB81CA-73E0-F3EA-8E9D-FDB044751E6B}"/>
              </a:ext>
            </a:extLst>
          </p:cNvPr>
          <p:cNvSpPr txBox="1">
            <a:spLocks/>
          </p:cNvSpPr>
          <p:nvPr/>
        </p:nvSpPr>
        <p:spPr>
          <a:xfrm>
            <a:off x="4674704" y="437597"/>
            <a:ext cx="4313524" cy="179870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Maven Pro"/>
              <a:buChar char="●"/>
              <a:defRPr sz="1800" b="0" i="0" u="none" strike="noStrike" cap="none">
                <a:solidFill>
                  <a:schemeClr val="lt1"/>
                </a:solidFill>
                <a:latin typeface="Maven Pro"/>
                <a:ea typeface="Maven Pro"/>
                <a:cs typeface="Maven Pro"/>
                <a:sym typeface="Maven Pro"/>
              </a:defRPr>
            </a:lvl1pPr>
            <a:lvl2pPr marL="914400" marR="0" lvl="1" indent="-317500" algn="l" rtl="0">
              <a:lnSpc>
                <a:spcPct val="115000"/>
              </a:lnSpc>
              <a:spcBef>
                <a:spcPts val="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2pPr>
            <a:lvl3pPr marL="1371600" marR="0" lvl="2"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3pPr>
            <a:lvl4pPr marL="1828800" marR="0" lvl="3"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4pPr>
            <a:lvl5pPr marL="2286000" marR="0" lvl="4"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5pPr>
            <a:lvl6pPr marL="2743200" marR="0" lvl="5"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6pPr>
            <a:lvl7pPr marL="3200400" marR="0" lvl="6"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7pPr>
            <a:lvl8pPr marL="3657600" marR="0" lvl="7" indent="-317500" algn="l" rtl="0">
              <a:lnSpc>
                <a:spcPct val="115000"/>
              </a:lnSpc>
              <a:spcBef>
                <a:spcPts val="1600"/>
              </a:spcBef>
              <a:spcAft>
                <a:spcPts val="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8pPr>
            <a:lvl9pPr marL="4114800" marR="0" lvl="8" indent="-317500" algn="l" rtl="0">
              <a:lnSpc>
                <a:spcPct val="115000"/>
              </a:lnSpc>
              <a:spcBef>
                <a:spcPts val="1600"/>
              </a:spcBef>
              <a:spcAft>
                <a:spcPts val="1600"/>
              </a:spcAft>
              <a:buClr>
                <a:schemeClr val="lt1"/>
              </a:buClr>
              <a:buSzPts val="1400"/>
              <a:buFont typeface="Maven Pro"/>
              <a:buChar char="■"/>
              <a:defRPr sz="1400" b="0" i="0" u="none" strike="noStrike" cap="none">
                <a:solidFill>
                  <a:schemeClr val="lt1"/>
                </a:solidFill>
                <a:latin typeface="Maven Pro"/>
                <a:ea typeface="Maven Pro"/>
                <a:cs typeface="Maven Pro"/>
                <a:sym typeface="Maven Pro"/>
              </a:defRPr>
            </a:lvl9pPr>
          </a:lstStyle>
          <a:p>
            <a:pPr marL="0" indent="0">
              <a:buFont typeface="Maven Pro"/>
              <a:buNone/>
            </a:pPr>
            <a:r>
              <a:rPr lang="en" sz="1300" b="1" dirty="0">
                <a:solidFill>
                  <a:srgbClr val="FF9973"/>
                </a:solidFill>
              </a:rPr>
              <a:t>Model Description </a:t>
            </a:r>
          </a:p>
          <a:p>
            <a:pPr marL="0" indent="0">
              <a:buFont typeface="Maven Pro"/>
              <a:buNone/>
            </a:pPr>
            <a:r>
              <a:rPr lang="en" sz="1300" b="1" dirty="0">
                <a:solidFill>
                  <a:srgbClr val="FF9973"/>
                </a:solidFill>
              </a:rPr>
              <a:t> </a:t>
            </a:r>
          </a:p>
          <a:p>
            <a:pPr marL="0" indent="0">
              <a:buFont typeface="Maven Pro"/>
              <a:buNone/>
            </a:pPr>
            <a:r>
              <a:rPr lang="en" sz="1300" b="1" dirty="0">
                <a:solidFill>
                  <a:srgbClr val="FF9973"/>
                </a:solidFill>
              </a:rPr>
              <a:t>  Training</a:t>
            </a:r>
          </a:p>
          <a:p>
            <a:pPr marL="0" indent="0">
              <a:buFont typeface="Maven Pro"/>
              <a:buNone/>
            </a:pPr>
            <a:endParaRPr lang="en-IN" sz="1300" b="1" dirty="0">
              <a:solidFill>
                <a:srgbClr val="FF9973"/>
              </a:solidFill>
            </a:endParaRPr>
          </a:p>
          <a:p>
            <a:r>
              <a:rPr lang="en-IN" sz="1100" dirty="0">
                <a:solidFill>
                  <a:srgbClr val="E898AC"/>
                </a:solidFill>
              </a:rPr>
              <a:t>Loss Function -  </a:t>
            </a:r>
          </a:p>
          <a:p>
            <a:pPr lvl="1"/>
            <a:r>
              <a:rPr lang="en-IN" sz="1050" dirty="0"/>
              <a:t>Cross-entropy loss for scene classification</a:t>
            </a:r>
          </a:p>
          <a:p>
            <a:r>
              <a:rPr lang="en-IN" sz="1100" dirty="0">
                <a:solidFill>
                  <a:srgbClr val="E898AC"/>
                </a:solidFill>
              </a:rPr>
              <a:t>Optimizer - </a:t>
            </a:r>
          </a:p>
          <a:p>
            <a:pPr lvl="1"/>
            <a:r>
              <a:rPr lang="en-IN" sz="1050" dirty="0"/>
              <a:t>Adam or SGD with weight decay</a:t>
            </a:r>
          </a:p>
        </p:txBody>
      </p:sp>
      <p:pic>
        <p:nvPicPr>
          <p:cNvPr id="3" name="Picture 2">
            <a:extLst>
              <a:ext uri="{FF2B5EF4-FFF2-40B4-BE49-F238E27FC236}">
                <a16:creationId xmlns:a16="http://schemas.microsoft.com/office/drawing/2014/main" id="{DB98079E-6BA9-53DB-F52D-3A31BEC94AB8}"/>
              </a:ext>
            </a:extLst>
          </p:cNvPr>
          <p:cNvPicPr>
            <a:picLocks noChangeAspect="1"/>
          </p:cNvPicPr>
          <p:nvPr/>
        </p:nvPicPr>
        <p:blipFill>
          <a:blip r:embed="rId2"/>
          <a:stretch>
            <a:fillRect/>
          </a:stretch>
        </p:blipFill>
        <p:spPr>
          <a:xfrm>
            <a:off x="5517945" y="2114741"/>
            <a:ext cx="2934109" cy="2591162"/>
          </a:xfrm>
          <a:prstGeom prst="rect">
            <a:avLst/>
          </a:prstGeom>
        </p:spPr>
      </p:pic>
      <p:sp>
        <p:nvSpPr>
          <p:cNvPr id="4" name="Google Shape;435;p25">
            <a:extLst>
              <a:ext uri="{FF2B5EF4-FFF2-40B4-BE49-F238E27FC236}">
                <a16:creationId xmlns:a16="http://schemas.microsoft.com/office/drawing/2014/main" id="{D81CA164-A57F-F268-0BF6-E49361940E29}"/>
              </a:ext>
            </a:extLst>
          </p:cNvPr>
          <p:cNvSpPr txBox="1">
            <a:spLocks/>
          </p:cNvSpPr>
          <p:nvPr/>
        </p:nvSpPr>
        <p:spPr>
          <a:xfrm>
            <a:off x="4773965" y="4680460"/>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sz="900" dirty="0">
                <a:solidFill>
                  <a:srgbClr val="FFFFFF"/>
                </a:solidFill>
              </a:rPr>
              <a:t>Fig – WaveNet Model for ASC</a:t>
            </a:r>
          </a:p>
        </p:txBody>
      </p:sp>
    </p:spTree>
    <p:extLst>
      <p:ext uri="{BB962C8B-B14F-4D97-AF65-F5344CB8AC3E}">
        <p14:creationId xmlns:p14="http://schemas.microsoft.com/office/powerpoint/2010/main" val="1103481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87">
          <a:extLst>
            <a:ext uri="{FF2B5EF4-FFF2-40B4-BE49-F238E27FC236}">
              <a16:creationId xmlns:a16="http://schemas.microsoft.com/office/drawing/2014/main" id="{B39BB38A-E8DA-E33C-0BD9-DA36C0BB54AD}"/>
            </a:ext>
          </a:extLst>
        </p:cNvPr>
        <p:cNvGrpSpPr/>
        <p:nvPr/>
      </p:nvGrpSpPr>
      <p:grpSpPr>
        <a:xfrm>
          <a:off x="0" y="0"/>
          <a:ext cx="0" cy="0"/>
          <a:chOff x="0" y="0"/>
          <a:chExt cx="0" cy="0"/>
        </a:xfrm>
      </p:grpSpPr>
      <p:sp>
        <p:nvSpPr>
          <p:cNvPr id="688" name="Google Shape;688;p32">
            <a:extLst>
              <a:ext uri="{FF2B5EF4-FFF2-40B4-BE49-F238E27FC236}">
                <a16:creationId xmlns:a16="http://schemas.microsoft.com/office/drawing/2014/main" id="{1FD9CF4F-2296-2969-5CEF-8BEFE8F9D35E}"/>
              </a:ext>
            </a:extLst>
          </p:cNvPr>
          <p:cNvSpPr txBox="1">
            <a:spLocks noGrp="1"/>
          </p:cNvSpPr>
          <p:nvPr>
            <p:ph type="ctrTitle"/>
          </p:nvPr>
        </p:nvSpPr>
        <p:spPr>
          <a:xfrm>
            <a:off x="1167515" y="1742775"/>
            <a:ext cx="4349543" cy="8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Results</a:t>
            </a:r>
            <a:endParaRPr dirty="0"/>
          </a:p>
        </p:txBody>
      </p:sp>
      <p:sp>
        <p:nvSpPr>
          <p:cNvPr id="689" name="Google Shape;689;p32">
            <a:extLst>
              <a:ext uri="{FF2B5EF4-FFF2-40B4-BE49-F238E27FC236}">
                <a16:creationId xmlns:a16="http://schemas.microsoft.com/office/drawing/2014/main" id="{9E786256-7F57-747D-49EA-0979C5095C2F}"/>
              </a:ext>
            </a:extLst>
          </p:cNvPr>
          <p:cNvSpPr txBox="1">
            <a:spLocks noGrp="1"/>
          </p:cNvSpPr>
          <p:nvPr>
            <p:ph type="subTitle" idx="1"/>
          </p:nvPr>
        </p:nvSpPr>
        <p:spPr>
          <a:xfrm>
            <a:off x="1791587" y="2417450"/>
            <a:ext cx="3101400" cy="104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Comparitive study for ANN, CNN &amp; CRNN</a:t>
            </a:r>
            <a:endParaRPr dirty="0"/>
          </a:p>
        </p:txBody>
      </p:sp>
      <p:sp>
        <p:nvSpPr>
          <p:cNvPr id="690" name="Google Shape;690;p32">
            <a:extLst>
              <a:ext uri="{FF2B5EF4-FFF2-40B4-BE49-F238E27FC236}">
                <a16:creationId xmlns:a16="http://schemas.microsoft.com/office/drawing/2014/main" id="{5E53DB08-A2D7-B86D-463E-DD46697B5DC9}"/>
              </a:ext>
            </a:extLst>
          </p:cNvPr>
          <p:cNvSpPr/>
          <p:nvPr/>
        </p:nvSpPr>
        <p:spPr>
          <a:xfrm>
            <a:off x="5782875" y="1868575"/>
            <a:ext cx="10851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2">
            <a:extLst>
              <a:ext uri="{FF2B5EF4-FFF2-40B4-BE49-F238E27FC236}">
                <a16:creationId xmlns:a16="http://schemas.microsoft.com/office/drawing/2014/main" id="{E56A2E5B-EEBC-95DA-9071-99E735F15314}"/>
              </a:ext>
            </a:extLst>
          </p:cNvPr>
          <p:cNvSpPr txBox="1">
            <a:spLocks noGrp="1"/>
          </p:cNvSpPr>
          <p:nvPr>
            <p:ph type="title" idx="2"/>
          </p:nvPr>
        </p:nvSpPr>
        <p:spPr>
          <a:xfrm>
            <a:off x="5834900" y="2122225"/>
            <a:ext cx="9810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dk2"/>
                </a:solidFill>
              </a:rPr>
              <a:t>04</a:t>
            </a:r>
            <a:endParaRPr dirty="0">
              <a:solidFill>
                <a:schemeClr val="dk2"/>
              </a:solidFill>
            </a:endParaRPr>
          </a:p>
        </p:txBody>
      </p:sp>
      <p:sp>
        <p:nvSpPr>
          <p:cNvPr id="692" name="Google Shape;692;p32">
            <a:extLst>
              <a:ext uri="{FF2B5EF4-FFF2-40B4-BE49-F238E27FC236}">
                <a16:creationId xmlns:a16="http://schemas.microsoft.com/office/drawing/2014/main" id="{EF6E9AB3-3142-3E96-5775-CEA0686501C6}"/>
              </a:ext>
            </a:extLst>
          </p:cNvPr>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2">
            <a:extLst>
              <a:ext uri="{FF2B5EF4-FFF2-40B4-BE49-F238E27FC236}">
                <a16:creationId xmlns:a16="http://schemas.microsoft.com/office/drawing/2014/main" id="{AC960BDC-5714-9F96-407B-86A93DB6A1A6}"/>
              </a:ext>
            </a:extLst>
          </p:cNvPr>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4" name="Google Shape;694;p32">
            <a:extLst>
              <a:ext uri="{FF2B5EF4-FFF2-40B4-BE49-F238E27FC236}">
                <a16:creationId xmlns:a16="http://schemas.microsoft.com/office/drawing/2014/main" id="{F907D459-E722-E159-C0B9-CD4D39D4A98D}"/>
              </a:ext>
            </a:extLst>
          </p:cNvPr>
          <p:cNvCxnSpPr>
            <a:stCxn id="690" idx="2"/>
          </p:cNvCxnSpPr>
          <p:nvPr/>
        </p:nvCxnSpPr>
        <p:spPr>
          <a:xfrm>
            <a:off x="6325425" y="2953675"/>
            <a:ext cx="0" cy="978000"/>
          </a:xfrm>
          <a:prstGeom prst="straightConnector1">
            <a:avLst/>
          </a:prstGeom>
          <a:noFill/>
          <a:ln w="19050"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1809160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44"/>
          <p:cNvSpPr/>
          <p:nvPr/>
        </p:nvSpPr>
        <p:spPr>
          <a:xfrm>
            <a:off x="819303" y="1348443"/>
            <a:ext cx="7524000" cy="3511791"/>
          </a:xfrm>
          <a:prstGeom prst="roundRect">
            <a:avLst>
              <a:gd name="adj" fmla="val 1666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4"/>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RESULTS</a:t>
            </a:r>
            <a:endParaRPr dirty="0"/>
          </a:p>
        </p:txBody>
      </p:sp>
      <p:graphicFrame>
        <p:nvGraphicFramePr>
          <p:cNvPr id="1243" name="Google Shape;1243;p44"/>
          <p:cNvGraphicFramePr/>
          <p:nvPr>
            <p:extLst>
              <p:ext uri="{D42A27DB-BD31-4B8C-83A1-F6EECF244321}">
                <p14:modId xmlns:p14="http://schemas.microsoft.com/office/powerpoint/2010/main" val="2895379276"/>
              </p:ext>
            </p:extLst>
          </p:nvPr>
        </p:nvGraphicFramePr>
        <p:xfrm>
          <a:off x="819303" y="775253"/>
          <a:ext cx="7350662" cy="4018998"/>
        </p:xfrm>
        <a:graphic>
          <a:graphicData uri="http://schemas.openxmlformats.org/drawingml/2006/table">
            <a:tbl>
              <a:tblPr>
                <a:noFill/>
                <a:tableStyleId>{07062CB5-1A29-4930-8178-1F213D195BDA}</a:tableStyleId>
              </a:tblPr>
              <a:tblGrid>
                <a:gridCol w="1695082">
                  <a:extLst>
                    <a:ext uri="{9D8B030D-6E8A-4147-A177-3AD203B41FA5}">
                      <a16:colId xmlns:a16="http://schemas.microsoft.com/office/drawing/2014/main" val="20000"/>
                    </a:ext>
                  </a:extLst>
                </a:gridCol>
                <a:gridCol w="1835218">
                  <a:extLst>
                    <a:ext uri="{9D8B030D-6E8A-4147-A177-3AD203B41FA5}">
                      <a16:colId xmlns:a16="http://schemas.microsoft.com/office/drawing/2014/main" val="20001"/>
                    </a:ext>
                  </a:extLst>
                </a:gridCol>
                <a:gridCol w="3820362">
                  <a:extLst>
                    <a:ext uri="{9D8B030D-6E8A-4147-A177-3AD203B41FA5}">
                      <a16:colId xmlns:a16="http://schemas.microsoft.com/office/drawing/2014/main" val="20003"/>
                    </a:ext>
                  </a:extLst>
                </a:gridCol>
              </a:tblGrid>
              <a:tr h="630498">
                <a:tc>
                  <a:txBody>
                    <a:bodyPr/>
                    <a:lstStyle/>
                    <a:p>
                      <a:pPr marL="0" lvl="0" indent="0" algn="l"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chemeClr val="accent2">
                          <a:alpha val="0"/>
                        </a:scheme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accen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800" dirty="0">
                          <a:solidFill>
                            <a:schemeClr val="lt1"/>
                          </a:solidFill>
                          <a:latin typeface="Maven Pro"/>
                          <a:ea typeface="Maven Pro"/>
                          <a:cs typeface="Maven Pro"/>
                          <a:sym typeface="Maven Pro"/>
                        </a:rPr>
                        <a:t>ACCURACY</a:t>
                      </a:r>
                      <a:endParaRPr sz="1800" dirty="0">
                        <a:solidFill>
                          <a:schemeClr val="lt1"/>
                        </a:solidFill>
                        <a:latin typeface="Maven Pro"/>
                        <a:ea typeface="Maven Pro"/>
                        <a:cs typeface="Maven Pro"/>
                        <a:sym typeface="Maven Pro"/>
                      </a:endParaRPr>
                    </a:p>
                  </a:txBody>
                  <a:tcPr marL="91425" marR="91425" marT="91425" marB="91425">
                    <a:lnL w="9525" cap="flat" cmpd="sng">
                      <a:solidFill>
                        <a:schemeClr val="accent2">
                          <a:alpha val="0"/>
                        </a:schemeClr>
                      </a:solidFill>
                      <a:prstDash val="solid"/>
                      <a:round/>
                      <a:headEnd type="none" w="sm" len="sm"/>
                      <a:tailEnd type="none" w="sm" len="sm"/>
                    </a:lnL>
                    <a:lnR w="9525" cap="flat" cmpd="sng">
                      <a:solidFill>
                        <a:schemeClr val="accent2">
                          <a:alpha val="0"/>
                        </a:scheme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9525" cap="flat" cmpd="sng">
                      <a:solidFill>
                        <a:schemeClr val="accent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800">
                          <a:solidFill>
                            <a:schemeClr val="lt1"/>
                          </a:solidFill>
                          <a:latin typeface="Maven Pro"/>
                          <a:ea typeface="Maven Pro"/>
                          <a:cs typeface="Maven Pro"/>
                          <a:sym typeface="Maven Pro"/>
                        </a:rPr>
                        <a:t>DESCRIPTION</a:t>
                      </a:r>
                      <a:endParaRPr sz="1800">
                        <a:solidFill>
                          <a:schemeClr val="lt1"/>
                        </a:solidFill>
                        <a:latin typeface="Maven Pro"/>
                        <a:ea typeface="Maven Pro"/>
                        <a:cs typeface="Maven Pro"/>
                        <a:sym typeface="Maven Pro"/>
                      </a:endParaRPr>
                    </a:p>
                  </a:txBody>
                  <a:tcPr marL="91425" marR="91425" marT="91425" marB="91425">
                    <a:lnL w="9525" cap="flat" cmpd="sng" algn="ctr">
                      <a:solidFill>
                        <a:schemeClr val="accent2">
                          <a:alpha val="0"/>
                        </a:schemeClr>
                      </a:solidFill>
                      <a:prstDash val="solid"/>
                      <a:round/>
                      <a:headEnd type="none" w="sm" len="sm"/>
                      <a:tailEnd type="none" w="sm" len="sm"/>
                    </a:lnL>
                    <a:lnR w="9525" cap="flat" cmpd="sng">
                      <a:solidFill>
                        <a:schemeClr val="accent2">
                          <a:alpha val="0"/>
                        </a:scheme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9525" cap="flat" cmpd="sng" algn="ctr">
                      <a:solidFill>
                        <a:schemeClr val="accent2">
                          <a:alpha val="0"/>
                        </a:schemeClr>
                      </a:solidFill>
                      <a:prstDash val="solid"/>
                      <a:round/>
                      <a:headEnd type="none" w="sm" len="sm"/>
                      <a:tailEnd type="none" w="sm" len="sm"/>
                    </a:lnB>
                  </a:tcPr>
                </a:tc>
                <a:extLst>
                  <a:ext uri="{0D108BD9-81ED-4DB2-BD59-A6C34878D82A}">
                    <a16:rowId xmlns:a16="http://schemas.microsoft.com/office/drawing/2014/main" val="10000"/>
                  </a:ext>
                </a:extLst>
              </a:tr>
              <a:tr h="1129500">
                <a:tc>
                  <a:txBody>
                    <a:bodyPr/>
                    <a:lstStyle/>
                    <a:p>
                      <a:pPr marL="0" lvl="0" indent="0" algn="ctr" rtl="0">
                        <a:spcBef>
                          <a:spcPts val="0"/>
                        </a:spcBef>
                        <a:spcAft>
                          <a:spcPts val="0"/>
                        </a:spcAft>
                        <a:buNone/>
                      </a:pPr>
                      <a:r>
                        <a:rPr lang="en" sz="2000" dirty="0">
                          <a:solidFill>
                            <a:schemeClr val="accent2"/>
                          </a:solidFill>
                          <a:latin typeface="Share Tech"/>
                          <a:ea typeface="Share Tech"/>
                          <a:cs typeface="Share Tech"/>
                          <a:sym typeface="Share Tech"/>
                        </a:rPr>
                        <a:t>ANN</a:t>
                      </a:r>
                      <a:endParaRPr sz="2000" dirty="0">
                        <a:solidFill>
                          <a:schemeClr val="accent2"/>
                        </a:solidFill>
                        <a:latin typeface="Share Tech"/>
                        <a:ea typeface="Share Tech"/>
                        <a:cs typeface="Share Tech"/>
                        <a:sym typeface="Share Tech"/>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alpha val="0"/>
                        </a:schemeClr>
                      </a:solidFill>
                      <a:prstDash val="solid"/>
                      <a:round/>
                      <a:headEnd type="none" w="sm" len="sm"/>
                      <a:tailEnd type="none" w="sm" len="sm"/>
                    </a:lnT>
                    <a:lnB w="9525" cap="flat" cmpd="sng">
                      <a:solidFill>
                        <a:schemeClr val="accen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dirty="0">
                          <a:solidFill>
                            <a:schemeClr val="lt1"/>
                          </a:solidFill>
                          <a:latin typeface="Maven Pro"/>
                          <a:ea typeface="Maven Pro"/>
                          <a:cs typeface="Maven Pro"/>
                          <a:sym typeface="Maven Pro"/>
                        </a:rPr>
                        <a:t>78.17 %</a:t>
                      </a:r>
                      <a:endParaRPr dirty="0">
                        <a:solidFill>
                          <a:schemeClr val="lt1"/>
                        </a:solidFill>
                        <a:latin typeface="Maven Pro"/>
                        <a:ea typeface="Maven Pro"/>
                        <a:cs typeface="Maven Pro"/>
                        <a:sym typeface="Maven Pro"/>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solidFill>
                            <a:schemeClr val="bg1"/>
                          </a:solidFill>
                          <a:latin typeface="Maven Pro" panose="020B0604020202020204" charset="0"/>
                        </a:rPr>
                        <a:t>- Relies on averaged MFCC features, losing detailed information.</a:t>
                      </a:r>
                      <a:br>
                        <a:rPr lang="en-GB" sz="1200" dirty="0">
                          <a:solidFill>
                            <a:schemeClr val="bg1"/>
                          </a:solidFill>
                          <a:latin typeface="Maven Pro" panose="020B0604020202020204" charset="0"/>
                        </a:rPr>
                      </a:br>
                      <a:r>
                        <a:rPr lang="en-GB" sz="1200" dirty="0">
                          <a:solidFill>
                            <a:schemeClr val="bg1"/>
                          </a:solidFill>
                          <a:latin typeface="Maven Pro" panose="020B0604020202020204" charset="0"/>
                        </a:rPr>
                        <a:t>- Cannot capture spatial or temporal patterns.</a:t>
                      </a:r>
                      <a:br>
                        <a:rPr lang="en-GB" sz="1200" dirty="0">
                          <a:solidFill>
                            <a:schemeClr val="bg1"/>
                          </a:solidFill>
                          <a:latin typeface="Maven Pro" panose="020B0604020202020204" charset="0"/>
                        </a:rPr>
                      </a:br>
                      <a:r>
                        <a:rPr lang="en-GB" sz="1200" dirty="0">
                          <a:solidFill>
                            <a:schemeClr val="bg1"/>
                          </a:solidFill>
                          <a:latin typeface="Maven Pro" panose="020B0604020202020204" charset="0"/>
                        </a:rPr>
                        <a:t>- Simpler architecture leading to underfitting on complex data.</a:t>
                      </a:r>
                      <a:endParaRPr sz="1200" dirty="0">
                        <a:solidFill>
                          <a:schemeClr val="bg1"/>
                        </a:solidFill>
                        <a:latin typeface="Maven Pro" panose="020B0604020202020204" charset="0"/>
                        <a:ea typeface="Maven Pro"/>
                        <a:cs typeface="Maven Pro"/>
                        <a:sym typeface="Maven Pro"/>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accent2">
                          <a:alpha val="0"/>
                        </a:scheme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1129500">
                <a:tc>
                  <a:txBody>
                    <a:bodyPr/>
                    <a:lstStyle/>
                    <a:p>
                      <a:pPr marL="0" lvl="0" indent="0" algn="ctr" rtl="0">
                        <a:spcBef>
                          <a:spcPts val="0"/>
                        </a:spcBef>
                        <a:spcAft>
                          <a:spcPts val="0"/>
                        </a:spcAft>
                        <a:buNone/>
                      </a:pPr>
                      <a:r>
                        <a:rPr lang="en" sz="2000" dirty="0">
                          <a:solidFill>
                            <a:schemeClr val="accent1"/>
                          </a:solidFill>
                          <a:latin typeface="Share Tech"/>
                          <a:ea typeface="Share Tech"/>
                          <a:cs typeface="Share Tech"/>
                          <a:sym typeface="Share Tech"/>
                        </a:rPr>
                        <a:t>CNN</a:t>
                      </a:r>
                      <a:endParaRPr sz="2000" dirty="0">
                        <a:solidFill>
                          <a:schemeClr val="accent1"/>
                        </a:solidFill>
                        <a:latin typeface="Share Tech"/>
                        <a:ea typeface="Share Tech"/>
                        <a:cs typeface="Share Tech"/>
                        <a:sym typeface="Share Tech"/>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alpha val="0"/>
                        </a:schemeClr>
                      </a:solidFill>
                      <a:prstDash val="solid"/>
                      <a:round/>
                      <a:headEnd type="none" w="sm" len="sm"/>
                      <a:tailEnd type="none" w="sm" len="sm"/>
                    </a:lnT>
                    <a:lnB w="9525" cap="flat" cmpd="sng">
                      <a:solidFill>
                        <a:schemeClr val="accen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dirty="0">
                          <a:solidFill>
                            <a:schemeClr val="lt1"/>
                          </a:solidFill>
                          <a:latin typeface="Maven Pro"/>
                          <a:ea typeface="Maven Pro"/>
                          <a:cs typeface="Maven Pro"/>
                          <a:sym typeface="Maven Pro"/>
                        </a:rPr>
                        <a:t>92.62 %</a:t>
                      </a:r>
                      <a:endParaRPr dirty="0">
                        <a:solidFill>
                          <a:schemeClr val="lt1"/>
                        </a:solidFill>
                        <a:latin typeface="Maven Pro"/>
                        <a:ea typeface="Maven Pro"/>
                        <a:cs typeface="Maven Pro"/>
                        <a:sym typeface="Maven Pro"/>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solidFill>
                            <a:schemeClr val="bg1"/>
                          </a:solidFill>
                          <a:latin typeface="Maven Pro" panose="020B0604020202020204" charset="0"/>
                        </a:rPr>
                        <a:t>- Learns spatial patterns in 2D features like MFCC or spectrograms.</a:t>
                      </a:r>
                      <a:br>
                        <a:rPr lang="en-GB" sz="1200" dirty="0">
                          <a:solidFill>
                            <a:schemeClr val="bg1"/>
                          </a:solidFill>
                          <a:latin typeface="Maven Pro" panose="020B0604020202020204" charset="0"/>
                        </a:rPr>
                      </a:br>
                      <a:r>
                        <a:rPr lang="en-GB" sz="1200" dirty="0">
                          <a:solidFill>
                            <a:schemeClr val="bg1"/>
                          </a:solidFill>
                          <a:latin typeface="Maven Pro" panose="020B0604020202020204" charset="0"/>
                        </a:rPr>
                        <a:t>- Robust to variations due to pooling layers.</a:t>
                      </a:r>
                      <a:br>
                        <a:rPr lang="en-GB" sz="1200" dirty="0">
                          <a:solidFill>
                            <a:schemeClr val="bg1"/>
                          </a:solidFill>
                          <a:latin typeface="Maven Pro" panose="020B0604020202020204" charset="0"/>
                        </a:rPr>
                      </a:br>
                      <a:r>
                        <a:rPr lang="en-GB" sz="1200" dirty="0">
                          <a:solidFill>
                            <a:schemeClr val="bg1"/>
                          </a:solidFill>
                          <a:latin typeface="Maven Pro" panose="020B0604020202020204" charset="0"/>
                        </a:rPr>
                        <a:t>- Limited by inability to capture temporal relationships.</a:t>
                      </a:r>
                      <a:endParaRPr sz="1200" dirty="0">
                        <a:solidFill>
                          <a:schemeClr val="bg1"/>
                        </a:solidFill>
                        <a:latin typeface="Maven Pro" panose="020B0604020202020204" charset="0"/>
                        <a:ea typeface="Maven Pro"/>
                        <a:cs typeface="Maven Pro"/>
                        <a:sym typeface="Maven Pro"/>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lgn="ctr">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r h="1129500">
                <a:tc>
                  <a:txBody>
                    <a:bodyPr/>
                    <a:lstStyle/>
                    <a:p>
                      <a:pPr marL="0" lvl="0" indent="0" algn="ctr" rtl="0">
                        <a:spcBef>
                          <a:spcPts val="0"/>
                        </a:spcBef>
                        <a:spcAft>
                          <a:spcPts val="0"/>
                        </a:spcAft>
                        <a:buNone/>
                      </a:pPr>
                      <a:r>
                        <a:rPr lang="en" sz="2000" dirty="0">
                          <a:solidFill>
                            <a:schemeClr val="accent3"/>
                          </a:solidFill>
                          <a:latin typeface="Share Tech"/>
                          <a:ea typeface="Share Tech"/>
                          <a:cs typeface="Share Tech"/>
                          <a:sym typeface="Share Tech"/>
                        </a:rPr>
                        <a:t>CRNN</a:t>
                      </a:r>
                      <a:endParaRPr sz="2000" dirty="0">
                        <a:solidFill>
                          <a:schemeClr val="accent3"/>
                        </a:solidFill>
                        <a:latin typeface="Share Tech"/>
                        <a:ea typeface="Share Tech"/>
                        <a:cs typeface="Share Tech"/>
                        <a:sym typeface="Share Tech"/>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alpha val="0"/>
                        </a:schemeClr>
                      </a:solidFill>
                      <a:prstDash val="solid"/>
                      <a:round/>
                      <a:headEnd type="none" w="sm" len="sm"/>
                      <a:tailEnd type="none" w="sm" len="sm"/>
                    </a:lnT>
                    <a:lnB w="9525" cap="flat" cmpd="sng">
                      <a:solidFill>
                        <a:schemeClr val="accen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dirty="0">
                          <a:solidFill>
                            <a:schemeClr val="lt1"/>
                          </a:solidFill>
                          <a:latin typeface="Maven Pro"/>
                          <a:ea typeface="Maven Pro"/>
                          <a:cs typeface="Maven Pro"/>
                          <a:sym typeface="Maven Pro"/>
                        </a:rPr>
                        <a:t>92.44 %</a:t>
                      </a:r>
                      <a:endParaRPr dirty="0">
                        <a:solidFill>
                          <a:schemeClr val="lt1"/>
                        </a:solidFill>
                        <a:latin typeface="Maven Pro"/>
                        <a:ea typeface="Maven Pro"/>
                        <a:cs typeface="Maven Pro"/>
                        <a:sym typeface="Maven Pro"/>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solidFill>
                            <a:schemeClr val="bg1"/>
                          </a:solidFill>
                          <a:latin typeface="Maven Pro" panose="020B0604020202020204" charset="0"/>
                        </a:rPr>
                        <a:t>- Combines CNN's spatial learning and RNN's temporal pattern </a:t>
                      </a:r>
                      <a:r>
                        <a:rPr lang="en-GB" sz="1200" dirty="0" err="1">
                          <a:solidFill>
                            <a:schemeClr val="bg1"/>
                          </a:solidFill>
                          <a:latin typeface="Maven Pro" panose="020B0604020202020204" charset="0"/>
                        </a:rPr>
                        <a:t>modeling</a:t>
                      </a:r>
                      <a:r>
                        <a:rPr lang="en-GB" sz="1200" dirty="0">
                          <a:solidFill>
                            <a:schemeClr val="bg1"/>
                          </a:solidFill>
                          <a:latin typeface="Maven Pro" panose="020B0604020202020204" charset="0"/>
                        </a:rPr>
                        <a:t>.</a:t>
                      </a:r>
                      <a:br>
                        <a:rPr lang="en-GB" sz="1200" dirty="0">
                          <a:solidFill>
                            <a:schemeClr val="bg1"/>
                          </a:solidFill>
                          <a:latin typeface="Maven Pro" panose="020B0604020202020204" charset="0"/>
                        </a:rPr>
                      </a:br>
                      <a:r>
                        <a:rPr lang="en-GB" sz="1200" dirty="0">
                          <a:solidFill>
                            <a:schemeClr val="bg1"/>
                          </a:solidFill>
                          <a:latin typeface="Maven Pro" panose="020B0604020202020204" charset="0"/>
                        </a:rPr>
                        <a:t>- Captures both spatial and sequential information.</a:t>
                      </a:r>
                      <a:br>
                        <a:rPr lang="en-GB" sz="1200" dirty="0">
                          <a:solidFill>
                            <a:schemeClr val="bg1"/>
                          </a:solidFill>
                          <a:latin typeface="Maven Pro" panose="020B0604020202020204" charset="0"/>
                        </a:rPr>
                      </a:br>
                      <a:r>
                        <a:rPr lang="en-GB" sz="1200" dirty="0">
                          <a:solidFill>
                            <a:schemeClr val="bg1"/>
                          </a:solidFill>
                          <a:latin typeface="Maven Pro" panose="020B0604020202020204" charset="0"/>
                        </a:rPr>
                        <a:t>- Handles overlapping classes better by </a:t>
                      </a:r>
                      <a:r>
                        <a:rPr lang="en-GB" sz="1200" dirty="0" err="1">
                          <a:solidFill>
                            <a:schemeClr val="bg1"/>
                          </a:solidFill>
                          <a:latin typeface="Maven Pro" panose="020B0604020202020204" charset="0"/>
                        </a:rPr>
                        <a:t>analyzing</a:t>
                      </a:r>
                      <a:r>
                        <a:rPr lang="en-GB" sz="1200" dirty="0">
                          <a:solidFill>
                            <a:schemeClr val="bg1"/>
                          </a:solidFill>
                          <a:latin typeface="Maven Pro" panose="020B0604020202020204" charset="0"/>
                        </a:rPr>
                        <a:t> feature evolution over time.</a:t>
                      </a:r>
                      <a:endParaRPr sz="1200" dirty="0">
                        <a:solidFill>
                          <a:schemeClr val="bg1"/>
                        </a:solidFill>
                        <a:latin typeface="Maven Pro" panose="020B0604020202020204" charset="0"/>
                        <a:ea typeface="Maven Pro"/>
                        <a:cs typeface="Maven Pro"/>
                        <a:sym typeface="Maven Pro"/>
                      </a:endParaRPr>
                    </a:p>
                  </a:txBody>
                  <a:tcPr marL="91425" marR="91425" marT="91425" marB="91425"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648E5-A5D0-7D11-3477-2ACD6B1C6C96}"/>
              </a:ext>
            </a:extLst>
          </p:cNvPr>
          <p:cNvSpPr>
            <a:spLocks noGrp="1"/>
          </p:cNvSpPr>
          <p:nvPr>
            <p:ph type="ctrTitle"/>
          </p:nvPr>
        </p:nvSpPr>
        <p:spPr/>
        <p:txBody>
          <a:bodyPr/>
          <a:lstStyle/>
          <a:p>
            <a:r>
              <a:rPr lang="en-IN" dirty="0"/>
              <a:t>OUTPUT</a:t>
            </a:r>
          </a:p>
        </p:txBody>
      </p:sp>
      <p:pic>
        <p:nvPicPr>
          <p:cNvPr id="4" name="Picture 3">
            <a:extLst>
              <a:ext uri="{FF2B5EF4-FFF2-40B4-BE49-F238E27FC236}">
                <a16:creationId xmlns:a16="http://schemas.microsoft.com/office/drawing/2014/main" id="{A4602BF6-2F2C-F90E-16CC-59EC044C8BB2}"/>
              </a:ext>
            </a:extLst>
          </p:cNvPr>
          <p:cNvPicPr>
            <a:picLocks noChangeAspect="1"/>
          </p:cNvPicPr>
          <p:nvPr/>
        </p:nvPicPr>
        <p:blipFill>
          <a:blip r:embed="rId2"/>
          <a:srcRect l="550" t="-180" r="-1" b="39129"/>
          <a:stretch/>
        </p:blipFill>
        <p:spPr>
          <a:xfrm>
            <a:off x="971550" y="1358900"/>
            <a:ext cx="2768119" cy="1409700"/>
          </a:xfrm>
          <a:prstGeom prst="rect">
            <a:avLst/>
          </a:prstGeom>
        </p:spPr>
      </p:pic>
      <p:sp>
        <p:nvSpPr>
          <p:cNvPr id="5" name="Google Shape;435;p25">
            <a:extLst>
              <a:ext uri="{FF2B5EF4-FFF2-40B4-BE49-F238E27FC236}">
                <a16:creationId xmlns:a16="http://schemas.microsoft.com/office/drawing/2014/main" id="{E962BB07-7F7D-A407-6294-22A7243E2E98}"/>
              </a:ext>
            </a:extLst>
          </p:cNvPr>
          <p:cNvSpPr txBox="1">
            <a:spLocks/>
          </p:cNvSpPr>
          <p:nvPr/>
        </p:nvSpPr>
        <p:spPr>
          <a:xfrm>
            <a:off x="298108" y="2751358"/>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sz="900" dirty="0">
                <a:solidFill>
                  <a:srgbClr val="FFFFFF"/>
                </a:solidFill>
              </a:rPr>
              <a:t>Fig – GUI for ASC by uploading audio file</a:t>
            </a:r>
          </a:p>
        </p:txBody>
      </p:sp>
      <p:pic>
        <p:nvPicPr>
          <p:cNvPr id="7" name="Picture 6">
            <a:extLst>
              <a:ext uri="{FF2B5EF4-FFF2-40B4-BE49-F238E27FC236}">
                <a16:creationId xmlns:a16="http://schemas.microsoft.com/office/drawing/2014/main" id="{D5F7565C-A14B-15C4-9897-4B3A226013BC}"/>
              </a:ext>
            </a:extLst>
          </p:cNvPr>
          <p:cNvPicPr>
            <a:picLocks noChangeAspect="1"/>
          </p:cNvPicPr>
          <p:nvPr/>
        </p:nvPicPr>
        <p:blipFill>
          <a:blip r:embed="rId3"/>
          <a:stretch>
            <a:fillRect/>
          </a:stretch>
        </p:blipFill>
        <p:spPr>
          <a:xfrm>
            <a:off x="5404333" y="1364825"/>
            <a:ext cx="2429140" cy="1403775"/>
          </a:xfrm>
          <a:prstGeom prst="rect">
            <a:avLst/>
          </a:prstGeom>
        </p:spPr>
      </p:pic>
      <p:sp>
        <p:nvSpPr>
          <p:cNvPr id="8" name="Google Shape;435;p25">
            <a:extLst>
              <a:ext uri="{FF2B5EF4-FFF2-40B4-BE49-F238E27FC236}">
                <a16:creationId xmlns:a16="http://schemas.microsoft.com/office/drawing/2014/main" id="{CD624C5D-00D7-A712-141D-C5C967341D57}"/>
              </a:ext>
            </a:extLst>
          </p:cNvPr>
          <p:cNvSpPr txBox="1">
            <a:spLocks/>
          </p:cNvSpPr>
          <p:nvPr/>
        </p:nvSpPr>
        <p:spPr>
          <a:xfrm>
            <a:off x="4561402" y="2751358"/>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r>
              <a:rPr lang="en-GB" sz="900" dirty="0">
                <a:solidFill>
                  <a:srgbClr val="FFFFFF"/>
                </a:solidFill>
              </a:rPr>
              <a:t>Fig – GUI for ASC by uploading audio file</a:t>
            </a:r>
          </a:p>
        </p:txBody>
      </p:sp>
      <p:pic>
        <p:nvPicPr>
          <p:cNvPr id="10" name="Picture 9">
            <a:extLst>
              <a:ext uri="{FF2B5EF4-FFF2-40B4-BE49-F238E27FC236}">
                <a16:creationId xmlns:a16="http://schemas.microsoft.com/office/drawing/2014/main" id="{DA231319-0EE5-CB98-C908-15B3617D3207}"/>
              </a:ext>
            </a:extLst>
          </p:cNvPr>
          <p:cNvPicPr>
            <a:picLocks noChangeAspect="1"/>
          </p:cNvPicPr>
          <p:nvPr/>
        </p:nvPicPr>
        <p:blipFill>
          <a:blip r:embed="rId4"/>
          <a:srcRect l="681" t="569"/>
          <a:stretch/>
        </p:blipFill>
        <p:spPr>
          <a:xfrm>
            <a:off x="5385108" y="3952682"/>
            <a:ext cx="2980353" cy="577801"/>
          </a:xfrm>
          <a:prstGeom prst="rect">
            <a:avLst/>
          </a:prstGeom>
        </p:spPr>
      </p:pic>
      <p:sp>
        <p:nvSpPr>
          <p:cNvPr id="11" name="Rectangle: Rounded Corners 10">
            <a:extLst>
              <a:ext uri="{FF2B5EF4-FFF2-40B4-BE49-F238E27FC236}">
                <a16:creationId xmlns:a16="http://schemas.microsoft.com/office/drawing/2014/main" id="{6B74313C-F501-B32D-29F1-BBC74BB7CC16}"/>
              </a:ext>
            </a:extLst>
          </p:cNvPr>
          <p:cNvSpPr/>
          <p:nvPr/>
        </p:nvSpPr>
        <p:spPr>
          <a:xfrm>
            <a:off x="3568700" y="3717411"/>
            <a:ext cx="1174750" cy="101441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0" lvl="0" indent="0" algn="ctr" rtl="0">
              <a:spcBef>
                <a:spcPts val="0"/>
              </a:spcBef>
              <a:spcAft>
                <a:spcPts val="0"/>
              </a:spcAft>
              <a:buNone/>
            </a:pPr>
            <a:r>
              <a:rPr lang="en" sz="1100" dirty="0">
                <a:solidFill>
                  <a:schemeClr val="dk2"/>
                </a:solidFill>
                <a:latin typeface="Maven Pro" panose="020B0604020202020204" charset="0"/>
              </a:rPr>
              <a:t>Stored CRNN MODEL (keras file)</a:t>
            </a:r>
          </a:p>
        </p:txBody>
      </p:sp>
      <p:sp>
        <p:nvSpPr>
          <p:cNvPr id="13" name="Google Shape;1776;p52">
            <a:extLst>
              <a:ext uri="{FF2B5EF4-FFF2-40B4-BE49-F238E27FC236}">
                <a16:creationId xmlns:a16="http://schemas.microsoft.com/office/drawing/2014/main" id="{C83BF738-6E42-1F19-E9EE-41FBB746D4C2}"/>
              </a:ext>
            </a:extLst>
          </p:cNvPr>
          <p:cNvSpPr/>
          <p:nvPr/>
        </p:nvSpPr>
        <p:spPr>
          <a:xfrm>
            <a:off x="4909245" y="4123694"/>
            <a:ext cx="310068" cy="235776"/>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00CFCC"/>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76;p52">
            <a:extLst>
              <a:ext uri="{FF2B5EF4-FFF2-40B4-BE49-F238E27FC236}">
                <a16:creationId xmlns:a16="http://schemas.microsoft.com/office/drawing/2014/main" id="{5D023DDD-34BA-C27A-CE2D-1F1CB10C6619}"/>
              </a:ext>
            </a:extLst>
          </p:cNvPr>
          <p:cNvSpPr/>
          <p:nvPr/>
        </p:nvSpPr>
        <p:spPr>
          <a:xfrm>
            <a:off x="3092837" y="4106730"/>
            <a:ext cx="310068" cy="235776"/>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00CFCC"/>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Picture 15">
            <a:extLst>
              <a:ext uri="{FF2B5EF4-FFF2-40B4-BE49-F238E27FC236}">
                <a16:creationId xmlns:a16="http://schemas.microsoft.com/office/drawing/2014/main" id="{483163E6-4D0B-3B8A-AB88-081E0C7FBCC9}"/>
              </a:ext>
            </a:extLst>
          </p:cNvPr>
          <p:cNvPicPr>
            <a:picLocks noChangeAspect="1"/>
          </p:cNvPicPr>
          <p:nvPr/>
        </p:nvPicPr>
        <p:blipFill>
          <a:blip r:embed="rId5"/>
          <a:srcRect t="1418"/>
          <a:stretch/>
        </p:blipFill>
        <p:spPr>
          <a:xfrm>
            <a:off x="952089" y="3856995"/>
            <a:ext cx="1974953" cy="673488"/>
          </a:xfrm>
          <a:prstGeom prst="rect">
            <a:avLst/>
          </a:prstGeom>
        </p:spPr>
      </p:pic>
      <p:sp>
        <p:nvSpPr>
          <p:cNvPr id="17" name="Google Shape;435;p25">
            <a:extLst>
              <a:ext uri="{FF2B5EF4-FFF2-40B4-BE49-F238E27FC236}">
                <a16:creationId xmlns:a16="http://schemas.microsoft.com/office/drawing/2014/main" id="{7E76CA50-A630-C25F-73E1-61FD698BF0E5}"/>
              </a:ext>
            </a:extLst>
          </p:cNvPr>
          <p:cNvSpPr txBox="1">
            <a:spLocks/>
          </p:cNvSpPr>
          <p:nvPr/>
        </p:nvSpPr>
        <p:spPr>
          <a:xfrm>
            <a:off x="380798" y="3304176"/>
            <a:ext cx="4115002" cy="3227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Maven Pro"/>
              <a:buNone/>
              <a:defRPr sz="1800" b="0" i="0" u="none" strike="noStrike" cap="none">
                <a:solidFill>
                  <a:schemeClr val="lt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lt1"/>
              </a:buClr>
              <a:buSzPts val="2800"/>
              <a:buFont typeface="Maven Pro"/>
              <a:buNone/>
              <a:defRPr sz="2800" b="0" i="0" u="none" strike="noStrike" cap="none">
                <a:solidFill>
                  <a:schemeClr val="lt1"/>
                </a:solidFill>
                <a:latin typeface="Maven Pro"/>
                <a:ea typeface="Maven Pro"/>
                <a:cs typeface="Maven Pro"/>
                <a:sym typeface="Maven Pro"/>
              </a:defRPr>
            </a:lvl9pPr>
          </a:lstStyle>
          <a:p>
            <a:pPr marL="0" indent="0" algn="l"/>
            <a:r>
              <a:rPr lang="en-GB" sz="900" dirty="0">
                <a:solidFill>
                  <a:srgbClr val="FFFFFF"/>
                </a:solidFill>
              </a:rPr>
              <a:t>Real time ASC using CRNN</a:t>
            </a:r>
          </a:p>
        </p:txBody>
      </p:sp>
    </p:spTree>
    <p:extLst>
      <p:ext uri="{BB962C8B-B14F-4D97-AF65-F5344CB8AC3E}">
        <p14:creationId xmlns:p14="http://schemas.microsoft.com/office/powerpoint/2010/main" val="1137683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7">
          <a:extLst>
            <a:ext uri="{FF2B5EF4-FFF2-40B4-BE49-F238E27FC236}">
              <a16:creationId xmlns:a16="http://schemas.microsoft.com/office/drawing/2014/main" id="{6E148F5E-79FB-D3E4-33C1-9BDE75EF3C0D}"/>
            </a:ext>
          </a:extLst>
        </p:cNvPr>
        <p:cNvGrpSpPr/>
        <p:nvPr/>
      </p:nvGrpSpPr>
      <p:grpSpPr>
        <a:xfrm>
          <a:off x="0" y="0"/>
          <a:ext cx="0" cy="0"/>
          <a:chOff x="0" y="0"/>
          <a:chExt cx="0" cy="0"/>
        </a:xfrm>
      </p:grpSpPr>
      <p:sp>
        <p:nvSpPr>
          <p:cNvPr id="688" name="Google Shape;688;p32">
            <a:extLst>
              <a:ext uri="{FF2B5EF4-FFF2-40B4-BE49-F238E27FC236}">
                <a16:creationId xmlns:a16="http://schemas.microsoft.com/office/drawing/2014/main" id="{140A5E18-7D22-23D7-08AD-7CBA3283152F}"/>
              </a:ext>
            </a:extLst>
          </p:cNvPr>
          <p:cNvSpPr txBox="1">
            <a:spLocks noGrp="1"/>
          </p:cNvSpPr>
          <p:nvPr>
            <p:ph type="ctrTitle"/>
          </p:nvPr>
        </p:nvSpPr>
        <p:spPr>
          <a:xfrm>
            <a:off x="1485357" y="1742775"/>
            <a:ext cx="3751538" cy="8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Conclusion</a:t>
            </a:r>
            <a:endParaRPr dirty="0"/>
          </a:p>
        </p:txBody>
      </p:sp>
      <p:sp>
        <p:nvSpPr>
          <p:cNvPr id="689" name="Google Shape;689;p32">
            <a:extLst>
              <a:ext uri="{FF2B5EF4-FFF2-40B4-BE49-F238E27FC236}">
                <a16:creationId xmlns:a16="http://schemas.microsoft.com/office/drawing/2014/main" id="{4579E2A8-0FD6-8F8B-5F49-038195E5743F}"/>
              </a:ext>
            </a:extLst>
          </p:cNvPr>
          <p:cNvSpPr txBox="1">
            <a:spLocks noGrp="1"/>
          </p:cNvSpPr>
          <p:nvPr>
            <p:ph type="subTitle" idx="1"/>
          </p:nvPr>
        </p:nvSpPr>
        <p:spPr>
          <a:xfrm>
            <a:off x="1791587" y="2417450"/>
            <a:ext cx="3101400" cy="104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Summary and future scope for ASC</a:t>
            </a:r>
            <a:endParaRPr dirty="0"/>
          </a:p>
        </p:txBody>
      </p:sp>
      <p:sp>
        <p:nvSpPr>
          <p:cNvPr id="690" name="Google Shape;690;p32">
            <a:extLst>
              <a:ext uri="{FF2B5EF4-FFF2-40B4-BE49-F238E27FC236}">
                <a16:creationId xmlns:a16="http://schemas.microsoft.com/office/drawing/2014/main" id="{A8205C4C-6029-9AC2-AEE7-30CF9C51B522}"/>
              </a:ext>
            </a:extLst>
          </p:cNvPr>
          <p:cNvSpPr/>
          <p:nvPr/>
        </p:nvSpPr>
        <p:spPr>
          <a:xfrm>
            <a:off x="5782875" y="1868575"/>
            <a:ext cx="10851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2">
            <a:extLst>
              <a:ext uri="{FF2B5EF4-FFF2-40B4-BE49-F238E27FC236}">
                <a16:creationId xmlns:a16="http://schemas.microsoft.com/office/drawing/2014/main" id="{8DD18F24-6090-AE1D-B146-E60C522ABA90}"/>
              </a:ext>
            </a:extLst>
          </p:cNvPr>
          <p:cNvSpPr txBox="1">
            <a:spLocks noGrp="1"/>
          </p:cNvSpPr>
          <p:nvPr>
            <p:ph type="title" idx="2"/>
          </p:nvPr>
        </p:nvSpPr>
        <p:spPr>
          <a:xfrm>
            <a:off x="5834900" y="2122225"/>
            <a:ext cx="9810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dk2"/>
                </a:solidFill>
              </a:rPr>
              <a:t>05</a:t>
            </a:r>
            <a:endParaRPr dirty="0">
              <a:solidFill>
                <a:schemeClr val="dk2"/>
              </a:solidFill>
            </a:endParaRPr>
          </a:p>
        </p:txBody>
      </p:sp>
      <p:sp>
        <p:nvSpPr>
          <p:cNvPr id="692" name="Google Shape;692;p32">
            <a:extLst>
              <a:ext uri="{FF2B5EF4-FFF2-40B4-BE49-F238E27FC236}">
                <a16:creationId xmlns:a16="http://schemas.microsoft.com/office/drawing/2014/main" id="{8BA41A77-4243-902E-6B57-88864FAA54BA}"/>
              </a:ext>
            </a:extLst>
          </p:cNvPr>
          <p:cNvSpPr/>
          <p:nvPr/>
        </p:nvSpPr>
        <p:spPr>
          <a:xfrm>
            <a:off x="1370476" y="3869000"/>
            <a:ext cx="6279992" cy="104326"/>
          </a:xfrm>
          <a:custGeom>
            <a:avLst/>
            <a:gdLst/>
            <a:ahLst/>
            <a:cxnLst/>
            <a:rect l="l" t="t" r="r" b="b"/>
            <a:pathLst>
              <a:path w="143387" h="2382" extrusionOk="0">
                <a:moveTo>
                  <a:pt x="1185" y="0"/>
                </a:moveTo>
                <a:cubicBezTo>
                  <a:pt x="530" y="0"/>
                  <a:pt x="1" y="529"/>
                  <a:pt x="1" y="1184"/>
                </a:cubicBezTo>
                <a:cubicBezTo>
                  <a:pt x="1" y="1840"/>
                  <a:pt x="530" y="2382"/>
                  <a:pt x="1185" y="2382"/>
                </a:cubicBezTo>
                <a:lnTo>
                  <a:pt x="142189" y="2382"/>
                </a:lnTo>
                <a:cubicBezTo>
                  <a:pt x="142844" y="2382"/>
                  <a:pt x="143386" y="1840"/>
                  <a:pt x="143386" y="1184"/>
                </a:cubicBezTo>
                <a:cubicBezTo>
                  <a:pt x="143386" y="529"/>
                  <a:pt x="142844" y="0"/>
                  <a:pt x="1421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2">
            <a:extLst>
              <a:ext uri="{FF2B5EF4-FFF2-40B4-BE49-F238E27FC236}">
                <a16:creationId xmlns:a16="http://schemas.microsoft.com/office/drawing/2014/main" id="{0FEB9A63-0FD7-987A-C566-2F34F21B65AE}"/>
              </a:ext>
            </a:extLst>
          </p:cNvPr>
          <p:cNvSpPr/>
          <p:nvPr/>
        </p:nvSpPr>
        <p:spPr>
          <a:xfrm>
            <a:off x="1369950" y="3869000"/>
            <a:ext cx="5074478" cy="104326"/>
          </a:xfrm>
          <a:custGeom>
            <a:avLst/>
            <a:gdLst/>
            <a:ahLst/>
            <a:cxnLst/>
            <a:rect l="l" t="t" r="r" b="b"/>
            <a:pathLst>
              <a:path w="87904" h="2382" extrusionOk="0">
                <a:moveTo>
                  <a:pt x="1197" y="0"/>
                </a:moveTo>
                <a:cubicBezTo>
                  <a:pt x="529" y="0"/>
                  <a:pt x="0" y="529"/>
                  <a:pt x="0" y="1184"/>
                </a:cubicBezTo>
                <a:cubicBezTo>
                  <a:pt x="0" y="1840"/>
                  <a:pt x="529" y="2382"/>
                  <a:pt x="1197" y="2382"/>
                </a:cubicBezTo>
                <a:lnTo>
                  <a:pt x="86719" y="2382"/>
                </a:lnTo>
                <a:cubicBezTo>
                  <a:pt x="87375" y="2382"/>
                  <a:pt x="87904" y="1840"/>
                  <a:pt x="87904" y="1184"/>
                </a:cubicBezTo>
                <a:cubicBezTo>
                  <a:pt x="87904" y="529"/>
                  <a:pt x="87375" y="0"/>
                  <a:pt x="867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4" name="Google Shape;694;p32">
            <a:extLst>
              <a:ext uri="{FF2B5EF4-FFF2-40B4-BE49-F238E27FC236}">
                <a16:creationId xmlns:a16="http://schemas.microsoft.com/office/drawing/2014/main" id="{BAC3C0E3-18F8-B7CD-E173-29B61EE520BA}"/>
              </a:ext>
            </a:extLst>
          </p:cNvPr>
          <p:cNvCxnSpPr>
            <a:stCxn id="690" idx="2"/>
          </p:cNvCxnSpPr>
          <p:nvPr/>
        </p:nvCxnSpPr>
        <p:spPr>
          <a:xfrm>
            <a:off x="6325425" y="2953675"/>
            <a:ext cx="0" cy="978000"/>
          </a:xfrm>
          <a:prstGeom prst="straightConnector1">
            <a:avLst/>
          </a:prstGeom>
          <a:noFill/>
          <a:ln w="19050"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265706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5">
          <a:extLst>
            <a:ext uri="{FF2B5EF4-FFF2-40B4-BE49-F238E27FC236}">
              <a16:creationId xmlns:a16="http://schemas.microsoft.com/office/drawing/2014/main" id="{9D84C76F-4982-04DF-ABFB-2206F0800F48}"/>
            </a:ext>
          </a:extLst>
        </p:cNvPr>
        <p:cNvGrpSpPr/>
        <p:nvPr/>
      </p:nvGrpSpPr>
      <p:grpSpPr>
        <a:xfrm>
          <a:off x="0" y="0"/>
          <a:ext cx="0" cy="0"/>
          <a:chOff x="0" y="0"/>
          <a:chExt cx="0" cy="0"/>
        </a:xfrm>
      </p:grpSpPr>
      <p:sp>
        <p:nvSpPr>
          <p:cNvPr id="466" name="Google Shape;466;p26">
            <a:extLst>
              <a:ext uri="{FF2B5EF4-FFF2-40B4-BE49-F238E27FC236}">
                <a16:creationId xmlns:a16="http://schemas.microsoft.com/office/drawing/2014/main" id="{BE63239A-839D-D75B-06B8-B0B5A8712482}"/>
              </a:ext>
            </a:extLst>
          </p:cNvPr>
          <p:cNvSpPr txBox="1">
            <a:spLocks noGrp="1"/>
          </p:cNvSpPr>
          <p:nvPr>
            <p:ph type="body" idx="1"/>
          </p:nvPr>
        </p:nvSpPr>
        <p:spPr>
          <a:xfrm>
            <a:off x="618825" y="1115359"/>
            <a:ext cx="5312607" cy="3616465"/>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300" b="1" dirty="0">
                <a:solidFill>
                  <a:srgbClr val="FF9973"/>
                </a:solidFill>
              </a:rPr>
              <a:t>Acoustic Scene Classification(ASC) Model</a:t>
            </a:r>
            <a:endParaRPr lang="en-GB" sz="1100" dirty="0"/>
          </a:p>
          <a:p>
            <a:pPr marL="152400" lvl="0" indent="0" algn="l" rtl="0">
              <a:lnSpc>
                <a:spcPct val="100000"/>
              </a:lnSpc>
              <a:spcBef>
                <a:spcPts val="0"/>
              </a:spcBef>
              <a:spcAft>
                <a:spcPts val="0"/>
              </a:spcAft>
              <a:buClr>
                <a:schemeClr val="lt1"/>
              </a:buClr>
              <a:buSzPts val="1200"/>
              <a:buNone/>
            </a:pPr>
            <a:endParaRPr lang="en-GB" sz="1100" dirty="0"/>
          </a:p>
          <a:p>
            <a:pPr marL="152400" indent="0">
              <a:buSzPts val="1200"/>
              <a:buNone/>
            </a:pPr>
            <a:r>
              <a:rPr lang="en-GB" sz="1100" dirty="0"/>
              <a:t>ASC is transforming how devices and systems interact with the world by enabling intelligent audio context recognition. While ANNs are useful for simpler tasks, CNNs and CRNNs excel in handling complex audio environments. </a:t>
            </a:r>
          </a:p>
          <a:p>
            <a:pPr marL="152400" indent="0">
              <a:buSzPts val="1200"/>
              <a:buNone/>
            </a:pPr>
            <a:endParaRPr lang="en-GB" sz="1100" dirty="0"/>
          </a:p>
          <a:p>
            <a:pPr marL="152400" indent="0">
              <a:buSzPts val="1200"/>
              <a:buNone/>
            </a:pPr>
            <a:r>
              <a:rPr lang="en-GB" sz="1100" dirty="0"/>
              <a:t>State-of-the-art models for Acoustic Scene Classification, such as Transformer-based architectures and WaveNet, showcase remarkable capabilities in capturing global context and fine-grained temporal dependencies, respectively. By leveraging advanced preprocessing techniques like spectrogram generation or waveform quantization, these models achieve high accuracy and robustness, pushing the boundaries of audio classification tasks.</a:t>
            </a:r>
          </a:p>
          <a:p>
            <a:pPr marL="152400" indent="0">
              <a:buSzPts val="1200"/>
              <a:buNone/>
            </a:pPr>
            <a:endParaRPr lang="en-GB" sz="1100" dirty="0"/>
          </a:p>
          <a:p>
            <a:pPr marL="152400" indent="0">
              <a:buSzPts val="1200"/>
              <a:buNone/>
            </a:pPr>
            <a:r>
              <a:rPr lang="en-GB" sz="1100" dirty="0"/>
              <a:t>It has diverse applications. In smart devices and IoT, it enables context-aware features like adaptive ringtones. Surveillance systems use ASC to detect unusual sounds, improving safety. For **assistive technology**, it identifies environments, aiding visually impaired users. In **autonomous vehicles.</a:t>
            </a:r>
          </a:p>
          <a:p>
            <a:pPr marL="152400" indent="0">
              <a:buSzPts val="1200"/>
              <a:buNone/>
            </a:pPr>
            <a:endParaRPr lang="en-GB" sz="1100" dirty="0"/>
          </a:p>
          <a:p>
            <a:pPr marL="152400" indent="0">
              <a:buSzPts val="1200"/>
              <a:buNone/>
            </a:pPr>
            <a:endParaRPr lang="en-GB" sz="1100" dirty="0"/>
          </a:p>
        </p:txBody>
      </p:sp>
      <p:sp>
        <p:nvSpPr>
          <p:cNvPr id="467" name="Google Shape;467;p26">
            <a:extLst>
              <a:ext uri="{FF2B5EF4-FFF2-40B4-BE49-F238E27FC236}">
                <a16:creationId xmlns:a16="http://schemas.microsoft.com/office/drawing/2014/main" id="{2DECD321-323E-99B1-D211-984B4888FE0C}"/>
              </a:ext>
            </a:extLst>
          </p:cNvPr>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CONCLUSION</a:t>
            </a:r>
            <a:endParaRPr dirty="0"/>
          </a:p>
        </p:txBody>
      </p:sp>
    </p:spTree>
    <p:extLst>
      <p:ext uri="{BB962C8B-B14F-4D97-AF65-F5344CB8AC3E}">
        <p14:creationId xmlns:p14="http://schemas.microsoft.com/office/powerpoint/2010/main" val="15098942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5">
          <a:extLst>
            <a:ext uri="{FF2B5EF4-FFF2-40B4-BE49-F238E27FC236}">
              <a16:creationId xmlns:a16="http://schemas.microsoft.com/office/drawing/2014/main" id="{AA75F324-D306-F25B-BD60-34EFB7C338DD}"/>
            </a:ext>
          </a:extLst>
        </p:cNvPr>
        <p:cNvGrpSpPr/>
        <p:nvPr/>
      </p:nvGrpSpPr>
      <p:grpSpPr>
        <a:xfrm>
          <a:off x="0" y="0"/>
          <a:ext cx="0" cy="0"/>
          <a:chOff x="0" y="0"/>
          <a:chExt cx="0" cy="0"/>
        </a:xfrm>
      </p:grpSpPr>
      <p:sp>
        <p:nvSpPr>
          <p:cNvPr id="466" name="Google Shape;466;p26">
            <a:extLst>
              <a:ext uri="{FF2B5EF4-FFF2-40B4-BE49-F238E27FC236}">
                <a16:creationId xmlns:a16="http://schemas.microsoft.com/office/drawing/2014/main" id="{DFA27058-8FA0-0525-05C0-8FD1C4DA4332}"/>
              </a:ext>
            </a:extLst>
          </p:cNvPr>
          <p:cNvSpPr txBox="1">
            <a:spLocks noGrp="1"/>
          </p:cNvSpPr>
          <p:nvPr>
            <p:ph type="body" idx="1"/>
          </p:nvPr>
        </p:nvSpPr>
        <p:spPr>
          <a:xfrm>
            <a:off x="250218" y="1069964"/>
            <a:ext cx="8893782" cy="3616465"/>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IN" sz="1300" b="1" dirty="0">
                <a:solidFill>
                  <a:srgbClr val="FF9973"/>
                </a:solidFill>
              </a:rPr>
              <a:t>Research Papers - </a:t>
            </a:r>
            <a:endParaRPr lang="en-GB" sz="1100" dirty="0"/>
          </a:p>
          <a:p>
            <a:pPr marL="152400" lvl="0" indent="0" algn="l" rtl="0">
              <a:lnSpc>
                <a:spcPct val="100000"/>
              </a:lnSpc>
              <a:spcBef>
                <a:spcPts val="0"/>
              </a:spcBef>
              <a:spcAft>
                <a:spcPts val="0"/>
              </a:spcAft>
              <a:buClr>
                <a:schemeClr val="lt1"/>
              </a:buClr>
              <a:buSzPts val="1200"/>
              <a:buNone/>
            </a:pPr>
            <a:endParaRPr lang="en-GB" sz="1100" dirty="0"/>
          </a:p>
          <a:p>
            <a:pPr marL="165100" indent="0">
              <a:buNone/>
            </a:pPr>
            <a:r>
              <a:rPr lang="en-GB" sz="1100" dirty="0"/>
              <a:t>Acoustic Scene Classification using Deep learning models (CNN and CRNN)</a:t>
            </a:r>
          </a:p>
          <a:p>
            <a:pPr marL="165100" indent="0">
              <a:buNone/>
            </a:pPr>
            <a:endParaRPr lang="en-GB" sz="1100" dirty="0"/>
          </a:p>
          <a:p>
            <a:r>
              <a:rPr lang="en-GB" sz="1100" dirty="0"/>
              <a:t>LINK - </a:t>
            </a:r>
            <a:r>
              <a:rPr lang="en-GB" sz="1100" dirty="0">
                <a:hlinkClick r:id="rId3"/>
              </a:rPr>
              <a:t>https://ieeexplore.ieee.org/stamp/stamp.jsp?tp=&amp;arnumber=9418177</a:t>
            </a:r>
            <a:endParaRPr lang="en-GB" sz="1100" dirty="0"/>
          </a:p>
          <a:p>
            <a:endParaRPr lang="en-GB" sz="1100" dirty="0"/>
          </a:p>
          <a:p>
            <a:pPr marL="165100" indent="0" algn="l">
              <a:buNone/>
            </a:pPr>
            <a:r>
              <a:rPr lang="en-GB" sz="1100" b="0" i="0" u="none" strike="noStrike" baseline="0" dirty="0">
                <a:latin typeface="Maven Pro" panose="020B0604020202020204" charset="0"/>
              </a:rPr>
              <a:t>A Convolutional Neural Network Approach for </a:t>
            </a:r>
            <a:r>
              <a:rPr lang="en-IN" sz="1100" b="0" i="0" u="none" strike="noStrike" baseline="0" dirty="0">
                <a:latin typeface="Maven Pro" panose="020B0604020202020204" charset="0"/>
              </a:rPr>
              <a:t>Acoustic Scene Classification</a:t>
            </a:r>
          </a:p>
          <a:p>
            <a:pPr marL="165100" indent="0" algn="l">
              <a:buNone/>
            </a:pPr>
            <a:endParaRPr lang="en-IN" sz="1100" b="0" i="0" u="none" strike="noStrike" baseline="0" dirty="0">
              <a:latin typeface="Maven Pro" panose="020B0604020202020204" charset="0"/>
            </a:endParaRPr>
          </a:p>
          <a:p>
            <a:r>
              <a:rPr lang="en-GB" sz="1100" dirty="0">
                <a:latin typeface="Maven Pro" panose="020B0604020202020204" charset="0"/>
              </a:rPr>
              <a:t>LINK - </a:t>
            </a:r>
            <a:r>
              <a:rPr lang="en-GB" sz="1100" dirty="0">
                <a:latin typeface="Maven Pro" panose="020B0604020202020204" charset="0"/>
                <a:hlinkClick r:id="rId4"/>
              </a:rPr>
              <a:t>https://ieeexplore.ieee.org/abstract/document/7966035</a:t>
            </a:r>
            <a:endParaRPr lang="en-GB" sz="1100" dirty="0">
              <a:latin typeface="Maven Pro" panose="020B0604020202020204" charset="0"/>
            </a:endParaRPr>
          </a:p>
          <a:p>
            <a:pPr marL="165100" indent="0">
              <a:buNone/>
            </a:pPr>
            <a:endParaRPr lang="en-GB" sz="1100" dirty="0">
              <a:latin typeface="Maven Pro" panose="020B0604020202020204" charset="0"/>
            </a:endParaRPr>
          </a:p>
          <a:p>
            <a:pPr marL="165100" indent="0" algn="l">
              <a:buNone/>
            </a:pPr>
            <a:r>
              <a:rPr lang="en-GB" sz="1100" b="0" i="0" u="none" strike="noStrike" baseline="0" dirty="0">
                <a:latin typeface="Maven Pro" panose="020B0604020202020204" charset="0"/>
              </a:rPr>
              <a:t>ACOUSTIC SCENE CLASSIFICATION USING A CONVOLUTIONAL NEURAL NETWORK ENSEMBLE AND NEAREST NEIGHBOR FILTERS</a:t>
            </a:r>
          </a:p>
          <a:p>
            <a:pPr marL="165100" indent="0" algn="l">
              <a:buNone/>
            </a:pPr>
            <a:endParaRPr lang="en-GB" sz="1100" dirty="0">
              <a:latin typeface="Maven Pro" panose="020B0604020202020204" charset="0"/>
            </a:endParaRPr>
          </a:p>
          <a:p>
            <a:r>
              <a:rPr lang="en-GB" sz="1100" dirty="0">
                <a:latin typeface="Maven Pro" panose="020B0604020202020204" charset="0"/>
              </a:rPr>
              <a:t>LINK - </a:t>
            </a:r>
            <a:r>
              <a:rPr lang="en-GB" sz="1100" dirty="0">
                <a:latin typeface="Maven Pro" panose="020B0604020202020204" charset="0"/>
                <a:hlinkClick r:id="rId5"/>
              </a:rPr>
              <a:t>https://dcase.community/documents/workshop2018/proceedings/DCASE2018Workshop_Nguyen_60.pdf</a:t>
            </a:r>
            <a:endParaRPr lang="en-GB" sz="1100" dirty="0">
              <a:latin typeface="Maven Pro" panose="020B0604020202020204" charset="0"/>
            </a:endParaRPr>
          </a:p>
          <a:p>
            <a:endParaRPr lang="en-GB" sz="1100" dirty="0">
              <a:latin typeface="Maven Pro" panose="020B0604020202020204" charset="0"/>
            </a:endParaRPr>
          </a:p>
          <a:p>
            <a:endParaRPr lang="en-GB" sz="1100" dirty="0">
              <a:latin typeface="Maven Pro" panose="020B0604020202020204" charset="0"/>
            </a:endParaRPr>
          </a:p>
          <a:p>
            <a:pPr marL="0" lvl="0" indent="0" algn="l" rtl="0">
              <a:lnSpc>
                <a:spcPct val="100000"/>
              </a:lnSpc>
              <a:spcBef>
                <a:spcPts val="0"/>
              </a:spcBef>
              <a:spcAft>
                <a:spcPts val="0"/>
              </a:spcAft>
              <a:buNone/>
            </a:pPr>
            <a:r>
              <a:rPr lang="en-IN" sz="1300" b="1" dirty="0">
                <a:solidFill>
                  <a:srgbClr val="FF9973"/>
                </a:solidFill>
              </a:rPr>
              <a:t>Dataset - </a:t>
            </a:r>
            <a:endParaRPr lang="en-GB" sz="1100" dirty="0"/>
          </a:p>
          <a:p>
            <a:pPr marL="152400" lvl="0" indent="0" algn="l" rtl="0">
              <a:lnSpc>
                <a:spcPct val="100000"/>
              </a:lnSpc>
              <a:spcBef>
                <a:spcPts val="0"/>
              </a:spcBef>
              <a:spcAft>
                <a:spcPts val="0"/>
              </a:spcAft>
              <a:buClr>
                <a:schemeClr val="lt1"/>
              </a:buClr>
              <a:buSzPts val="1200"/>
              <a:buNone/>
            </a:pPr>
            <a:endParaRPr lang="en-GB" sz="1100" dirty="0"/>
          </a:p>
          <a:p>
            <a:pPr marL="165100" indent="0">
              <a:buNone/>
            </a:pPr>
            <a:r>
              <a:rPr lang="en-GB" sz="1100" dirty="0"/>
              <a:t>UrbanSound8K</a:t>
            </a:r>
          </a:p>
          <a:p>
            <a:pPr marL="165100" indent="0">
              <a:buNone/>
            </a:pPr>
            <a:endParaRPr lang="en-GB" sz="1100" dirty="0"/>
          </a:p>
          <a:p>
            <a:r>
              <a:rPr lang="en-GB" sz="1100" dirty="0"/>
              <a:t>LINK - </a:t>
            </a:r>
            <a:r>
              <a:rPr lang="en-GB" sz="1100" dirty="0">
                <a:hlinkClick r:id="rId6"/>
              </a:rPr>
              <a:t>https://www.google.com/url?q=https://goo.gl/8hY5ER&amp;sa=D&amp;source=editors&amp;ust=1724337228690386&amp;usg=AOvVaw      1eb1JSj-71IThF6zO4zDWT</a:t>
            </a:r>
            <a:endParaRPr lang="en-GB" sz="1100" dirty="0"/>
          </a:p>
          <a:p>
            <a:endParaRPr lang="en-GB" sz="1100" dirty="0">
              <a:latin typeface="Maven Pro" panose="020B0604020202020204" charset="0"/>
            </a:endParaRPr>
          </a:p>
        </p:txBody>
      </p:sp>
      <p:sp>
        <p:nvSpPr>
          <p:cNvPr id="467" name="Google Shape;467;p26">
            <a:extLst>
              <a:ext uri="{FF2B5EF4-FFF2-40B4-BE49-F238E27FC236}">
                <a16:creationId xmlns:a16="http://schemas.microsoft.com/office/drawing/2014/main" id="{2E98F952-E7D6-F96F-BC43-56FB972F2F34}"/>
              </a:ext>
            </a:extLst>
          </p:cNvPr>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REFERENCES</a:t>
            </a:r>
            <a:endParaRPr dirty="0"/>
          </a:p>
        </p:txBody>
      </p:sp>
    </p:spTree>
    <p:extLst>
      <p:ext uri="{BB962C8B-B14F-4D97-AF65-F5344CB8AC3E}">
        <p14:creationId xmlns:p14="http://schemas.microsoft.com/office/powerpoint/2010/main" val="2681465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54"/>
        <p:cNvGrpSpPr/>
        <p:nvPr/>
      </p:nvGrpSpPr>
      <p:grpSpPr>
        <a:xfrm>
          <a:off x="0" y="0"/>
          <a:ext cx="0" cy="0"/>
          <a:chOff x="0" y="0"/>
          <a:chExt cx="0" cy="0"/>
        </a:xfrm>
      </p:grpSpPr>
      <p:sp>
        <p:nvSpPr>
          <p:cNvPr id="1355" name="Google Shape;1355;p47"/>
          <p:cNvSpPr txBox="1">
            <a:spLocks noGrp="1"/>
          </p:cNvSpPr>
          <p:nvPr>
            <p:ph type="title"/>
          </p:nvPr>
        </p:nvSpPr>
        <p:spPr>
          <a:xfrm>
            <a:off x="2266849" y="2089479"/>
            <a:ext cx="4231802" cy="112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THANK YOU</a:t>
            </a:r>
            <a:endParaRPr dirty="0"/>
          </a:p>
        </p:txBody>
      </p:sp>
      <p:sp>
        <p:nvSpPr>
          <p:cNvPr id="1358" name="Google Shape;1358;p47"/>
          <p:cNvSpPr/>
          <p:nvPr/>
        </p:nvSpPr>
        <p:spPr>
          <a:xfrm>
            <a:off x="-65247" y="971445"/>
            <a:ext cx="62397" cy="62143"/>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9" name="Google Shape;1359;p47"/>
          <p:cNvGrpSpPr/>
          <p:nvPr/>
        </p:nvGrpSpPr>
        <p:grpSpPr>
          <a:xfrm>
            <a:off x="7981434" y="-1177061"/>
            <a:ext cx="203789" cy="1274754"/>
            <a:chOff x="2877432" y="975334"/>
            <a:chExt cx="188886" cy="1181531"/>
          </a:xfrm>
        </p:grpSpPr>
        <p:sp>
          <p:nvSpPr>
            <p:cNvPr id="1360" name="Google Shape;1360;p47"/>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7"/>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7"/>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3" name="Google Shape;1363;p47"/>
          <p:cNvSpPr/>
          <p:nvPr/>
        </p:nvSpPr>
        <p:spPr>
          <a:xfrm>
            <a:off x="9277943" y="-708433"/>
            <a:ext cx="9132" cy="2718429"/>
          </a:xfrm>
          <a:custGeom>
            <a:avLst/>
            <a:gdLst/>
            <a:ahLst/>
            <a:cxnLst/>
            <a:rect l="l" t="t" r="r" b="b"/>
            <a:pathLst>
              <a:path w="323" h="96151" extrusionOk="0">
                <a:moveTo>
                  <a:pt x="166" y="0"/>
                </a:moveTo>
                <a:lnTo>
                  <a:pt x="1" y="96150"/>
                </a:lnTo>
                <a:lnTo>
                  <a:pt x="323" y="96150"/>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7"/>
          <p:cNvSpPr/>
          <p:nvPr/>
        </p:nvSpPr>
        <p:spPr>
          <a:xfrm>
            <a:off x="335228" y="-685306"/>
            <a:ext cx="9132" cy="1822332"/>
          </a:xfrm>
          <a:custGeom>
            <a:avLst/>
            <a:gdLst/>
            <a:ahLst/>
            <a:cxnLst/>
            <a:rect l="l" t="t" r="r" b="b"/>
            <a:pathLst>
              <a:path w="323" h="64456" extrusionOk="0">
                <a:moveTo>
                  <a:pt x="166" y="0"/>
                </a:moveTo>
                <a:lnTo>
                  <a:pt x="1" y="64456"/>
                </a:lnTo>
                <a:lnTo>
                  <a:pt x="322" y="64456"/>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a:extLst>
              <a:ext uri="{FF2B5EF4-FFF2-40B4-BE49-F238E27FC236}">
                <a16:creationId xmlns:a16="http://schemas.microsoft.com/office/drawing/2014/main" id="{1A329DA3-7978-4BA2-4DF5-8EC55E277609}"/>
              </a:ext>
            </a:extLst>
          </p:cNvPr>
          <p:cNvSpPr/>
          <p:nvPr/>
        </p:nvSpPr>
        <p:spPr>
          <a:xfrm>
            <a:off x="2266849" y="3858638"/>
            <a:ext cx="4159891" cy="881975"/>
          </a:xfrm>
          <a:prstGeom prst="rect">
            <a:avLst/>
          </a:prstGeom>
          <a:solidFill>
            <a:srgbClr val="00284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Google Shape;435;p25">
            <a:extLst>
              <a:ext uri="{FF2B5EF4-FFF2-40B4-BE49-F238E27FC236}">
                <a16:creationId xmlns:a16="http://schemas.microsoft.com/office/drawing/2014/main" id="{2011EF7B-D7EC-0DAA-AC99-713ECC90F94C}"/>
              </a:ext>
            </a:extLst>
          </p:cNvPr>
          <p:cNvSpPr txBox="1">
            <a:spLocks noGrp="1"/>
          </p:cNvSpPr>
          <p:nvPr>
            <p:ph type="subTitle" idx="1"/>
          </p:nvPr>
        </p:nvSpPr>
        <p:spPr>
          <a:xfrm>
            <a:off x="2699044" y="3666148"/>
            <a:ext cx="3295500" cy="101447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Sumit Gaurav, 2402102012</a:t>
            </a:r>
          </a:p>
          <a:p>
            <a:pPr marL="0" lvl="0" indent="0" algn="ctr" rtl="0">
              <a:spcBef>
                <a:spcPts val="0"/>
              </a:spcBef>
              <a:spcAft>
                <a:spcPts val="0"/>
              </a:spcAft>
              <a:buNone/>
            </a:pPr>
            <a:r>
              <a:rPr lang="en" dirty="0"/>
              <a:t>M.Tech - CSP</a:t>
            </a:r>
            <a:endParaRPr dirty="0"/>
          </a:p>
        </p:txBody>
      </p:sp>
    </p:spTree>
  </p:cSld>
  <p:clrMapOvr>
    <a:masterClrMapping/>
  </p:clrMapOvr>
</p:sld>
</file>

<file path=ppt/theme/theme1.xml><?xml version="1.0" encoding="utf-8"?>
<a:theme xmlns:a="http://schemas.openxmlformats.org/drawingml/2006/main"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5784</TotalTime>
  <Words>2545</Words>
  <Application>Microsoft Office PowerPoint</Application>
  <PresentationFormat>On-screen Show (16:9)</PresentationFormat>
  <Paragraphs>282</Paragraphs>
  <Slides>24</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Share Tech</vt:lpstr>
      <vt:lpstr>Maven Pro</vt:lpstr>
      <vt:lpstr>Nunito Light</vt:lpstr>
      <vt:lpstr>Arial</vt:lpstr>
      <vt:lpstr>Livvic Light</vt:lpstr>
      <vt:lpstr>Advent Pro SemiBold</vt:lpstr>
      <vt:lpstr>Fira Sans Condensed Medium</vt:lpstr>
      <vt:lpstr>Fira Sans Extra Condensed Medium</vt:lpstr>
      <vt:lpstr>Data Science Consulting by Slidesgo</vt:lpstr>
      <vt:lpstr>ACOUSTIC SCENE CLASSIFICATION</vt:lpstr>
      <vt:lpstr>TABLE OF CONTENTS</vt:lpstr>
      <vt:lpstr>INTRODUCTION</vt:lpstr>
      <vt:lpstr>Dataset</vt:lpstr>
      <vt:lpstr>DATASET – state-of-the-art dataset</vt:lpstr>
      <vt:lpstr>DATASET used</vt:lpstr>
      <vt:lpstr>METHODOLOGY</vt:lpstr>
      <vt:lpstr>DATA PRE-PROCESSING</vt:lpstr>
      <vt:lpstr>DL Models</vt:lpstr>
      <vt:lpstr>ANN ARCHITECTURE</vt:lpstr>
      <vt:lpstr>CNN ARCHITECTURE</vt:lpstr>
      <vt:lpstr>CRNN ARCHITECTURE</vt:lpstr>
      <vt:lpstr>Research Aspects</vt:lpstr>
      <vt:lpstr>Transformer-Based model</vt:lpstr>
      <vt:lpstr>PowerPoint Presentation</vt:lpstr>
      <vt:lpstr>WaveNet model</vt:lpstr>
      <vt:lpstr>PowerPoint Presentation</vt:lpstr>
      <vt:lpstr>Results</vt:lpstr>
      <vt:lpstr>RESULTS</vt:lpstr>
      <vt:lpstr>OUTPUT</vt:lpstr>
      <vt:lpstr>Conclusion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Sumit Gaurav</dc:creator>
  <cp:lastModifiedBy>Sumit Gaurav</cp:lastModifiedBy>
  <cp:revision>9</cp:revision>
  <dcterms:modified xsi:type="dcterms:W3CDTF">2024-11-29T16:17:04Z</dcterms:modified>
</cp:coreProperties>
</file>